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f42c82b7854ef9" /><Relationship Type="http://schemas.openxmlformats.org/officeDocument/2006/relationships/extended-properties" Target="/docProps/app.xml" Id="Rca9c9639fc6a4a1d" /><Relationship Type="http://schemas.openxmlformats.org/officeDocument/2006/relationships/officeDocument" Target="/ppt/presentation.xml" Id="Rffd3c387e89e451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c5d7a63f0194495"/>
  </p:sldMasterIdLst>
  <p:notesMasterIdLst>
    <p:notesMasterId xmlns:r="http://schemas.openxmlformats.org/officeDocument/2006/relationships" r:id="R1dfbd57421e7402d"/>
  </p:notesMasterIdLst>
  <p:sldIdLst>
    <p:sldId xmlns:r="http://schemas.openxmlformats.org/officeDocument/2006/relationships" id="256" r:id="R1733d9cd8d854999"/>
    <p:sldId xmlns:r="http://schemas.openxmlformats.org/officeDocument/2006/relationships" id="257" r:id="Rac6bd8add575434b"/>
    <p:sldId xmlns:r="http://schemas.openxmlformats.org/officeDocument/2006/relationships" id="258" r:id="Rd1f3892d53504831"/>
    <p:sldId xmlns:r="http://schemas.openxmlformats.org/officeDocument/2006/relationships" id="259" r:id="Rdab1e7b064994a02"/>
    <p:sldId xmlns:r="http://schemas.openxmlformats.org/officeDocument/2006/relationships" id="260" r:id="Ra3082c7710c04aec"/>
    <p:sldId xmlns:r="http://schemas.openxmlformats.org/officeDocument/2006/relationships" id="261" r:id="Rff5c1f8753784cea"/>
    <p:sldId xmlns:r="http://schemas.openxmlformats.org/officeDocument/2006/relationships" id="262" r:id="Rf5effb1151b84f54"/>
    <p:sldId xmlns:r="http://schemas.openxmlformats.org/officeDocument/2006/relationships" id="263" r:id="R200bad3f6b224fa0"/>
    <p:sldId xmlns:r="http://schemas.openxmlformats.org/officeDocument/2006/relationships" id="264" r:id="R2b97b1df3de14bd4"/>
    <p:sldId xmlns:r="http://schemas.openxmlformats.org/officeDocument/2006/relationships" id="265" r:id="R0a41a3ab02914235"/>
    <p:sldId xmlns:r="http://schemas.openxmlformats.org/officeDocument/2006/relationships" id="266" r:id="Rd083746f98ec4d9b"/>
    <p:sldId xmlns:r="http://schemas.openxmlformats.org/officeDocument/2006/relationships" id="267" r:id="Rca81ae1802484434"/>
    <p:sldId xmlns:r="http://schemas.openxmlformats.org/officeDocument/2006/relationships" id="268" r:id="R1be49dae42144c87"/>
    <p:sldId xmlns:r="http://schemas.openxmlformats.org/officeDocument/2006/relationships" id="269" r:id="Rbddb5fd6b7bf4f61"/>
    <p:sldId xmlns:r="http://schemas.openxmlformats.org/officeDocument/2006/relationships" id="270" r:id="R60963dd063f94aca"/>
    <p:sldId xmlns:r="http://schemas.openxmlformats.org/officeDocument/2006/relationships" id="271" r:id="R49b4742d42284d67"/>
  </p:sldIdLst>
  <p:sldSz cx="18288000" cy="10287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5d7a63f0194495" /><Relationship Type="http://schemas.openxmlformats.org/officeDocument/2006/relationships/theme" Target="/ppt/theme/theme1.xml" Id="R838415c81431402f" /><Relationship Type="http://schemas.openxmlformats.org/officeDocument/2006/relationships/notesMaster" Target="/ppt/notesMasters/notesMaster1.xml" Id="R1dfbd57421e7402d" /><Relationship Type="http://schemas.openxmlformats.org/officeDocument/2006/relationships/presProps" Target="/ppt/presProps.xml" Id="R2a8e28ec623a4c86" /><Relationship Type="http://schemas.openxmlformats.org/officeDocument/2006/relationships/viewProps" Target="/ppt/viewProps.xml" Id="Rfe27566f840942c6" /><Relationship Type="http://schemas.openxmlformats.org/officeDocument/2006/relationships/tableStyles" Target="/ppt/tableStyles.xml" Id="R72e1a970c7fd4c9a" /><Relationship Type="http://schemas.openxmlformats.org/officeDocument/2006/relationships/slide" Target="/ppt/slides/slide1.xml" Id="R1733d9cd8d854999" /><Relationship Type="http://schemas.openxmlformats.org/officeDocument/2006/relationships/slide" Target="/ppt/slides/slide2.xml" Id="Rac6bd8add575434b" /><Relationship Type="http://schemas.openxmlformats.org/officeDocument/2006/relationships/slide" Target="/ppt/slides/slide3.xml" Id="Rd1f3892d53504831" /><Relationship Type="http://schemas.openxmlformats.org/officeDocument/2006/relationships/slide" Target="/ppt/slides/slide4.xml" Id="Rdab1e7b064994a02" /><Relationship Type="http://schemas.openxmlformats.org/officeDocument/2006/relationships/slide" Target="/ppt/slides/slide5.xml" Id="Ra3082c7710c04aec" /><Relationship Type="http://schemas.openxmlformats.org/officeDocument/2006/relationships/slide" Target="/ppt/slides/slide6.xml" Id="Rff5c1f8753784cea" /><Relationship Type="http://schemas.openxmlformats.org/officeDocument/2006/relationships/slide" Target="/ppt/slides/slide7.xml" Id="Rf5effb1151b84f54" /><Relationship Type="http://schemas.openxmlformats.org/officeDocument/2006/relationships/slide" Target="/ppt/slides/slide8.xml" Id="R200bad3f6b224fa0" /><Relationship Type="http://schemas.openxmlformats.org/officeDocument/2006/relationships/slide" Target="/ppt/slides/slide9.xml" Id="R2b97b1df3de14bd4" /><Relationship Type="http://schemas.openxmlformats.org/officeDocument/2006/relationships/slide" Target="/ppt/slides/slide10.xml" Id="R0a41a3ab02914235" /><Relationship Type="http://schemas.openxmlformats.org/officeDocument/2006/relationships/slide" Target="/ppt/slides/slide11.xml" Id="Rd083746f98ec4d9b" /><Relationship Type="http://schemas.openxmlformats.org/officeDocument/2006/relationships/slide" Target="/ppt/slides/slide12.xml" Id="Rca81ae1802484434" /><Relationship Type="http://schemas.openxmlformats.org/officeDocument/2006/relationships/slide" Target="/ppt/slides/slide13.xml" Id="R1be49dae42144c87" /><Relationship Type="http://schemas.openxmlformats.org/officeDocument/2006/relationships/slide" Target="/ppt/slides/slide14.xml" Id="Rbddb5fd6b7bf4f61" /><Relationship Type="http://schemas.openxmlformats.org/officeDocument/2006/relationships/slide" Target="/ppt/slides/slide15.xml" Id="R60963dd063f94aca" /><Relationship Type="http://schemas.openxmlformats.org/officeDocument/2006/relationships/slide" Target="/ppt/slides/slide16.xml" Id="R49b4742d42284d6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6ef1d4bfde9843f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4f8f6d7deaa474f" /><Relationship Type="http://schemas.openxmlformats.org/officeDocument/2006/relationships/notesMaster" Target="/ppt/notesMasters/notesMaster1.xml" Id="R4e02523d258a451e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6ccf6d24ef945de" /><Relationship Type="http://schemas.openxmlformats.org/officeDocument/2006/relationships/notesMaster" Target="/ppt/notesMasters/notesMaster1.xml" Id="Rde3dac5be93d421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c1123e19d849ec" /><Relationship Type="http://schemas.openxmlformats.org/officeDocument/2006/relationships/notesMaster" Target="/ppt/notesMasters/notesMaster1.xml" Id="R1e15faccd9a8425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d69f17981a34203" /><Relationship Type="http://schemas.openxmlformats.org/officeDocument/2006/relationships/notesMaster" Target="/ppt/notesMasters/notesMaster1.xml" Id="R45a2ee5580b64cb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a8e1163e3c4577" /><Relationship Type="http://schemas.openxmlformats.org/officeDocument/2006/relationships/notesMaster" Target="/ppt/notesMasters/notesMaster1.xml" Id="Rb88e2c38094145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52f787edf15435b" /><Relationship Type="http://schemas.openxmlformats.org/officeDocument/2006/relationships/notesMaster" Target="/ppt/notesMasters/notesMaster1.xml" Id="R440ee77530524ca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632255a60654588" /><Relationship Type="http://schemas.openxmlformats.org/officeDocument/2006/relationships/notesMaster" Target="/ppt/notesMasters/notesMaster1.xml" Id="R9acefcb9abe14ca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4443b496b444c98" /><Relationship Type="http://schemas.openxmlformats.org/officeDocument/2006/relationships/notesMaster" Target="/ppt/notesMasters/notesMaster1.xml" Id="Rb865ae27f1954ed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2fd23b3c801447b" /><Relationship Type="http://schemas.openxmlformats.org/officeDocument/2006/relationships/notesMaster" Target="/ppt/notesMasters/notesMaster1.xml" Id="R97bc05c15d974cd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58c638b453b4ca5" /><Relationship Type="http://schemas.openxmlformats.org/officeDocument/2006/relationships/notesMaster" Target="/ppt/notesMasters/notesMaster1.xml" Id="Ree311df63d5f415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76a420647a5c4c80" /><Relationship Type="http://schemas.openxmlformats.org/officeDocument/2006/relationships/notesMaster" Target="/ppt/notesMasters/notesMaster1.xml" Id="Rba464c4e4f764a8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104f238eb4d4e2d" /><Relationship Type="http://schemas.openxmlformats.org/officeDocument/2006/relationships/notesMaster" Target="/ppt/notesMasters/notesMaster1.xml" Id="Rf38a3dfd39a14ffa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372cd235794387" /><Relationship Type="http://schemas.openxmlformats.org/officeDocument/2006/relationships/notesMaster" Target="/ppt/notesMasters/notesMaster1.xml" Id="R28f79d6279564b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e25e00a6c2040bf" /><Relationship Type="http://schemas.openxmlformats.org/officeDocument/2006/relationships/notesMaster" Target="/ppt/notesMasters/notesMaster1.xml" Id="R3547622f997a43c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bff0ef521ac84870" /><Relationship Type="http://schemas.openxmlformats.org/officeDocument/2006/relationships/notesMaster" Target="/ppt/notesMasters/notesMaster1.xml" Id="R8f5ac496da124a17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f5a39f1c2439481b" /><Relationship Type="http://schemas.openxmlformats.org/officeDocument/2006/relationships/notesMaster" Target="/ppt/notesMasters/notesMaster1.xml" Id="R4167df9f3bba4fe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Open with humility. Do not imply the team lacks safeguards.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"I am assuming your team already has strong AI doctor, triage, escalation, and telemedicine infrastructure."</a:t>
            </a:r>
          </a:p>
          <a:p xmlns:a="http://schemas.openxmlformats.org/drawingml/2006/main">
            <a:r>
              <a:t>- "This is a layer around that: what the AI is allowed to infer, what remains unknown, and when autonomy should be capped."</a:t>
            </a:r>
          </a:p>
          <a:p xmlns:a="http://schemas.openxmlformats.org/drawingml/2006/main">
            <a:r>
              <a:t>- "The point of the deck is to orient the demo; the live app is the proof."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Goal for this slide: position yourself as additive, not adversarial.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Talk track:</a:t>
            </a:r>
          </a:p>
          <a:p xmlns:a="http://schemas.openxmlformats.org/drawingml/2006/main">
            <a:r>
              <a:t>- "At this scale, even a small autonomy-boundary issue matters operationally."</a:t>
            </a:r>
          </a:p>
          <a:p xmlns:a="http://schemas.openxmlformats.org/drawingml/2006/main">
            <a:r>
              <a:t>- "If a patient minimizes because of cost, shame, fear, misunderstanding, anxiety framing, or stoic denial, the AI conversation itself becomes part of the risk."</a:t>
            </a:r>
          </a:p>
          <a:p xmlns:a="http://schemas.openxmlformats.org/drawingml/2006/main">
            <a:r>
              <a:t>- "That is where I think this layer fits: not replacing internal reasoning, but governing its action boundary."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is the core framing.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am not trying to win a differential diagnosis contest."</a:t>
            </a:r>
          </a:p>
          <a:p xmlns:a="http://schemas.openxmlformats.org/drawingml/2006/main">
            <a:r>
              <a:t>- "The system should know what it knows, what it inferred, what it did not ask, and what it cannot know remotely."</a:t>
            </a:r>
          </a:p>
          <a:p xmlns:a="http://schemas.openxmlformats.org/drawingml/2006/main">
            <a:r>
              <a:t>- "That determines whether autonomy is appropriate."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is a good place to say "interpretation boundary" out loud.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path:</a:t>
            </a:r>
          </a:p>
          <a:p xmlns:a="http://schemas.openxmlformats.org/drawingml/2006/main">
            <a:r>
              <a:t>1. Open https://clinsafer.fly.dev</a:t>
            </a:r>
          </a:p>
          <a:p xmlns:a="http://schemas.openxmlformats.org/drawingml/2006/main">
            <a:r>
              <a:t>2. Use "Show Cost-Fear Case" first.</a:t>
            </a:r>
          </a:p>
          <a:p xmlns:a="http://schemas.openxmlformats.org/drawingml/2006/main">
            <a:r>
              <a:t>3. Optional: click Paste Transcript and import a short real encounter.</a:t>
            </a:r>
          </a:p>
          <a:p xmlns:a="http://schemas.openxmlformats.org/drawingml/2006/main">
            <a:r>
              <a:t>4. Analyze.</a:t>
            </a:r>
          </a:p>
          <a:p xmlns:a="http://schemas.openxmlformats.org/drawingml/2006/main">
            <a:r>
              <a:t>5. Stop on Statement vs Fact and Provenance &amp; Authority.</a:t>
            </a:r>
          </a:p>
          <a:p xmlns:a="http://schemas.openxmlformats.org/drawingml/2006/main">
            <a:r>
              <a:t>6. Open Final Recommendations.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he asks for a real encounter: paste it. The app now parses Q/A and speaker-labeled transcripts, leaves turns editable, and infers concepts if blank.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practical demo safety feature.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"If you give me a small de-identified encounter fragment, I can paste it here."</a:t>
            </a:r>
          </a:p>
          <a:p xmlns:a="http://schemas.openxmlformats.org/drawingml/2006/main">
            <a:r>
              <a:t>- "The UI will show a live input parsed proof line so it is obvious that the encounter changed."</a:t>
            </a:r>
          </a:p>
          <a:p xmlns:a="http://schemas.openxmlformats.org/drawingml/2006/main">
            <a:r>
              <a:t>- "Concepts can be blank. The engine infers the likely slot from the question and answer."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Caution: ask for de-identified text only. Avoid PHI in an interview.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Technical explanation:</a:t>
            </a:r>
          </a:p>
          <a:p xmlns:a="http://schemas.openxmlformats.org/drawingml/2006/main">
            <a:r>
              <a:t>- Patient statements become observations with source confidence and trap tags.</a:t>
            </a:r>
          </a:p>
          <a:p xmlns:a="http://schemas.openxmlformats.org/drawingml/2006/main">
            <a:r>
              <a:t>- JRE evaluates readiness: missingness, distortion, contradiction, red flags, objective needs, remote boundaries.</a:t>
            </a:r>
          </a:p>
          <a:p xmlns:a="http://schemas.openxmlformats.org/drawingml/2006/main">
            <a:r>
              <a:t>- Black Swan Guard checks assumptions: identity/proxy, communication channel, envelope fit, source integrity, sentinel risk.</a:t>
            </a:r>
          </a:p>
          <a:p xmlns:a="http://schemas.openxmlformats.org/drawingml/2006/main">
            <a:r>
              <a:t>- LLM findings are advisory candidate signals. They cannot authorize or hard-stop.</a:t>
            </a:r>
          </a:p>
          <a:p xmlns:a="http://schemas.openxmlformats.org/drawingml/2006/main">
            <a:r>
              <a:t>- The final state is the most restrictive of JRE and guardrail state.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Good phrase: "The LLM proposes. Governed software disposes."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slide anticipates the "LLMs are unsafe" objection.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"Every visible signal has provenance and authority."</a:t>
            </a:r>
          </a:p>
          <a:p xmlns:a="http://schemas.openxmlformats.org/drawingml/2006/main">
            <a:r>
              <a:t>- "The LLM is useful, but it is not allowed to make the final autonomy decision."</a:t>
            </a:r>
          </a:p>
          <a:p xmlns:a="http://schemas.openxmlformats.org/drawingml/2006/main">
            <a:r>
              <a:t>- "Memory is also bounded. It can suggest but not authorize."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why this matters:</a:t>
            </a:r>
          </a:p>
          <a:p xmlns:a="http://schemas.openxmlformats.org/drawingml/2006/main">
            <a:r>
              <a:t>- "Without provenance, a clinician or regulator cannot tell whether a decision came from a validated rule, a model hunch, or a memory prior."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When you click Final Recommendations in the app, frame it as the conversion from analysis into action.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Emphasize:</a:t>
            </a:r>
          </a:p>
          <a:p xmlns:a="http://schemas.openxmlformats.org/drawingml/2006/main">
            <a:r>
              <a:t>- "This is not just explainability. It is operational instruction."</a:t>
            </a:r>
          </a:p>
          <a:p xmlns:a="http://schemas.openxmlformats.org/drawingml/2006/main">
            <a:r>
              <a:t>- "The page distinguishes patient language, human defense patterns, clinical handoff, governance actions, and quality metrics."</a:t>
            </a:r>
          </a:p>
          <a:p xmlns:a="http://schemas.openxmlformats.org/drawingml/2006/main">
            <a:r>
              <a:t>- "This helps with safety, physician efficiency, and patient trust."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Do not overstate that the patient copy is final clinical guidance. Say it is a demo draft requiring product/clinical review.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if the technical audience is skeptical.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real piece is the governed analysis and live UI."</a:t>
            </a:r>
          </a:p>
          <a:p xmlns:a="http://schemas.openxmlformats.org/drawingml/2006/main">
            <a:r>
              <a:t>- "The memory layer is intentionally described as a prototype hook."</a:t>
            </a:r>
          </a:p>
          <a:p xmlns:a="http://schemas.openxmlformats.org/drawingml/2006/main">
            <a:r>
              <a:t>- "I would not deploy online memory without outcome governance and simulation."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This honesty is a strength. It avoids sounding like you are selling magic.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Preferred first case: cost-fear minimizes alarm.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Why:</a:t>
            </a:r>
          </a:p>
          <a:p xmlns:a="http://schemas.openxmlformats.org/drawingml/2006/main">
            <a:r>
              <a:t>- It is subtle enough for a physician.</a:t>
            </a:r>
          </a:p>
          <a:p xmlns:a="http://schemas.openxmlformats.org/drawingml/2006/main">
            <a:r>
              <a:t>- It is business-relevant without sounding mercenary.</a:t>
            </a:r>
          </a:p>
          <a:p xmlns:a="http://schemas.openxmlformats.org/drawingml/2006/main">
            <a:r>
              <a:t>- It shows patient behavior shaping the conversation.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Second case if they ask about real-world subtlety: embarrassment curbs history.</a:t>
            </a:r>
          </a:p>
          <a:p xmlns:a="http://schemas.openxmlformats.org/drawingml/2006/main">
            <a:r>
              <a:t>- It shows shame, fear of a bad outcome, misconstrued medical facts, and chart anxiety distorting the history before the model reasons over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Third case if they ask what "human" means beyond embarrassment: defense pattern distortion.</a:t>
            </a:r>
          </a:p>
          <a:p xmlns:a="http://schemas.openxmlformats.org/drawingml/2006/main">
            <a:r>
              <a:t>- It bridges anxious somatic amplification/reassurance seeking and stoic minimization/denial without using stigmatizing labels.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care about prescriptions/refills, switch to the stale ACE/CKD/NSAID refill case.</a:t>
            </a:r>
          </a:p>
          <a:p xmlns:a="http://schemas.openxmlformats.org/drawingml/2006/main">
            <a:r>
              <a:t>If they care about caregiver workflows, use caregiver conflict.</a:t>
            </a:r>
          </a:p>
          <a:p xmlns:a="http://schemas.openxmlformats.org/drawingml/2006/main">
            <a:r>
              <a:t>If they care about documentation integrity, use unasked-is-not-denied.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where you connect medicine and business without making it sound like safety is secondary.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"The product win is safe automation."</a:t>
            </a:r>
          </a:p>
          <a:p xmlns:a="http://schemas.openxmlformats.org/drawingml/2006/main">
            <a:r>
              <a:t>- "Sometimes the right answer is route now. Sometimes the right answer is ask one better question and avoid unnecessary routing."</a:t>
            </a:r>
          </a:p>
          <a:p xmlns:a="http://schemas.openxmlformats.org/drawingml/2006/main">
            <a:r>
              <a:t>- "Both matter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challenged:</a:t>
            </a:r>
          </a:p>
          <a:p xmlns:a="http://schemas.openxmlformats.org/drawingml/2006/main">
            <a:r>
              <a:t>- "I would measure confirmation rate, false positive escalations, avoidable routing prevented, patient completion after escalation, and clinician correction rate."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not a brag slide. It is a bridge from demo to interview.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"What I wanted to show is how I think."</a:t>
            </a:r>
          </a:p>
          <a:p xmlns:a="http://schemas.openxmlformats.org/drawingml/2006/main">
            <a:r>
              <a:t>- "At healthcare AI scale, medicine, business, risk, and engineering are not separate problems."</a:t>
            </a:r>
          </a:p>
          <a:p xmlns:a="http://schemas.openxmlformats.org/drawingml/2006/main">
            <a:r>
              <a:t>- "I can work across those surfaces and still build working software."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Keep it calm. Let the app be the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this slide as your mental checklist, not necessarily as something to present.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Important tone:</a:t>
            </a:r>
          </a:p>
          <a:p xmlns:a="http://schemas.openxmlformats.org/drawingml/2006/main">
            <a:r>
              <a:t>- Never say "you probably do not have this."</a:t>
            </a:r>
          </a:p>
          <a:p xmlns:a="http://schemas.openxmlformats.org/drawingml/2006/main">
            <a:r>
              <a:t>- Say "I do not know your internal safeguards, so I built the kind of layer I would look for at scale."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asked where you would start:</a:t>
            </a:r>
          </a:p>
          <a:p xmlns:a="http://schemas.openxmlformats.org/drawingml/2006/main">
            <a:r>
              <a:t>- "Pick one workflow with clear value and measurable risk, likely prescription renewal or low-acuity closure. Run shadow mode against historical cases first."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If they ask for architecture details:</a:t>
            </a:r>
          </a:p>
          <a:p xmlns:a="http://schemas.openxmlformats.org/drawingml/2006/main">
            <a:r>
              <a:t>- Input schema: patient_context plus statements with question, answer, concept, source, metadata.</a:t>
            </a:r>
          </a:p>
          <a:p xmlns:a="http://schemas.openxmlformats.org/drawingml/2006/main">
            <a:r>
              <a:t>- Extraction: normalize, infer concept if blank, assign source confidence, apply trap priors.</a:t>
            </a:r>
          </a:p>
          <a:p xmlns:a="http://schemas.openxmlformats.org/drawingml/2006/main">
            <a:r>
              <a:t>- JRE: produces observations, findings, JRI, next questions.</a:t>
            </a:r>
          </a:p>
          <a:p xmlns:a="http://schemas.openxmlformats.org/drawingml/2006/main">
            <a:r>
              <a:t>- BSG: evaluates assumptions and max autonomy tier.</a:t>
            </a:r>
          </a:p>
          <a:p xmlns:a="http://schemas.openxmlformats.org/drawingml/2006/main">
            <a:r>
              <a:t>- Governor: most restrictive state wins.</a:t>
            </a:r>
          </a:p>
          <a:p xmlns:a="http://schemas.openxmlformats.org/drawingml/2006/main">
            <a:r>
              <a:t>- LLM: separate /demo/llm-analyze endpoint, async in UI.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they ask about distributions:</a:t>
            </a:r>
          </a:p>
          <a:p xmlns:a="http://schemas.openxmlformats.org/drawingml/2006/main">
            <a:r>
              <a:t>- Current demo uses bounded deterministic confidence and severity, not full probabilistic distributions.</a:t>
            </a:r>
          </a:p>
          <a:p xmlns:a="http://schemas.openxmlformats.org/drawingml/2006/main">
            <a:r>
              <a:t>- Next version would have AI-proposed node ranges and distributions validated against governed templates and calibration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your anti-fragile slide.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The pattern:</a:t>
            </a:r>
          </a:p>
          <a:p xmlns:a="http://schemas.openxmlformats.org/drawingml/2006/main">
            <a:r>
              <a:t>1. Agree with the serious part of the objection.</a:t>
            </a:r>
          </a:p>
          <a:p xmlns:a="http://schemas.openxmlformats.org/drawingml/2006/main">
            <a:r>
              <a:t>2. Clarify the boundary.</a:t>
            </a:r>
          </a:p>
          <a:p xmlns:a="http://schemas.openxmlformats.org/drawingml/2006/main">
            <a:r>
              <a:t>3. Say how production would validate 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Example:</a:t>
            </a:r>
          </a:p>
          <a:p xmlns:a="http://schemas.openxmlformats.org/drawingml/2006/main">
            <a:r>
              <a:t>- "Yes, a static rule system cannot cover all medicine. That is why I would not scale it by hand-writing templates. I would use AI to propose the expert-system graph, then validate and execute it with governed deterministic software."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Close with a collaborative question.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Say:</a:t>
            </a:r>
          </a:p>
          <a:p xmlns:a="http://schemas.openxmlformats.org/drawingml/2006/main">
            <a:r>
              <a:t>- "I would love to understand where this kind of boundary layer would matter most inside your current system."</a:t>
            </a:r>
          </a:p>
          <a:p xmlns:a="http://schemas.openxmlformats.org/drawingml/2006/main">
            <a:r>
              <a:t>- "I am not asking you to accept this exact implementation. I am showing the way I think and what I can build."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If the interview goes well, offer a specific next step:</a:t>
            </a:r>
          </a:p>
          <a:p xmlns:a="http://schemas.openxmlformats.org/drawingml/2006/main">
            <a:r>
              <a:t>- "Give me one de-identified failure mode or tricky workflow and I can show how I would map it into this boundary framework."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af970d53e343b0" /></Relationships>
</file>

<file path=ppt/slideLayouts/slideLayout2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d0c761f312a14b5a" /><Relationship Type="http://schemas.openxmlformats.org/officeDocument/2006/relationships/slideLayout" Target="/ppt/slideLayouts/slideLayout2.xml" Id="R5463909fe89343a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463909fe89343a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0bd9605783f41d5" /><Relationship Type="http://schemas.openxmlformats.org/officeDocument/2006/relationships/notesSlide" Target="/ppt/notesSlides/notesSlide1.xml" Id="R6959a088ecaf4b9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0a0cad4ac1d94b84" /><Relationship Type="http://schemas.openxmlformats.org/officeDocument/2006/relationships/notesSlide" Target="/ppt/notesSlides/notesSlide2.xml" Id="R84d07e0673064f3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2c8a2c177d849e4" /><Relationship Type="http://schemas.openxmlformats.org/officeDocument/2006/relationships/notesSlide" Target="/ppt/notesSlides/notesSlide3.xml" Id="Rabfab596edba4ec7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ff7e5e7a3e584582" /><Relationship Type="http://schemas.openxmlformats.org/officeDocument/2006/relationships/notesSlide" Target="/ppt/notesSlides/notesSlide4.xml" Id="R6ed61e703c0a407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7e554d6c39154584" /><Relationship Type="http://schemas.openxmlformats.org/officeDocument/2006/relationships/notesSlide" Target="/ppt/notesSlides/notesSlide5.xml" Id="R10b7a180aa3a4ec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571447fccb04394" /><Relationship Type="http://schemas.openxmlformats.org/officeDocument/2006/relationships/notesSlide" Target="/ppt/notesSlides/notesSlide6.xml" Id="Rf18dad1c5c4f486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8a777165c0914239" /><Relationship Type="http://schemas.openxmlformats.org/officeDocument/2006/relationships/notesSlide" Target="/ppt/notesSlides/notesSlide7.xml" Id="R7a67b258e9f0445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905595e6c79d46d4" /><Relationship Type="http://schemas.openxmlformats.org/officeDocument/2006/relationships/notesSlide" Target="/ppt/notesSlides/notesSlide8.xml" Id="R0bc43ba0bdc64dd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4354e5eadbb14b17" /><Relationship Type="http://schemas.openxmlformats.org/officeDocument/2006/relationships/notesSlide" Target="/ppt/notesSlides/notesSlide9.xml" Id="R2ef0783281b9475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be19dcd7d14040be" /><Relationship Type="http://schemas.openxmlformats.org/officeDocument/2006/relationships/notesSlide" Target="/ppt/notesSlides/notesSlide10.xml" Id="R6c15816e5f264b1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393a4743d69140c4" /><Relationship Type="http://schemas.openxmlformats.org/officeDocument/2006/relationships/notesSlide" Target="/ppt/notesSlides/notesSlide11.xml" Id="R559ac3b8523941d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dc7c1c330b2f4636" /><Relationship Type="http://schemas.openxmlformats.org/officeDocument/2006/relationships/notesSlide" Target="/ppt/notesSlides/notesSlide12.xml" Id="Ra572a4b600a448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e339e608e31d4f58" /><Relationship Type="http://schemas.openxmlformats.org/officeDocument/2006/relationships/notesSlide" Target="/ppt/notesSlides/notesSlide13.xml" Id="R6bf335d866cf4a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a9c246c0c8204472" /><Relationship Type="http://schemas.openxmlformats.org/officeDocument/2006/relationships/notesSlide" Target="/ppt/notesSlides/notesSlide14.xml" Id="R1ce13e378c7e48af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c9855fa14dc94bb2" /><Relationship Type="http://schemas.openxmlformats.org/officeDocument/2006/relationships/notesSlide" Target="/ppt/notesSlides/notesSlide15.xml" Id="R62c955274539435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9ab2dc27806442f" /><Relationship Type="http://schemas.openxmlformats.org/officeDocument/2006/relationships/notesSlide" Target="/ppt/notesSlides/notesSlide16.xml" Id="R1f0226bbf3b749e5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cover-stage">
            <a:extLst xmlns:a="http://schemas.openxmlformats.org/drawingml/2006/main">
              <a:ext uri="{FF2B5EF4-FFF2-40B4-BE49-F238E27FC236}">
                <a16:creationId xmlns:a16="http://schemas.microsoft.com/office/drawing/2014/main" id="{FFA05298-8857-4B02-9DE4-74E80624A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4D3FDF-6626-4970-9C13-ACA86FBC5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62200"/>
            <a:ext cx="958215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ClinSafer</a:t>
            </a:r>
          </a:p>
        </p:txBody>
      </p:sp>
      <p:sp>
        <p:nvSpPr>
          <p:cNvPr id="3" name="cover-title">
            <a:extLst xmlns:a="http://schemas.openxmlformats.org/drawingml/2006/main">
              <a:ext uri="{FF2B5EF4-FFF2-40B4-BE49-F238E27FC236}">
                <a16:creationId xmlns:a16="http://schemas.microsoft.com/office/drawing/2014/main" id="{4A339B06-E96A-4439-93F6-9EFCFF8A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95600"/>
            <a:ext cx="9201150" cy="3162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6900" b="1">
                <a:solidFill>
                  <a:srgbClr val="102A43"/>
                </a:solidFill>
              </a:defRPr>
            </a:pPr>
            <a:r>
              <a:rPr sz="6900" b="1">
                <a:solidFill>
                  <a:srgbClr val="102A43"/>
                </a:solidFill>
              </a:rPr>
              <a:t>Autonomy boundaries for AI medicine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B78E09-4FD9-436A-9D8C-DDFC28A1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229350"/>
            <a:ext cx="24765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604D"/>
          </a:solidFill>
          <a:ln xmlns:a="http://schemas.openxmlformats.org/drawingml/2006/main" w="0">
            <a:solidFill>
              <a:srgbClr val="E2604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B28D5C8-02B0-4215-8D00-327113D6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6477000"/>
            <a:ext cx="8286750" cy="723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325">
                <a:solidFill>
                  <a:srgbClr val="52677A"/>
                </a:solidFill>
              </a:defRPr>
            </a:pPr>
            <a:r>
              <a:rPr sz="2325">
                <a:solidFill>
                  <a:srgbClr val="52677A"/>
                </a:solidFill>
              </a:rPr>
              <a:t>A live interview demo for showing how messy patient language becomes governed action.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4AF0E68-626D-4C2A-968B-4FC7C0D2E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24193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068FEE-1CFF-4FBC-96B1-96D07DEE8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3371850"/>
            <a:ext cx="27432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synthetic cases in the live library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19A6A1-04B8-4B35-BE3C-CAA05F3D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407670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330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AEC219B-A4AA-406C-8310-D3805429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029200"/>
            <a:ext cx="2533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passing tests after final polish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B3C6AF1-662C-4610-961A-BF473BAEC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5734050"/>
            <a:ext cx="640080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0D7A5C3-ACC3-4511-B1FC-5569DCBC4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68050" y="66675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most-restrictive governor decides 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510121B-138A-4ADB-B2A3-30E04A665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9239250"/>
            <a:ext cx="4000500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2677A"/>
                </a:solidFill>
              </a:defRPr>
            </a:pPr>
            <a:r>
              <a:rPr sz="1350">
                <a:solidFill>
                  <a:srgbClr val="52677A"/>
                </a:solidFill>
              </a:rPr>
              <a:t>Prepared for an AI healthcare interview conversation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50CFE86-055F-4DFF-811C-74545DC5A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467850"/>
            <a:ext cx="2038350" cy="190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app: 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811964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29896C42-185A-4AC8-AC02-62116B53F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4224ABAD-59E7-40C9-83F9-17BEDF4C7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WHY THIS AUDIENCE SHOULD CARE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FDE2CFF-3066-474B-9AB9-30AF59702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Healthcare AI scale changes the safety problem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56E82A8-F709-4299-A80D-DA07577A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At consumer scale, the hard failures are often not obvious triage misses. They are inference, workflow, and autonomy-boundary failures.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5CD549-E718-43AB-963B-71593DEF9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143500"/>
            <a:ext cx="77914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102A43"/>
                </a:solidFill>
              </a:defRPr>
            </a:pPr>
            <a:r>
              <a:rPr sz="4050" b="1">
                <a:solidFill>
                  <a:srgbClr val="102A43"/>
                </a:solidFill>
              </a:rPr>
              <a:t>The product question is not just diagnosis.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57CEF8-43A9-484F-A95D-02A158B7D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10350"/>
            <a:ext cx="8229600" cy="7429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400">
                <a:solidFill>
                  <a:srgbClr val="52677A"/>
                </a:solidFill>
              </a:defRPr>
            </a:pPr>
            <a:r>
              <a:rPr sz="2400">
                <a:solidFill>
                  <a:srgbClr val="52677A"/>
                </a:solidFill>
              </a:rPr>
              <a:t>It is whether the system has enough reliable evidence to act, reassure, refill, route, or stop.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8335D2-0D7E-4D2C-8568-858E7AE2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39243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Scale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0B5704-8BA4-4BB2-89BE-9DE0FF4BC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4876800"/>
            <a:ext cx="30861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high-volume patient-facing AI intake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AF74BC-6866-416B-8BA2-D2CE21E6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565785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Handoff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2A122A-7002-4A85-9BA1-972CF552E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6610350"/>
            <a:ext cx="26098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low-friction clinician escalation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403386-D03C-4C59-BD33-6CBB28A6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7162800"/>
            <a:ext cx="68770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725AC1"/>
                </a:solidFill>
              </a:defRPr>
            </a:pPr>
            <a:r>
              <a:rPr sz="5850" b="1">
                <a:solidFill>
                  <a:srgbClr val="725AC1"/>
                </a:solidFill>
              </a:rPr>
              <a:t>Autonomy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47EE26-E72B-4622-956A-344FBA2DE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9900" y="8096250"/>
            <a:ext cx="29908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governed permission to act or stop</a:t>
            </a:r>
          </a:p>
        </p:txBody>
      </p:sp>
      <p:sp>
        <p:nvSpPr>
          <p:cNvPr id="1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A413C38F-29B7-4A26-8F01-4CB32D095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582150"/>
            <a:ext cx="44196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Sources: live ClinSafer app, local test suite, and generated demo artifacts.</a:t>
            </a:r>
          </a:p>
        </p:txBody>
      </p:sp>
      <p:sp>
        <p:nvSpPr>
          <p:cNvPr id="1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8BD07B1-1DF5-4DEE-BC5B-D62A321C8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472024529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5B94760-0F4D-4CA3-9529-9728836F1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79146AA-54DD-4589-8A59-8ED24FC2C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ONE SENTENCE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95FB698-DE5D-450D-B471-AFBC49878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thesis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0BB9702-ADE3-4BC1-ADD4-7516D3DD6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Messy language needs an autonomy governor, not just a smarter answer generator.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5A4143-1911-4CC7-9966-049DB7002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76DA4C-E28B-40CA-8A3B-2A8FAD1B5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What was said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D02445-ED51-4CE2-A390-55E32E14C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statements, denials, goals, barriers, source, freshness.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70AAA3-E94D-453A-90A1-C16A537E9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6430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EEC6AC-A4FF-47BF-B9B8-F34C8D3ED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What can be inferred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EF43BF5-92DE-42D8-A1ED-37507208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Only bounded interpretations with confidence, provenance, and close-boundary questions.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D52B09-4538-4458-96F4-58FF26E6A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47550" y="3196590"/>
            <a:ext cx="53594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E31344-0915-428F-B9FC-B61DBD213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What cannot be assumed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22BB0EC-EBB1-4FF0-85C3-2DFB72B8F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Unasked symptoms, stale data, remote-unknowable findings, coercion, contradiction.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CE8F2F1-0BF3-4F1C-9A6B-CBCD10C75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910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The demo is about safe permission to act, not diagnosis prediction.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1D4C4678-80D2-407B-954B-F71676FE7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959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FA09D75-1115-479F-BDD0-3576216E0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4483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406701449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6DD3E5F-C5E3-42DC-8DAC-73D6BFB2F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7E1081D-55DC-4031-A412-E4A9F1C6A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HOW TO RUN IT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C062B6-ED42-4ADD-8270-14B17E17C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Seven-minute live demo path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F1CF44C-2312-4EFD-9DE7-E1DF60FBA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Keep the interview on the product idea. Do not wander through the whole case library.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A7B540-EBF8-41D6-AA53-39D4A823C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08756F"/>
                </a:solidFill>
              </a:defRPr>
            </a:pPr>
            <a:r>
              <a:rPr sz="5550" b="1">
                <a:solidFill>
                  <a:srgbClr val="08756F"/>
                </a:solidFill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0107AC-71D5-492A-9ADC-8D39DEB26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Pick or paste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82B6ED-FFDF-4D91-B54B-0CB47335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Use cost-fear case or real encounter text.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5C404FC-6850-4411-947B-BCFD9EDFC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2364AA"/>
                </a:solidFill>
              </a:defRPr>
            </a:pPr>
            <a:r>
              <a:rPr sz="5550" b="1">
                <a:solidFill>
                  <a:srgbClr val="2364AA"/>
                </a:solidFill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43A1AE-C357-43EE-B648-5FF4EE53E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Analyze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6DB58-90BA-4CAB-897B-700063FFF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JRE and Black Swan Guard run deterministically.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F6BDB6-EED2-4127-8DDF-0DCD8E123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725AC1"/>
                </a:solidFill>
              </a:defRPr>
            </a:pPr>
            <a:r>
              <a:rPr sz="5550" b="1">
                <a:solidFill>
                  <a:srgbClr val="725AC1"/>
                </a:solidFill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605773-109A-438B-81E2-F0F8A859B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Inspect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B50F6E-8E55-4BFE-927C-ED070BD09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Statement vs Fact and Provenance show authority.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1998EC3-9C59-4A90-82F8-61AADE881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E2604D"/>
                </a:solidFill>
              </a:defRPr>
            </a:pPr>
            <a:r>
              <a:rPr sz="5550" b="1">
                <a:solidFill>
                  <a:srgbClr val="E2604D"/>
                </a:solidFill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A07A3-BF1E-4C9B-AF46-34A49DAD6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Decide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E2A2BBA-923F-4937-9C80-5D83CBF95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Most restrictive governor caps autonomy.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70211E-24DB-4C67-BD4C-A291E61F9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5200650"/>
            <a:ext cx="3200400" cy="857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550" b="1">
                <a:solidFill>
                  <a:srgbClr val="3A9D6B"/>
                </a:solidFill>
              </a:defRPr>
            </a:pPr>
            <a:r>
              <a:rPr sz="5550" b="1">
                <a:solidFill>
                  <a:srgbClr val="3A9D6B"/>
                </a:solidFill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8FD643D-3FC6-429B-BA25-7297A1A2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191250"/>
            <a:ext cx="3200400" cy="323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Recommend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75F921-A134-4F8C-B317-71BFA8D34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06550" y="6667500"/>
            <a:ext cx="3200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Final page gives action, handoff, and metrics.</a:t>
            </a:r>
          </a:p>
        </p:txBody>
      </p:sp>
      <p:sp>
        <p:nvSpPr>
          <p:cNvPr id="20" name="footer-left">
            <a:extLst xmlns:a="http://schemas.openxmlformats.org/drawingml/2006/main">
              <a:ext uri="{FF2B5EF4-FFF2-40B4-BE49-F238E27FC236}">
                <a16:creationId xmlns:a16="http://schemas.microsoft.com/office/drawing/2014/main" id="{EB28AD91-76CE-4980-9F1A-7CEDF2A50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1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D7219F5-6BAF-4542-A096-9A97EED2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78588150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8F37E99-B9DE-47D5-BB26-8E8CFD3F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69C0CAB-6541-48DB-8757-0D3564F0B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LIVE INPUT PROOF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3B3CAB6-2337-4D8F-9E42-51D6FE6A0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If they ask for real dialogue, use paste import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B6E51F6-3904-4888-96A1-57837C4C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is not locked to fixed cases. Pasted encounter text becomes editable, inferred, and analyzed.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12D5F5-E79D-4802-83AA-9940C435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937308" cy="16916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7BFAC4-74D3-47FD-8D52-6D47E56F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29000"/>
            <a:ext cx="8439150" cy="12382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Do you have chest pain?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No, just tight indigestion when I walk.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Clinician: Any shortness of breath?</a:t>
            </a:r>
          </a:p>
          <a:p xmlns:a="http://schemas.openxmlformats.org/drawingml/2006/main">
            <a:pPr>
              <a:defRPr sz="2025">
                <a:solidFill>
                  <a:srgbClr val="102A43"/>
                </a:solidFill>
              </a:defRPr>
            </a:pPr>
            <a:r>
              <a:rPr sz="2025">
                <a:solidFill>
                  <a:srgbClr val="102A43"/>
                </a:solidFill>
              </a:rPr>
              <a:t>Patient: Not really. I slow down so it does not get bad.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A9D121-B5EC-4295-88E5-165419B6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458533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40B4C-4ACB-4146-AA48-FD67F4969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47625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Parsed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358BC-36FC-4E30-AB59-6D8D11E9A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1054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Q/A, clinician/patient labels, and alternating turns.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B521A0-560B-4D7D-BDCC-CF255DC07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571309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BD0AD5-3EF5-4EA8-AF85-DF2383489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588645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Editable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9D99290-4888-4E7C-9593-7EDD25A1F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622935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Question, answer, source, and concept can be changed before analysis.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668CF-6B03-486B-AC4C-8C44509E4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4608" y="6840855"/>
            <a:ext cx="7312343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32B0B3-51C5-4211-9450-6ABFC2D2A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010400"/>
            <a:ext cx="68961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Inferred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2EB6A2-DB57-43EE-B66D-88BE663D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7353300"/>
            <a:ext cx="68961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Blank concept fields are inferred from question plus answer text.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1FE85D5-00D1-44DB-A408-19058DBF8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1CED28E-FD55-4A4B-B375-A9731D3F7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23939809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E9FD7830-B85A-482B-867D-3AC039B14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857D30F-4C28-459C-BBD1-36407F335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TECHNICAL BACKBONE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F0B30D2-40AB-420F-9AC5-EEF5DD428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method is ensemble governance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90A26F46-00CB-470F-A762-7129DB19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LLM candidates help find signals, but deterministic validators and guardrails decide autonomy.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C2792F-DCC3-4A91-988D-B1113F1AC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6AA54-9BBF-4B21-A709-076941293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009957-24E5-4D07-853E-3F75E036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Dialogue, source, patient context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38D10A-C902-4E27-894F-F378BF373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3A40BF-627B-4BCB-8F2A-FA11D9A79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BBF7F7-FBEB-49FD-8B5E-9C2EF8358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Extractor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045FAF-05B2-4054-A936-8BA41405B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Normalize observations and confidence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F12DEC-2CBE-449F-90B7-F8E6DC5A0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F5ACDB-1A20-4C27-BCC9-45DE1C329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233F5A-DD11-4B6F-B21A-B10D78584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JRE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D77157-8DAD-4375-AC9F-5977B0D4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Missing, uncertain, distorted, contradictory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2BFC0B-2206-4EDA-B616-BA92FF3F0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23133A6-CE6A-4C06-AB33-FE6A9C095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03EE359-24BA-47C7-8E63-E4A764007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BSG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8EF12A-5CC5-4BE5-98D2-D16B407C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Operating envelope and autonomy cap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8C1E3B0-4F91-4639-81A2-1B97F2C4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013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2AB288A-AB5A-4CED-A18E-EDCBF0AA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26F154-8115-43FA-BBEC-EB291F4AD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Governor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808808-BAC4-42B3-B574-4ECF640EA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Most restrictive state wins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339C72B-3639-4054-B2BF-D9A5DC8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92150" y="5695950"/>
            <a:ext cx="2476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52677A"/>
                </a:solidFill>
              </a:defRPr>
            </a:pPr>
            <a:r>
              <a:rPr sz="1800" b="1">
                <a:solidFill>
                  <a:srgbClr val="52677A"/>
                </a:solidFill>
              </a:rPr>
              <a:t>-&gt;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59102E-1CD6-47FB-BC69-E32BA59D8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35050" y="5314950"/>
            <a:ext cx="21526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009EAC0-C933-45F7-9E5D-A8EB3A765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467350"/>
            <a:ext cx="1885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Output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791949E-89FE-4926-9076-9BD8C34B0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68400" y="5810250"/>
            <a:ext cx="18859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2677A"/>
                </a:solidFill>
              </a:defRPr>
            </a:pPr>
            <a:r>
              <a:rPr sz="1275">
                <a:solidFill>
                  <a:srgbClr val="52677A"/>
                </a:solidFill>
              </a:rPr>
              <a:t>Questions, handoff, recommendations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C16F64-960E-49AC-A352-524902CAF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743950"/>
            <a:ext cx="167259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550" b="1">
                <a:solidFill>
                  <a:srgbClr val="102A43"/>
                </a:solidFill>
              </a:defRPr>
            </a:pPr>
            <a:r>
              <a:rPr sz="2550" b="1">
                <a:solidFill>
                  <a:srgbClr val="102A43"/>
                </a:solidFill>
              </a:rPr>
              <a:t>Autonomy is capped by authority, not by model confidence alone.</a:t>
            </a:r>
          </a:p>
        </p:txBody>
      </p:sp>
      <p:sp>
        <p:nvSpPr>
          <p:cNvPr id="29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0E769F9-5FAA-40D4-942F-3E85FA315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30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8DD2CCE1-A7D4-4C4A-835D-7B3EF9B34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916441880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2B3FEB4-4778-4859-B297-830B04278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B8449B9-9E71-4BF7-A20A-4CB51102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WHAT TO POINT AT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4FBA149-E53E-4397-8716-BEE87453C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Provenance is the safety interface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FEE3E7C2-AC69-4C47-A43D-188D3B5BC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demo separates signal source from action authority.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2655F3-970D-4709-AE24-666C0D3F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Curated rules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42855C-30DD-4E94-870A-DAD763332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19659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6CF8DF-4B44-4C42-86C4-148C6D46F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27660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Enforced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036E5B-A3FF-4AAB-9F7F-213F5A085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004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ask, route, block, or cap.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06A86A-2DBF-46C6-A93C-7BB46D196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957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LLM candidates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A082FB-78A1-4E08-BAFE-8AA31246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369570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4941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BB6ADB-0173-43C5-8DF4-0F2FE9039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7909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D4941E"/>
                </a:solidFill>
              </a:defRPr>
            </a:pPr>
            <a:r>
              <a:rPr sz="1275" b="1">
                <a:solidFill>
                  <a:srgbClr val="D4941E"/>
                </a:solidFill>
              </a:rPr>
              <a:t>Advisory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679C48B-9873-4242-89CF-8BCF56404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6957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Can suggest review targets only.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6B841C1-43AF-4D5B-A3F7-9A0A71474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910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Learned priors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FC1C1-8D72-4327-9522-5389D0B0C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19481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CC0BFDB-AD9B-4712-B0FB-B16C761B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2862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Bounded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781AE89-92D6-4E02-9A78-E06C7555B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1910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Tune confidence and question priority.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BF2C87-2EAB-41F9-BED9-DD800F1B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8630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Memory hooks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119829-0FCE-4BBC-A53D-A8BA48543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469392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D61F764-8498-4D84-A10F-E532BC2D4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7815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Advisory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763B257-208C-4747-9817-CA48672F2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68630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Suggest missing nodes and falsifiers.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E228C0-DDDC-4E9E-BD8B-171FA0E35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200650"/>
            <a:ext cx="49339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75" b="1">
                <a:solidFill>
                  <a:srgbClr val="102A43"/>
                </a:solidFill>
              </a:defRPr>
            </a:pPr>
            <a:r>
              <a:rPr sz="2175" b="1">
                <a:solidFill>
                  <a:srgbClr val="102A43"/>
                </a:solidFill>
              </a:rPr>
              <a:t>Ensemble governor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D6B09FD-49E0-4315-93D6-D13C6D0E6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8363" y="5193030"/>
            <a:ext cx="1571625" cy="36576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E2604D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CF3F805-9F6B-4BBB-91A4-999FE32C5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5276850"/>
            <a:ext cx="123825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E2604D"/>
                </a:solidFill>
              </a:defRPr>
            </a:pPr>
            <a:r>
              <a:rPr sz="1275" b="1">
                <a:solidFill>
                  <a:srgbClr val="E2604D"/>
                </a:solidFill>
              </a:rPr>
              <a:t>Enforced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26CF55-411C-404F-BDFD-F2CA19FA1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5200650"/>
            <a:ext cx="8134350" cy="381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52677A"/>
                </a:solidFill>
              </a:defRPr>
            </a:pPr>
            <a:r>
              <a:rPr sz="1875">
                <a:solidFill>
                  <a:srgbClr val="52677A"/>
                </a:solidFill>
              </a:rPr>
              <a:t>Most restrictive final state wins.</a:t>
            </a:r>
          </a:p>
        </p:txBody>
      </p:sp>
      <p:sp>
        <p:nvSpPr>
          <p:cNvPr id="2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76025CE-823F-411B-A2D7-19F73362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9F263B34-C4CF-4ABC-8D9B-C0D77F78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594305591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C9DB7840-E7F3-4851-ABDE-F885E0B80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0C2497B-2E16-4709-8B03-393A15D85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FINAL RECOMMENDATIONS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E4BCAD-9094-4480-9211-08CE3AB33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final page must be actionable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0B351630-E8E6-4A39-882F-A1D7423D8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 polished analysis is not enough. The output has to tell a human and the system what to do next.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DA760E6-FE52-4343-9F70-FAB5D2296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663392-9E71-49E0-9AB7-92BD89B46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Disposition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A55A78-A15B-414E-9A72-A3D46A006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ESCALATE, HOLD, NEED_OBJECTIVE_DATA, ROUTE_CLINICIAN, or narrow audited action.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F45004-B908-461B-AB4A-2BF9E997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319659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B8232E8-E35D-49CE-A2A0-ACC46FF9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Immediate action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0F5123-AE2D-4C25-B5E9-00C96D6D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What is allowed now, what is blocked, and what restores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8F8A9-078D-40B4-8D65-BD8A17E8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4899CD-8824-48B2-867B-4153508EF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Human factors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4FF87CD-142B-4827-A96C-2553CFAA4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Defense/disclosure cues become inference limits and next-question strategy, not patient labels.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7127EA-C08A-47BE-BD43-2A2FB1270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3075" y="4324350"/>
            <a:ext cx="8143875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0DA27F-8467-44EF-8067-3FB52FA68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Clinician handoff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8C5A873-1454-4D9D-8041-B0F59B941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Boundary map and top blockers instead of raw transcript only.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CB11AE16-0A67-456E-963F-BB848DECB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65AEAE08-D30D-4BB3-AC4D-E4EFEFE8E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670310892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9C4018C4-0B3C-42F1-B744-AC655B88C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D48E631-58AD-46E2-BFF5-450527C59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CREDIBILITY CHECK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6194603-C43F-40AC-ADCC-FE900D9B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Be precise about what is real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6377ECB4-6C5F-4487-BDF2-905A8F33A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This slide prevents the demo from sounding like vaporware or overclaiming.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655EEE-CF42-4C32-A2EC-502F1976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8756F"/>
                </a:solidFill>
              </a:defRPr>
            </a:pPr>
            <a:r>
              <a:rPr sz="2250" b="1">
                <a:solidFill>
                  <a:srgbClr val="08756F"/>
                </a:solidFill>
              </a:rPr>
              <a:t>Implemented now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A7D61B-E49A-4339-91C7-651ABE26D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004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Deterministic JRE, Black Swan Guard, live edit/paste, LLM extractor, final recommendations, tests.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BBA2A4-DFF5-40ED-BE4D-9BBCB1D90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771900"/>
            <a:ext cx="4191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2364AA"/>
                </a:solidFill>
              </a:defRPr>
            </a:pPr>
            <a:r>
              <a:rPr sz="2250" b="1">
                <a:solidFill>
                  <a:srgbClr val="2364AA"/>
                </a:solidFill>
              </a:rPr>
              <a:t>Prototype hooks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B6A4D1-4A6F-4CF5-A904-846B9B786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71900"/>
            <a:ext cx="1219200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In-memory learning, trace regions, VAMS-style near-miss recall, governed template promotion.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6CB5549-6992-466F-8D02-C1535E004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43400"/>
            <a:ext cx="4191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E2604D"/>
                </a:solidFill>
              </a:defRPr>
            </a:pPr>
            <a:r>
              <a:rPr sz="2250" b="1">
                <a:solidFill>
                  <a:srgbClr val="E2604D"/>
                </a:solidFill>
              </a:rPr>
              <a:t>Not claimed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7FB149-09D7-445C-A57B-F9DCF227B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343400"/>
            <a:ext cx="121920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102A43"/>
                </a:solidFill>
              </a:defRPr>
            </a:pPr>
            <a:r>
              <a:rPr sz="1950">
                <a:solidFill>
                  <a:srgbClr val="102A43"/>
                </a:solidFill>
              </a:rPr>
              <a:t>Production clinical validation, persistent memory, autonomous prescription approval, medical device readiness.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C68C01-85BD-4A78-9A80-8A7FECFD9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0"/>
            <a:ext cx="1641443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08756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2AD749-2193-44AB-9DF1-F7F69EE4D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8667750"/>
            <a:ext cx="12954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08756F"/>
                </a:solidFill>
              </a:defRPr>
            </a:pPr>
            <a:r>
              <a:rPr sz="1275" b="1">
                <a:solidFill>
                  <a:srgbClr val="08756F"/>
                </a:solidFill>
              </a:rPr>
              <a:t>330 tests passed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D93687-B917-4688-90B5-B0F37D143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9193" y="8572500"/>
            <a:ext cx="1878044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2364AA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9A55F02-AEF6-4DFE-AEE7-75CDFE3D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8667750"/>
            <a:ext cx="154305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2364AA"/>
                </a:solidFill>
              </a:defRPr>
            </a:pPr>
            <a:r>
              <a:rPr sz="1275" b="1">
                <a:solidFill>
                  <a:srgbClr val="2364AA"/>
                </a:solidFill>
              </a:rPr>
              <a:t>Live Fly deployment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ADA23-58D3-452F-A0C8-2D67D168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3937" y="8572500"/>
            <a:ext cx="2822162" cy="5715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725AC1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16EF8AF-F7D5-4A60-AE6F-817AFF9BE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8667750"/>
            <a:ext cx="2476500" cy="4000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725AC1"/>
                </a:solidFill>
              </a:defRPr>
            </a:pPr>
            <a:r>
              <a:rPr sz="1275" b="1">
                <a:solidFill>
                  <a:srgbClr val="725AC1"/>
                </a:solidFill>
              </a:rPr>
              <a:t>OpenRouter model configurable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9760B938-E88F-4905-87D4-AA5556CB7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E2A67BE-A5CD-4817-9318-34BFACB55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88001175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5BF617C2-592E-4973-B99F-2245602CD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F7EA5E6D-498D-4ED6-8D85-5AA41EC22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DEMO CHOICES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B2C65E0-79E0-4CC3-BEBF-17264E7D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Cases to run if the conversation shifts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0368150-7DB4-495A-A6D6-C41EBAAE2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one case at a time. Each one demonstrates a different boundary failure.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326204-7A7A-4FBD-9144-6E8E07A9A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2CC5B1-2F07-49DE-8CB8-8AEE4BE8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Cost fear minimizes alarm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7663DA-990C-4E8B-9D1C-DA09B77E7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asks the system to approve delay while describing exertional tightness.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81CF70-3046-4925-9571-92ECE57C1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19659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8A25C5-67F6-4F55-A908-5217EA020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7185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Embarrassment curbs history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B8B29-6FA8-452F-8D70-CF30B85DE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1475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walks back alarm details because of shame, internet fear, and chart anxiety.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F1B1A3-CBDC-4298-83CA-0BA6210E3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A8A460-6F26-4403-9015-372676488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Defense pattern distortion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D84990-A23D-4F7A-ACBA-372D040D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labels exertional pressure as anxiety while also trying to tough it out.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12BC088-D3AC-4BD2-A2DA-BF3EDB20E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324350"/>
            <a:ext cx="81534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85BAB8-85BE-487D-84A0-D36431D3C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495800"/>
            <a:ext cx="77343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Caregiver conflict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528894D-0C4B-4C1E-B683-3B27F81E5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4838700"/>
            <a:ext cx="7734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Patient says fine; caregiver reports confusion. Source conflict caps autonomy.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D43DF96-0A72-4952-871D-FADD1D1DA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BC838C5-D628-4E5E-990F-56C3D44A3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567690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27609272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F81E9A10-3D35-4DB1-9441-6D3D49CB9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CFD4BF7-119E-46D6-85C8-E186B269E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OPERATING LEVERAGE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9EBC452-BA2A-4021-BC2F-367A2AF2C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value is safer automation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8CDD761-9435-47CB-96E4-CD04929D8D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same boundary layer can reduce unsafe automation and avoidable human routing.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F5DFF-D69D-450F-B634-C77B316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E2604D"/>
                </a:solidFill>
              </a:defRPr>
            </a:pPr>
            <a:r>
              <a:rPr sz="5850" b="1">
                <a:solidFill>
                  <a:srgbClr val="E2604D"/>
                </a:solidFill>
              </a:rPr>
              <a:t>Safety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D326B83-D5BB-4D5C-A5EB-FB86067A4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52900"/>
            <a:ext cx="31623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Blocks action when assumptions fail.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DA5C2D2-BCC0-4946-8CF8-A319CFC3C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3A9D6B"/>
                </a:solidFill>
              </a:defRPr>
            </a:pPr>
            <a:r>
              <a:rPr sz="5850" b="1">
                <a:solidFill>
                  <a:srgbClr val="3A9D6B"/>
                </a:solidFill>
              </a:rPr>
              <a:t>Margin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E4D62D-9A13-47F6-99F0-A64AA5511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152900"/>
            <a:ext cx="37719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Closes fixable evidence gaps before routing.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92DF640-0559-4835-B855-C847C6B36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08756F"/>
                </a:solidFill>
              </a:defRPr>
            </a:pPr>
            <a:r>
              <a:rPr sz="5850" b="1">
                <a:solidFill>
                  <a:srgbClr val="08756F"/>
                </a:solidFill>
              </a:rPr>
              <a:t>Trust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A9CCB-2DE5-4C67-B256-BBDA31329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152900"/>
            <a:ext cx="367665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Explains uncertainty without dismissing the patient.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81438E-E29E-4FA5-AB0B-AFA5653B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3200400"/>
            <a:ext cx="3981450" cy="8953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5850" b="1">
                <a:solidFill>
                  <a:srgbClr val="2364AA"/>
                </a:solidFill>
              </a:defRPr>
            </a:pPr>
            <a:r>
              <a:rPr sz="5850" b="1">
                <a:solidFill>
                  <a:srgbClr val="2364AA"/>
                </a:solidFill>
              </a:rPr>
              <a:t>Review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D3B44C-9932-4843-B14F-7B1067A81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4152900"/>
            <a:ext cx="3581400" cy="457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2677A"/>
                </a:solidFill>
              </a:defRPr>
            </a:pPr>
            <a:r>
              <a:rPr sz="1500">
                <a:solidFill>
                  <a:srgbClr val="52677A"/>
                </a:solidFill>
              </a:rPr>
              <a:t>Hands clinicians a boundary map, not just transcript.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C020465-2F33-4A26-BCAF-02285B97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496300"/>
            <a:ext cx="13468350" cy="647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2100" b="1">
                <a:solidFill>
                  <a:srgbClr val="102A43"/>
                </a:solidFill>
              </a:defRPr>
            </a:pPr>
            <a:r>
              <a:rPr sz="2100" b="1">
                <a:solidFill>
                  <a:srgbClr val="102A43"/>
                </a:solidFill>
              </a:rPr>
              <a:t>Metric to track: percent of routed cases where one clarification changes disposition or prevents avoidable physician review.</a:t>
            </a:r>
          </a:p>
        </p:txBody>
      </p:sp>
      <p:sp>
        <p:nvSpPr>
          <p:cNvPr id="14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B729B2A-DD22-4C3F-AA5A-640C5F436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5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4BBB2BBC-E7FA-40CC-BE14-5E355A94B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54364279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0039FF8-3B7A-49CA-BC55-774EB4934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5AC8DD24-B80E-49A2-A4FF-9006DCCA5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YOUR STORY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5D0A45E-A260-4C05-ACD4-C2873E33D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What I bring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24432A89-43E3-4420-A931-AA6A387A9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The differentiator is cross-domain judgment, not just code output.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F438BC-ED1D-403C-88E6-C406E5E7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C6D479-CE08-487D-BEAF-1CF405299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Medicine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C74395-95B2-4A9B-8CF3-6BCF59542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Clinical risk, patient language, remote limits, physician workflow.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721062-63A1-4B24-8714-C1FC66E95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8966E26-134C-40FF-BD23-5F4A68C46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AI systems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DB9B1-5DFB-4B3E-8E68-E3361346E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LLM extraction, expert-system shells, ensemble governance, memory boundaries.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2808E54-E180-433F-8CFE-87F09A5627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319659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FCFFCE-0501-4D49-8C09-65648F8D5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3718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Operations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CCC522E-AFAC-4D17-A963-E475A22D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37147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Routing, churn, escalation rationale, clinician efficiency, auditability.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4C8F1-24C2-49F7-AC85-56E3A6097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41520"/>
            <a:ext cx="534670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A3E358-340D-444C-B1A2-0FAFBB3E8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Risk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34F1038-E899-414B-B252-581C9D47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48250"/>
            <a:ext cx="49339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Fail-closed thinking, provenance, governed promotion, no uncontrolled online learning.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D494C0-20A1-4A82-AA02-70737C5B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06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77CFC9-ED4A-4BEA-B3DF-DFA52DE2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Product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35C493-7056-4A45-91ED-C0166B02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Demoable UX that makes invisible safety reasoning visible.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08B9E1-6B20-49D5-9A93-73D296F15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60250" y="4541520"/>
            <a:ext cx="534670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FE578D-2C92-4270-A3B6-909809687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4705350"/>
            <a:ext cx="49339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D4941E"/>
                </a:solidFill>
              </a:defRPr>
            </a:pPr>
            <a:r>
              <a:rPr sz="1725" b="1">
                <a:solidFill>
                  <a:srgbClr val="D4941E"/>
                </a:solidFill>
              </a:rPr>
              <a:t>Execution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CD7959-973B-4D43-B743-B94326B13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63450" y="5048250"/>
            <a:ext cx="49339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Built, tested, pushed, deployed, and iterated from feedback.</a:t>
            </a:r>
          </a:p>
        </p:txBody>
      </p:sp>
      <p:sp>
        <p:nvSpPr>
          <p:cNvPr id="23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4E81E91-5AA2-401E-9962-199AD89A4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9626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24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ABC5E64E-B5B0-4F79-A0CF-B095A9036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150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324060484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388A11AF-4FBA-4D29-BE70-2538A2ECD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B1DC5D6F-16D5-48AB-8229-F86A45AA1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EXECUTIVE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292FB50-229E-4762-BBEE-C9DB43E61B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executive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701E9B13-A82E-4F01-8E08-163C9978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Answer directly, then point back to the live app.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1E7D88-E0DC-483C-930D-EFAA77B8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Are you saying we lack this?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51D4EE-5EF3-4609-8B83-3A096E928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I assume you have strong safeguards. This is how I think about the next boundary layer.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64DD34-0F8F-4045-8F1F-81D267850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How does it help the business?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BD1333-1B4F-4164-B9E5-3D41F7FD3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Safer automation, less avoidable review, clearer escalation rationale, lower abandonment.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50C74A-F565-4DA9-9999-4B891CF9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would you measure?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3E694A-4EDF-4850-9FAE-658A9864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Clinician confirmation, correction rate, avoidable routing, patient completion, evidence-gap closure.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5ED769-1343-4789-9EF4-46FD5575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Where would it fit?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53767F0-E521-40B8-B77C-78D9267E9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Before autonomous action, refill renewal, low-acuity closure, or physician handoff.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56ADC59-09AA-469A-9BDE-B0E2FB6E1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08756F"/>
                </a:solidFill>
              </a:defRPr>
            </a:pPr>
            <a:r>
              <a:rPr sz="1575" b="1">
                <a:solidFill>
                  <a:srgbClr val="08756F"/>
                </a:solidFill>
              </a:rPr>
              <a:t>What is production path?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C999D6-BD5D-4E23-93F2-B61647A253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Persistent memory, outcome labels, simulation suite, governance promotion, clinical review.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4F2FACE3-0875-4501-A20E-F362B1855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EB73339-75E4-4A3F-B1FB-0CADF1F96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9485332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B1CA6529-2072-42AB-9B36-930D5C0B8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04377308-90FD-48E8-BD24-EA304E8F9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DEV TEAM CONVERSATION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D802199-2B14-4FC2-B3BD-F65521969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Likely technical questions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A553F659-FA28-4C55-9E01-5AE2B0E40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Be crisp: deterministic core, advisory model, governed learning.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CA7695-5F37-489F-A972-C0889F373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2004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Is this rules or AI?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2D888C-DCF8-4D1E-B336-92A43F551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2004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Both. AI proposes candidates; deterministic systems validate, score, and cap action.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9AED1A-B7BC-4AE0-9D4F-D80E273D4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195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are nodes selected?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91E37A-F5E5-42C2-B2C6-C5E5D8770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36195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Domain templates now; next version lets AI propose case-specific graph nodes for governed validation.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2DDDF2F-104F-4869-BF66-2B9C6297C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5765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Can LLM override rules?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866ADE-DE2C-47FD-A4A6-9A0571123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05765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No. LLM-only findings are advisory and cannot authorize or hard-stop.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193A04-3306-4F16-8CB9-74C39BBEFF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4958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What about latency?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8D30ED-771A-41FA-AE74-2A069625C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4958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Core analysis is fast and deterministic. LLM runs async with timeout and retry.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EBE61F-44BC-4765-8EEB-996EBC86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914900"/>
            <a:ext cx="617220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75" b="1">
                <a:solidFill>
                  <a:srgbClr val="2364AA"/>
                </a:solidFill>
              </a:defRPr>
            </a:pPr>
            <a:r>
              <a:rPr sz="1575" b="1">
                <a:solidFill>
                  <a:srgbClr val="2364AA"/>
                </a:solidFill>
              </a:rPr>
              <a:t>How prevent memory drift?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A7595F-8BB7-470F-9AA6-6E69C666E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0900" y="4914900"/>
            <a:ext cx="10306050" cy="2476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102A43"/>
                </a:solidFill>
              </a:defRPr>
            </a:pPr>
            <a:r>
              <a:rPr sz="1500">
                <a:solidFill>
                  <a:srgbClr val="102A43"/>
                </a:solidFill>
              </a:rPr>
              <a:t>Memory proposes missing nodes/falsifiers only. Promotion requires review and simulation.</a:t>
            </a:r>
          </a:p>
        </p:txBody>
      </p:sp>
      <p:sp>
        <p:nvSpPr>
          <p:cNvPr id="15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84E4415-AF0D-43E3-9C84-2D2642CC9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6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3C4123BE-CC86-489C-BAEF-3AFB2B70D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504003896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78FBE7CF-144D-438E-90AC-43DB122CB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AC23FFB6-3662-469B-80DA-842ABD358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INTERVIEW DEFENSE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6FABA02-C9D1-46F7-AE08-A7BA9C219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How to handle hard objections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1B0294F3-D91C-42FC-BA4E-2B99606A9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Do not defend everything. Separate what is implemented from what is future architecture.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848915-5038-4AFF-8C2A-7AEDE1D4C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5244D4-7E01-42E6-8F39-08AEF820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This is too static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A5F741-34EA-4F8F-93DE-7E0501934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The demo is inspectable. The next version uses AI-proposed graphs with deterministic validation.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B3E8FB9-0CCC-4B30-A0C4-6CAF6B16F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19659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4949A4-19B3-46DE-BA45-FFDA58871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3718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3A9D6B"/>
                </a:solidFill>
              </a:defRPr>
            </a:pPr>
            <a:r>
              <a:rPr sz="1725" b="1">
                <a:solidFill>
                  <a:srgbClr val="3A9D6B"/>
                </a:solidFill>
              </a:rPr>
              <a:t>This may over-route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5D729-8FE5-4466-977F-AF8683F26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7147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 that calibration matters. Track false positives, avoided routing, clinician confirmation, and patient completion.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834136-7AA4-45E0-B0E8-3567D7EC1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579620"/>
            <a:ext cx="8134350" cy="111633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BD82D7-B5EE-4373-9B1D-5730C5CF4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E2604D"/>
                </a:solidFill>
              </a:defRPr>
            </a:pPr>
            <a:r>
              <a:rPr sz="1725" b="1">
                <a:solidFill>
                  <a:srgbClr val="E2604D"/>
                </a:solidFill>
              </a:rPr>
              <a:t>Memory is dangerous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EBDCDB-0753-42AF-BF64-498F3BC1C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86350"/>
            <a:ext cx="7715250" cy="4381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Agree. Memory cannot authorize action. It only suggests questions, falsifiers, and review targets.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8184D5-5880-4AB4-86D8-70FEC6B87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4579620"/>
            <a:ext cx="813435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B1B527-31C5-4F90-BEFC-0F06664B2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4743450"/>
            <a:ext cx="771525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We already have triage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CB6AF5-6337-4E8B-AB91-9CB0FFEAD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5086350"/>
            <a:ext cx="771525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Good. This layer governs what triage is allowed to infer and do under uncertainty.</a:t>
            </a:r>
          </a:p>
        </p:txBody>
      </p:sp>
      <p:sp>
        <p:nvSpPr>
          <p:cNvPr id="17" name="footer-left">
            <a:extLst xmlns:a="http://schemas.openxmlformats.org/drawingml/2006/main">
              <a:ext uri="{FF2B5EF4-FFF2-40B4-BE49-F238E27FC236}">
                <a16:creationId xmlns:a16="http://schemas.microsoft.com/office/drawing/2014/main" id="{2B715287-C38A-4564-AF89-ADE0B019B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00750"/>
            <a:ext cx="21336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ClinSafer interview demo | Apr 2026</a:t>
            </a:r>
          </a:p>
        </p:txBody>
      </p:sp>
      <p:sp>
        <p:nvSpPr>
          <p:cNvPr id="18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1922C7D2-E0B3-40B1-BC03-8CA6F312D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6153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466779401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slide-stage">
            <a:extLst xmlns:a="http://schemas.openxmlformats.org/drawingml/2006/main">
              <a:ext uri="{FF2B5EF4-FFF2-40B4-BE49-F238E27FC236}">
                <a16:creationId xmlns:a16="http://schemas.microsoft.com/office/drawing/2014/main" id="{17C97D96-0950-40B7-9AD5-D3BDC2155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6FBFA"/>
          </a:solidFill>
        </p:spPr>
      </p:sp>
      <p:sp>
        <p:nvSpPr>
          <p:cNvPr id="2" name="eyebrow">
            <a:extLst xmlns:a="http://schemas.openxmlformats.org/drawingml/2006/main">
              <a:ext uri="{FF2B5EF4-FFF2-40B4-BE49-F238E27FC236}">
                <a16:creationId xmlns:a16="http://schemas.microsoft.com/office/drawing/2014/main" id="{2F8467A5-0ED7-4E37-B637-A00638650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552450"/>
            <a:ext cx="16725900" cy="2095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350" b="1">
                <a:solidFill>
                  <a:srgbClr val="08756F"/>
                </a:solidFill>
              </a:defRPr>
            </a:pPr>
            <a:r>
              <a:rPr sz="1350" b="1">
                <a:solidFill>
                  <a:srgbClr val="08756F"/>
                </a:solidFill>
              </a:rPr>
              <a:t>CLOSE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5843E03C-6B2A-44DE-99E4-40FD1C0F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857250"/>
            <a:ext cx="16725900" cy="12573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900" b="1">
                <a:solidFill>
                  <a:srgbClr val="102A43"/>
                </a:solidFill>
              </a:defRPr>
            </a:pPr>
            <a:r>
              <a:rPr sz="3900" b="1">
                <a:solidFill>
                  <a:srgbClr val="102A43"/>
                </a:solidFill>
              </a:rPr>
              <a:t>The ask</a:t>
            </a:r>
          </a:p>
        </p:txBody>
      </p:sp>
      <p:sp>
        <p:nvSpPr>
          <p:cNvPr id="4" name="slide-subtitle">
            <a:extLst xmlns:a="http://schemas.openxmlformats.org/drawingml/2006/main">
              <a:ext uri="{FF2B5EF4-FFF2-40B4-BE49-F238E27FC236}">
                <a16:creationId xmlns:a16="http://schemas.microsoft.com/office/drawing/2014/main" id="{E14CC5B3-1750-4D0E-96FA-5898698B2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09800"/>
            <a:ext cx="16725900" cy="7048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52677A"/>
                </a:solidFill>
              </a:defRPr>
            </a:pPr>
            <a:r>
              <a:rPr sz="1800">
                <a:solidFill>
                  <a:srgbClr val="52677A"/>
                </a:solidFill>
              </a:rPr>
              <a:t>Use the demo to start a working conversation, not to claim finished production software.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680CDB-DC6E-413E-99B1-49B8E77D5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10100"/>
            <a:ext cx="6305550" cy="2286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02A43"/>
                </a:solidFill>
              </a:defRPr>
            </a:pPr>
            <a:r>
              <a:rPr sz="3750" b="1">
                <a:solidFill>
                  <a:srgbClr val="102A43"/>
                </a:solidFill>
              </a:rPr>
              <a:t>Where would this boundary layer plug into your highest-leverage workflow?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71333-4B2C-4763-B07C-DA7B61BB9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7105650"/>
            <a:ext cx="6400800" cy="609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950">
                <a:solidFill>
                  <a:srgbClr val="52677A"/>
                </a:solidFill>
              </a:defRPr>
            </a:pPr>
            <a:r>
              <a:rPr sz="1950">
                <a:solidFill>
                  <a:srgbClr val="52677A"/>
                </a:solidFill>
              </a:rPr>
              <a:t>Refills, low-acuity closure, physician handoff, or post-chat escalation persistence.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55A225B-2D40-4C2B-A127-94EE7AA18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460438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1619DE8-E603-4D6D-9E03-637B286BB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47815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8756F"/>
                </a:solidFill>
              </a:defRPr>
            </a:pPr>
            <a:r>
              <a:rPr sz="1725" b="1">
                <a:solidFill>
                  <a:srgbClr val="08756F"/>
                </a:solidFill>
              </a:rPr>
              <a:t>First 30 days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63B47C-00F2-4824-B99F-6B8EEE94E0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1244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Shadow-mode one workflow, map failure modes, define metrics, and run historical replay.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A03796-22D5-42CD-BDAF-E24D8F944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571309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53F657-43BB-4376-8DAF-03C0399EE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58864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2364AA"/>
                </a:solidFill>
              </a:defRPr>
            </a:pPr>
            <a:r>
              <a:rPr sz="1725" b="1">
                <a:solidFill>
                  <a:srgbClr val="2364AA"/>
                </a:solidFill>
              </a:rPr>
              <a:t>First 60 days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210712-5CEB-407E-BFF2-A3E87D680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2293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Integrate with one intake surface and clinician feedback loop.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6B6D24-3799-4CD4-B6E2-C202D5E13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2030" y="6821805"/>
            <a:ext cx="8884920" cy="89916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9E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315B27-BBCB-49B3-9E85-30290F46D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6991350"/>
            <a:ext cx="8458200" cy="2667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725AC1"/>
                </a:solidFill>
              </a:defRPr>
            </a:pPr>
            <a:r>
              <a:rPr sz="1725" b="1">
                <a:solidFill>
                  <a:srgbClr val="725AC1"/>
                </a:solidFill>
              </a:rPr>
              <a:t>First 90 days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59D4E65-AC57-4AB4-AF61-AA63EADC5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7334250"/>
            <a:ext cx="8458200" cy="228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425">
                <a:solidFill>
                  <a:srgbClr val="52677A"/>
                </a:solidFill>
              </a:defRPr>
            </a:pPr>
            <a:r>
              <a:rPr sz="1425">
                <a:solidFill>
                  <a:srgbClr val="52677A"/>
                </a:solidFill>
              </a:rPr>
              <a:t>Governed promotion process for new nodes, rules, and memory recalls.</a:t>
            </a:r>
          </a:p>
        </p:txBody>
      </p:sp>
      <p:sp>
        <p:nvSpPr>
          <p:cNvPr id="16" name="footer-left">
            <a:extLst xmlns:a="http://schemas.openxmlformats.org/drawingml/2006/main">
              <a:ext uri="{FF2B5EF4-FFF2-40B4-BE49-F238E27FC236}">
                <a16:creationId xmlns:a16="http://schemas.microsoft.com/office/drawing/2014/main" id="{D6D56CB5-EBA6-445E-92B5-A095BD3B4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9429750"/>
            <a:ext cx="5334000" cy="3048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>
                <a:solidFill>
                  <a:srgbClr val="52677A"/>
                </a:solidFill>
              </a:defRPr>
            </a:pPr>
            <a:r>
              <a:rPr sz="1050">
                <a:solidFill>
                  <a:srgbClr val="52677A"/>
                </a:solidFill>
              </a:rPr>
              <a:t>Deck sources: app verification, local tests, Fly deployment, and generated demo artifacts.</a:t>
            </a:r>
          </a:p>
        </p:txBody>
      </p:sp>
      <p:sp>
        <p:nvSpPr>
          <p:cNvPr id="17" name="footer-right">
            <a:extLst xmlns:a="http://schemas.openxmlformats.org/drawingml/2006/main">
              <a:ext uri="{FF2B5EF4-FFF2-40B4-BE49-F238E27FC236}">
                <a16:creationId xmlns:a16="http://schemas.microsoft.com/office/drawing/2014/main" id="{FD6A1172-4E7F-4415-98D9-A96544E5F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30450" y="9582150"/>
            <a:ext cx="2476500" cy="1524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/>
          <a:lstStyle xmlns:a="http://schemas.openxmlformats.org/drawingml/2006/main"/>
          <a:p xmlns:a="http://schemas.openxmlformats.org/drawingml/2006/main">
            <a:pPr>
              <a:defRPr sz="1050" b="1">
                <a:solidFill>
                  <a:srgbClr val="08756F"/>
                </a:solidFill>
              </a:defRPr>
            </a:pPr>
            <a:r>
              <a:rPr sz="1050" b="1">
                <a:solidFill>
                  <a:srgbClr val="08756F"/>
                </a:solidFill>
              </a:rPr>
              <a:t>clinsafer.fly.dev</a:t>
            </a:r>
          </a:p>
        </p:txBody>
      </p:sp>
    </p:spTree>
    <p:extLst>
      <p:ext uri="{BB962C8B-B14F-4D97-AF65-F5344CB8AC3E}">
        <p14:creationId xmlns:p14="http://schemas.microsoft.com/office/powerpoint/2010/main" val="112380041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2026-04-28T13:48:13.2970000Z</dcterms:created>
  <dcterms:modified xsi:type="dcterms:W3CDTF">2026-04-28T13:48:13.2970000Z</dcterms:modified>
</coreProperties>
</file>