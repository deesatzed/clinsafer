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e75909076d4e62" /><Relationship Type="http://schemas.openxmlformats.org/officeDocument/2006/relationships/extended-properties" Target="/docProps/app.xml" Id="R18f28f582ab74407" /><Relationship Type="http://schemas.openxmlformats.org/officeDocument/2006/relationships/officeDocument" Target="/ppt/presentation.xml" Id="R96a4c26eba7442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d97d30a3ed4cc0"/>
  </p:sldMasterIdLst>
  <p:notesMasterIdLst>
    <p:notesMasterId xmlns:r="http://schemas.openxmlformats.org/officeDocument/2006/relationships" r:id="R35bf4c5ab63644b4"/>
  </p:notesMasterIdLst>
  <p:sldIdLst>
    <p:sldId xmlns:r="http://schemas.openxmlformats.org/officeDocument/2006/relationships" id="256" r:id="Ref6e4cfb535f457b"/>
    <p:sldId xmlns:r="http://schemas.openxmlformats.org/officeDocument/2006/relationships" id="257" r:id="R9bf1d3d9e2df4b88"/>
    <p:sldId xmlns:r="http://schemas.openxmlformats.org/officeDocument/2006/relationships" id="258" r:id="R1adf3b9eaf394239"/>
    <p:sldId xmlns:r="http://schemas.openxmlformats.org/officeDocument/2006/relationships" id="259" r:id="Re637aa10a197443e"/>
    <p:sldId xmlns:r="http://schemas.openxmlformats.org/officeDocument/2006/relationships" id="260" r:id="Rd21238320b394c2a"/>
    <p:sldId xmlns:r="http://schemas.openxmlformats.org/officeDocument/2006/relationships" id="261" r:id="R3bde9a34b2df45ba"/>
    <p:sldId xmlns:r="http://schemas.openxmlformats.org/officeDocument/2006/relationships" id="262" r:id="R1c01fe9bb5014aa0"/>
    <p:sldId xmlns:r="http://schemas.openxmlformats.org/officeDocument/2006/relationships" id="263" r:id="R443ae1409e884c34"/>
    <p:sldId xmlns:r="http://schemas.openxmlformats.org/officeDocument/2006/relationships" id="264" r:id="R245464f5268c423d"/>
    <p:sldId xmlns:r="http://schemas.openxmlformats.org/officeDocument/2006/relationships" id="265" r:id="Rc952be149b1f4194"/>
    <p:sldId xmlns:r="http://schemas.openxmlformats.org/officeDocument/2006/relationships" id="266" r:id="R5c2c1b5b95b74dae"/>
    <p:sldId xmlns:r="http://schemas.openxmlformats.org/officeDocument/2006/relationships" id="267" r:id="R4b6fc09b61f24442"/>
    <p:sldId xmlns:r="http://schemas.openxmlformats.org/officeDocument/2006/relationships" id="268" r:id="R7741856b3e644461"/>
    <p:sldId xmlns:r="http://schemas.openxmlformats.org/officeDocument/2006/relationships" id="269" r:id="Rc7347aee88384b06"/>
    <p:sldId xmlns:r="http://schemas.openxmlformats.org/officeDocument/2006/relationships" id="270" r:id="R322de2fa38cc4dd4"/>
    <p:sldId xmlns:r="http://schemas.openxmlformats.org/officeDocument/2006/relationships" id="271" r:id="R09df7ac255f745e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97d30a3ed4cc0" /><Relationship Type="http://schemas.openxmlformats.org/officeDocument/2006/relationships/theme" Target="/ppt/theme/theme1.xml" Id="Re5f4ec22f1e143ef" /><Relationship Type="http://schemas.openxmlformats.org/officeDocument/2006/relationships/notesMaster" Target="/ppt/notesMasters/notesMaster1.xml" Id="R35bf4c5ab63644b4" /><Relationship Type="http://schemas.openxmlformats.org/officeDocument/2006/relationships/presProps" Target="/ppt/presProps.xml" Id="R0667bea72eec4de1" /><Relationship Type="http://schemas.openxmlformats.org/officeDocument/2006/relationships/viewProps" Target="/ppt/viewProps.xml" Id="R6d6f9e10b54943d3" /><Relationship Type="http://schemas.openxmlformats.org/officeDocument/2006/relationships/tableStyles" Target="/ppt/tableStyles.xml" Id="R4343558a12ea4452" /><Relationship Type="http://schemas.openxmlformats.org/officeDocument/2006/relationships/slide" Target="/ppt/slides/slide1.xml" Id="Ref6e4cfb535f457b" /><Relationship Type="http://schemas.openxmlformats.org/officeDocument/2006/relationships/slide" Target="/ppt/slides/slide2.xml" Id="R9bf1d3d9e2df4b88" /><Relationship Type="http://schemas.openxmlformats.org/officeDocument/2006/relationships/slide" Target="/ppt/slides/slide3.xml" Id="R1adf3b9eaf394239" /><Relationship Type="http://schemas.openxmlformats.org/officeDocument/2006/relationships/slide" Target="/ppt/slides/slide4.xml" Id="Re637aa10a197443e" /><Relationship Type="http://schemas.openxmlformats.org/officeDocument/2006/relationships/slide" Target="/ppt/slides/slide5.xml" Id="Rd21238320b394c2a" /><Relationship Type="http://schemas.openxmlformats.org/officeDocument/2006/relationships/slide" Target="/ppt/slides/slide6.xml" Id="R3bde9a34b2df45ba" /><Relationship Type="http://schemas.openxmlformats.org/officeDocument/2006/relationships/slide" Target="/ppt/slides/slide7.xml" Id="R1c01fe9bb5014aa0" /><Relationship Type="http://schemas.openxmlformats.org/officeDocument/2006/relationships/slide" Target="/ppt/slides/slide8.xml" Id="R443ae1409e884c34" /><Relationship Type="http://schemas.openxmlformats.org/officeDocument/2006/relationships/slide" Target="/ppt/slides/slide9.xml" Id="R245464f5268c423d" /><Relationship Type="http://schemas.openxmlformats.org/officeDocument/2006/relationships/slide" Target="/ppt/slides/slide10.xml" Id="Rc952be149b1f4194" /><Relationship Type="http://schemas.openxmlformats.org/officeDocument/2006/relationships/slide" Target="/ppt/slides/slide11.xml" Id="R5c2c1b5b95b74dae" /><Relationship Type="http://schemas.openxmlformats.org/officeDocument/2006/relationships/slide" Target="/ppt/slides/slide12.xml" Id="R4b6fc09b61f24442" /><Relationship Type="http://schemas.openxmlformats.org/officeDocument/2006/relationships/slide" Target="/ppt/slides/slide13.xml" Id="R7741856b3e644461" /><Relationship Type="http://schemas.openxmlformats.org/officeDocument/2006/relationships/slide" Target="/ppt/slides/slide14.xml" Id="Rc7347aee88384b06" /><Relationship Type="http://schemas.openxmlformats.org/officeDocument/2006/relationships/slide" Target="/ppt/slides/slide15.xml" Id="R322de2fa38cc4dd4" /><Relationship Type="http://schemas.openxmlformats.org/officeDocument/2006/relationships/slide" Target="/ppt/slides/slide16.xml" Id="R09df7ac255f745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cee34898bd4e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63c177a5014168" /><Relationship Type="http://schemas.openxmlformats.org/officeDocument/2006/relationships/notesMaster" Target="/ppt/notesMasters/notesMaster1.xml" Id="Rf4b645c5451247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512f0c54f84e5f" /><Relationship Type="http://schemas.openxmlformats.org/officeDocument/2006/relationships/notesMaster" Target="/ppt/notesMasters/notesMaster1.xml" Id="Raad418781917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d52ab55a04d2f" /><Relationship Type="http://schemas.openxmlformats.org/officeDocument/2006/relationships/notesMaster" Target="/ppt/notesMasters/notesMaster1.xml" Id="R8553f84e94db40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567d96e38a4202" /><Relationship Type="http://schemas.openxmlformats.org/officeDocument/2006/relationships/notesMaster" Target="/ppt/notesMasters/notesMaster1.xml" Id="Rb55cf809ae9742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cb61a9d91d4290" /><Relationship Type="http://schemas.openxmlformats.org/officeDocument/2006/relationships/notesMaster" Target="/ppt/notesMasters/notesMaster1.xml" Id="R2713bab6c75549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e9938e4034813" /><Relationship Type="http://schemas.openxmlformats.org/officeDocument/2006/relationships/notesMaster" Target="/ppt/notesMasters/notesMaster1.xml" Id="Rc2609cc3700c48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ef42f909094bff" /><Relationship Type="http://schemas.openxmlformats.org/officeDocument/2006/relationships/notesMaster" Target="/ppt/notesMasters/notesMaster1.xml" Id="R1bd835082ca848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064be951fb4bac" /><Relationship Type="http://schemas.openxmlformats.org/officeDocument/2006/relationships/notesMaster" Target="/ppt/notesMasters/notesMaster1.xml" Id="Rea62a0abcf734a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14fe4f76814488" /><Relationship Type="http://schemas.openxmlformats.org/officeDocument/2006/relationships/notesMaster" Target="/ppt/notesMasters/notesMaster1.xml" Id="Re7e6ffb1132c40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34bf3350c948b2" /><Relationship Type="http://schemas.openxmlformats.org/officeDocument/2006/relationships/notesMaster" Target="/ppt/notesMasters/notesMaster1.xml" Id="Re2a711f15e2e42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c61acc3dc94d21" /><Relationship Type="http://schemas.openxmlformats.org/officeDocument/2006/relationships/notesMaster" Target="/ppt/notesMasters/notesMaster1.xml" Id="R167c97cb006a45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96f681ac4a495c" /><Relationship Type="http://schemas.openxmlformats.org/officeDocument/2006/relationships/notesMaster" Target="/ppt/notesMasters/notesMaster1.xml" Id="R68981bc42db24c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0fb1980de848f3" /><Relationship Type="http://schemas.openxmlformats.org/officeDocument/2006/relationships/notesMaster" Target="/ppt/notesMasters/notesMaster1.xml" Id="R72c64e3c50e445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41b5a249414002" /><Relationship Type="http://schemas.openxmlformats.org/officeDocument/2006/relationships/notesMaster" Target="/ppt/notesMasters/notesMaster1.xml" Id="R35fda526557740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22efc38f6a45b9" /><Relationship Type="http://schemas.openxmlformats.org/officeDocument/2006/relationships/notesMaster" Target="/ppt/notesMasters/notesMaster1.xml" Id="R5287d51a7e524d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6dbf48d44d442e" /><Relationship Type="http://schemas.openxmlformats.org/officeDocument/2006/relationships/notesMaster" Target="/ppt/notesMasters/notesMaster1.xml" Id="R047630a63d2d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humility. Do not imply the team lacks safeguards.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</a:t>
            </a:r>
          </a:p>
          <a:p xmlns:a="http://schemas.openxmlformats.org/drawingml/2006/main">
            <a:r>
              <a:t>- "I am assuming your team already has strong AI doctor, triage, escalation, and telemedicine infrastructure."</a:t>
            </a:r>
          </a:p>
          <a:p xmlns:a="http://schemas.openxmlformats.org/drawingml/2006/main">
            <a:r>
              <a:t>- "This is a layer around that: what the AI is allowed to infer, what remains unknown, and when autonomy should be capped."</a:t>
            </a:r>
          </a:p>
          <a:p xmlns:a="http://schemas.openxmlformats.org/drawingml/2006/main">
            <a:r>
              <a:t>- "The point of the deck is to orient the demo; the live app is the proof."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Goal for this slide: position yourself as additive, not adversarial.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track:</a:t>
            </a:r>
          </a:p>
          <a:p xmlns:a="http://schemas.openxmlformats.org/drawingml/2006/main">
            <a:r>
              <a:t>- "At this scale, even a small autonomy-boundary issue matters operationally."</a:t>
            </a:r>
          </a:p>
          <a:p xmlns:a="http://schemas.openxmlformats.org/drawingml/2006/main">
            <a:r>
              <a:t>- "If a patient minimizes because of cost, shame, fear, misunderstanding, anxiety framing, or stoic denial, the AI conversation itself becomes part of the risk."</a:t>
            </a:r>
          </a:p>
          <a:p xmlns:a="http://schemas.openxmlformats.org/drawingml/2006/main">
            <a:r>
              <a:t>- "That is where I think this layer fits: not replacing internal reasoning, but governing its action boundary."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core framing.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"I am not trying to win a differential diagnosis contest."</a:t>
            </a:r>
          </a:p>
          <a:p xmlns:a="http://schemas.openxmlformats.org/drawingml/2006/main">
            <a:r>
              <a:t>- "The system should know what it knows, what it inferred, what it did not ask, and what it cannot know remotely."</a:t>
            </a:r>
          </a:p>
          <a:p xmlns:a="http://schemas.openxmlformats.org/drawingml/2006/main">
            <a:r>
              <a:t>- "That determines whether autonomy is appropriate."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good place to say "interpretation boundary" out 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path:</a:t>
            </a:r>
          </a:p>
          <a:p xmlns:a="http://schemas.openxmlformats.org/drawingml/2006/main">
            <a:r>
              <a:t>1. Open https://clinsafer.fly.dev</a:t>
            </a:r>
          </a:p>
          <a:p xmlns:a="http://schemas.openxmlformats.org/drawingml/2006/main">
            <a:r>
              <a:t>2. Use "Show Cost-Fear Case" first.</a:t>
            </a:r>
          </a:p>
          <a:p xmlns:a="http://schemas.openxmlformats.org/drawingml/2006/main">
            <a:r>
              <a:t>3. Optional: click Paste Transcript and import a short real encounter.</a:t>
            </a:r>
          </a:p>
          <a:p xmlns:a="http://schemas.openxmlformats.org/drawingml/2006/main">
            <a:r>
              <a:t>4. Analyze.</a:t>
            </a:r>
          </a:p>
          <a:p xmlns:a="http://schemas.openxmlformats.org/drawingml/2006/main">
            <a:r>
              <a:t>5. Stop on Statement vs Fact and Provenance &amp; Authority.</a:t>
            </a:r>
          </a:p>
          <a:p xmlns:a="http://schemas.openxmlformats.org/drawingml/2006/main">
            <a:r>
              <a:t>6. Open Final Recommendations.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he asks for a real encounter: paste it. The app now parses Q/A and speaker-labeled transcripts, leaves turns editable, and infers concepts if blank.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practical demo safety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"If you give me a small de-identified encounter fragment, I can paste it here."</a:t>
            </a:r>
          </a:p>
          <a:p xmlns:a="http://schemas.openxmlformats.org/drawingml/2006/main">
            <a:r>
              <a:t>- "The UI will show a live input parsed proof line so it is obvious that the encounter changed."</a:t>
            </a:r>
          </a:p>
          <a:p xmlns:a="http://schemas.openxmlformats.org/drawingml/2006/main">
            <a:r>
              <a:t>- "Concepts can be blank. The engine infers the likely slot from the question and answer."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Caution: ask for de-identified text only. Avoid PHI in an interview.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explanation:</a:t>
            </a:r>
          </a:p>
          <a:p xmlns:a="http://schemas.openxmlformats.org/drawingml/2006/main">
            <a:r>
              <a:t>- Patient statements become observations with source confidence and trap tags.</a:t>
            </a:r>
          </a:p>
          <a:p xmlns:a="http://schemas.openxmlformats.org/drawingml/2006/main">
            <a:r>
              <a:t>- JRE evaluates readiness: missingness, distortion, contradiction, red flags, objective needs, remote boundaries.</a:t>
            </a:r>
          </a:p>
          <a:p xmlns:a="http://schemas.openxmlformats.org/drawingml/2006/main">
            <a:r>
              <a:t>- Black Swan Guard checks assumptions: identity/proxy, communication channel, envelope fit, source integrity, sentinel risk.</a:t>
            </a:r>
          </a:p>
          <a:p xmlns:a="http://schemas.openxmlformats.org/drawingml/2006/main">
            <a:r>
              <a:t>- LLM findings are advisory candidate signals. They cannot authorize or hard-stop.</a:t>
            </a:r>
          </a:p>
          <a:p xmlns:a="http://schemas.openxmlformats.org/drawingml/2006/main">
            <a:r>
              <a:t>- The final state is the most restrictive of JRE and guardrail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Good phrase: "The LLM proposes. Governed software disposes."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anticipates the "LLMs are unsafe" objection.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"Every visible signal has provenance and authority."</a:t>
            </a:r>
          </a:p>
          <a:p xmlns:a="http://schemas.openxmlformats.org/drawingml/2006/main">
            <a:r>
              <a:t>- "The LLM is useful, but it is not allowed to make the final autonomy decision."</a:t>
            </a:r>
          </a:p>
          <a:p xmlns:a="http://schemas.openxmlformats.org/drawingml/2006/main">
            <a:r>
              <a:t>- "Memory is also bounded. It can suggest but not authorize."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they ask why this matters:</a:t>
            </a:r>
          </a:p>
          <a:p xmlns:a="http://schemas.openxmlformats.org/drawingml/2006/main">
            <a:r>
              <a:t>- "Without provenance, a clinician or regulator cannot tell whether a decision came from a validated rule, a model hunch, or a memory prior."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When you click Final Recommendations in the app, frame it as the conversion from analysis into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Emphasize:</a:t>
            </a:r>
          </a:p>
          <a:p xmlns:a="http://schemas.openxmlformats.org/drawingml/2006/main">
            <a:r>
              <a:t>- "This is not just explainability. It is operational instruction."</a:t>
            </a:r>
          </a:p>
          <a:p xmlns:a="http://schemas.openxmlformats.org/drawingml/2006/main">
            <a:r>
              <a:t>- "The page distinguishes patient language, human defense patterns, clinical handoff, governance actions, and quality metrics."</a:t>
            </a:r>
          </a:p>
          <a:p xmlns:a="http://schemas.openxmlformats.org/drawingml/2006/main">
            <a:r>
              <a:t>- "This helps with safety, physician efficiency, and patient trust."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overstate that the patient copy is final clinical guidance. Say it is a demo draft requiring product/clinical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if the technical audience is skeptical.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"The real piece is the governed analysis and live UI."</a:t>
            </a:r>
          </a:p>
          <a:p xmlns:a="http://schemas.openxmlformats.org/drawingml/2006/main">
            <a:r>
              <a:t>- "The memory layer is intentionally described as a prototype hook."</a:t>
            </a:r>
          </a:p>
          <a:p xmlns:a="http://schemas.openxmlformats.org/drawingml/2006/main">
            <a:r>
              <a:t>- "I would not deploy online memory without outcome governance and simulation."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honesty is a strength. It avoids sounding like you are selling magic.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first case: cost-fear minimizes alarm.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- It is subtle enough for a physician.</a:t>
            </a:r>
          </a:p>
          <a:p xmlns:a="http://schemas.openxmlformats.org/drawingml/2006/main">
            <a:r>
              <a:t>- It is business-relevant without sounding mercenary.</a:t>
            </a:r>
          </a:p>
          <a:p xmlns:a="http://schemas.openxmlformats.org/drawingml/2006/main">
            <a:r>
              <a:t>- It shows patient behavior shaping the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Second case if they ask about real-world subtlety: embarrassment curbs history.</a:t>
            </a:r>
          </a:p>
          <a:p xmlns:a="http://schemas.openxmlformats.org/drawingml/2006/main">
            <a:r>
              <a:t>- It shows shame, fear of a bad outcome, misconstrued medical facts, and chart anxiety distorting the history before the model reasons over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Third case if they ask what "human" means beyond embarrassment: defense pattern distortion.</a:t>
            </a:r>
          </a:p>
          <a:p xmlns:a="http://schemas.openxmlformats.org/drawingml/2006/main">
            <a:r>
              <a:t>- It bridges anxious somatic amplification/reassurance seeking and stoic minimization/denial without using stigmatizing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they care about prescriptions/refills, switch to the stale ACE/CKD/NSAID refill case.</a:t>
            </a:r>
          </a:p>
          <a:p xmlns:a="http://schemas.openxmlformats.org/drawingml/2006/main">
            <a:r>
              <a:t>If they care about caregiver workflows, use caregiver conflict.</a:t>
            </a:r>
          </a:p>
          <a:p xmlns:a="http://schemas.openxmlformats.org/drawingml/2006/main">
            <a:r>
              <a:t>If they care about documentation integrity, use unasked-is-not-denied.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connect medicine and business without making it sound like safety is secondary.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"The product win is safe automation."</a:t>
            </a:r>
          </a:p>
          <a:p xmlns:a="http://schemas.openxmlformats.org/drawingml/2006/main">
            <a:r>
              <a:t>- "Sometimes the right answer is route now. Sometimes the right answer is ask one better question and avoid unnecessary routing."</a:t>
            </a:r>
          </a:p>
          <a:p xmlns:a="http://schemas.openxmlformats.org/drawingml/2006/main">
            <a:r>
              <a:t>- "Both matter at scale."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challenged:</a:t>
            </a:r>
          </a:p>
          <a:p xmlns:a="http://schemas.openxmlformats.org/drawingml/2006/main">
            <a:r>
              <a:t>- "I would measure confirmation rate, false positive escalations, avoidable routing prevented, patient completion after escalation, and clinician correction rate."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brag slide. It is a bridge from demo to interview.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"What I wanted to show is how I think."</a:t>
            </a:r>
          </a:p>
          <a:p xmlns:a="http://schemas.openxmlformats.org/drawingml/2006/main">
            <a:r>
              <a:t>- "At healthcare AI scale, medicine, business, risk, and engineering are not separate problems."</a:t>
            </a:r>
          </a:p>
          <a:p xmlns:a="http://schemas.openxmlformats.org/drawingml/2006/main">
            <a:r>
              <a:t>- "I can work across those surfaces and still build working software."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it calm. Let the app be the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your mental checklist, not necessarily as something to present.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tone:</a:t>
            </a:r>
          </a:p>
          <a:p xmlns:a="http://schemas.openxmlformats.org/drawingml/2006/main">
            <a:r>
              <a:t>- Never say "you probably do not have this."</a:t>
            </a:r>
          </a:p>
          <a:p xmlns:a="http://schemas.openxmlformats.org/drawingml/2006/main">
            <a:r>
              <a:t>- Say "I do not know your internal safeguards, so I built the kind of layer I would look for at scale."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asked where you would start:</a:t>
            </a:r>
          </a:p>
          <a:p xmlns:a="http://schemas.openxmlformats.org/drawingml/2006/main">
            <a:r>
              <a:t>- "Pick one workflow with clear value and measurable risk, likely prescription renewal or low-acuity closure. Run shadow mode against historical cases first."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they ask for architecture details:</a:t>
            </a:r>
          </a:p>
          <a:p xmlns:a="http://schemas.openxmlformats.org/drawingml/2006/main">
            <a:r>
              <a:t>- Input schema: patient_context plus statements with question, answer, concept, source, metadata.</a:t>
            </a:r>
          </a:p>
          <a:p xmlns:a="http://schemas.openxmlformats.org/drawingml/2006/main">
            <a:r>
              <a:t>- Extraction: normalize, infer concept if blank, assign source confidence, apply trap priors.</a:t>
            </a:r>
          </a:p>
          <a:p xmlns:a="http://schemas.openxmlformats.org/drawingml/2006/main">
            <a:r>
              <a:t>- JRE: produces observations, findings, JRI, next questions.</a:t>
            </a:r>
          </a:p>
          <a:p xmlns:a="http://schemas.openxmlformats.org/drawingml/2006/main">
            <a:r>
              <a:t>- BSG: evaluates assumptions and max autonomy tier.</a:t>
            </a:r>
          </a:p>
          <a:p xmlns:a="http://schemas.openxmlformats.org/drawingml/2006/main">
            <a:r>
              <a:t>- Governor: most restrictive state wins.</a:t>
            </a:r>
          </a:p>
          <a:p xmlns:a="http://schemas.openxmlformats.org/drawingml/2006/main">
            <a:r>
              <a:t>- LLM: separate /demo/llm-analyze endpoint, async in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they ask about distributions:</a:t>
            </a:r>
          </a:p>
          <a:p xmlns:a="http://schemas.openxmlformats.org/drawingml/2006/main">
            <a:r>
              <a:t>- Current demo uses bounded deterministic confidence and severity, not full probabilistic distributions.</a:t>
            </a:r>
          </a:p>
          <a:p xmlns:a="http://schemas.openxmlformats.org/drawingml/2006/main">
            <a:r>
              <a:t>- Next version would have AI-proposed node ranges and distributions validated against governed templates and calibration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your anti-fragile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pattern:</a:t>
            </a:r>
          </a:p>
          <a:p xmlns:a="http://schemas.openxmlformats.org/drawingml/2006/main">
            <a:r>
              <a:t>1. Agree with the serious part of the objection.</a:t>
            </a:r>
          </a:p>
          <a:p xmlns:a="http://schemas.openxmlformats.org/drawingml/2006/main">
            <a:r>
              <a:t>2. Clarify the boundary.</a:t>
            </a:r>
          </a:p>
          <a:p xmlns:a="http://schemas.openxmlformats.org/drawingml/2006/main">
            <a:r>
              <a:t>3. Say how production would validate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Example:</a:t>
            </a:r>
          </a:p>
          <a:p xmlns:a="http://schemas.openxmlformats.org/drawingml/2006/main">
            <a:r>
              <a:t>- "Yes, a static rule system cannot cover all medicine. That is why I would not scale it by hand-writing templates. I would use AI to propose the expert-system graph, then validate and execute it with governed deterministic software."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collaborative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"I would love to understand where this kind of boundary layer would matter most inside your current system."</a:t>
            </a:r>
          </a:p>
          <a:p xmlns:a="http://schemas.openxmlformats.org/drawingml/2006/main">
            <a:r>
              <a:t>- "I am not asking you to accept this exact implementation. I am showing the way I think and what I can build."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 interview goes well, offer a specific next step:</a:t>
            </a:r>
          </a:p>
          <a:p xmlns:a="http://schemas.openxmlformats.org/drawingml/2006/main">
            <a:r>
              <a:t>- "Give me one de-identified failure mode or tricky workflow and I can show how I would map it into this boundary framework."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aaf512f41438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c911789fa9b4d7f" /><Relationship Type="http://schemas.openxmlformats.org/officeDocument/2006/relationships/slideLayout" Target="/ppt/slideLayouts/slideLayout2.xml" Id="Rdc53772473b4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3772473b4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92518d347e49b2" /><Relationship Type="http://schemas.openxmlformats.org/officeDocument/2006/relationships/notesSlide" Target="/ppt/notesSlides/notesSlide1.xml" Id="Rca195f22908941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12d5cca3bf49de" /><Relationship Type="http://schemas.openxmlformats.org/officeDocument/2006/relationships/notesSlide" Target="/ppt/notesSlides/notesSlide2.xml" Id="R3bf88d97becd41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c2bf092ec8400f" /><Relationship Type="http://schemas.openxmlformats.org/officeDocument/2006/relationships/notesSlide" Target="/ppt/notesSlides/notesSlide3.xml" Id="Rfdf5addbf2fa4e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a118219f804349" /><Relationship Type="http://schemas.openxmlformats.org/officeDocument/2006/relationships/notesSlide" Target="/ppt/notesSlides/notesSlide4.xml" Id="Rac46e8a98b1647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a8352c17b94f2e" /><Relationship Type="http://schemas.openxmlformats.org/officeDocument/2006/relationships/notesSlide" Target="/ppt/notesSlides/notesSlide5.xml" Id="R7e8d87c622e341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e57f38e064c2a" /><Relationship Type="http://schemas.openxmlformats.org/officeDocument/2006/relationships/notesSlide" Target="/ppt/notesSlides/notesSlide6.xml" Id="R9ae08683104342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be754fb97d4494" /><Relationship Type="http://schemas.openxmlformats.org/officeDocument/2006/relationships/notesSlide" Target="/ppt/notesSlides/notesSlide7.xml" Id="Rbb7a7578f86e4e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66336b8b24b94" /><Relationship Type="http://schemas.openxmlformats.org/officeDocument/2006/relationships/notesSlide" Target="/ppt/notesSlides/notesSlide8.xml" Id="R7253f3ad776843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b0b53b0e4a4f1d" /><Relationship Type="http://schemas.openxmlformats.org/officeDocument/2006/relationships/notesSlide" Target="/ppt/notesSlides/notesSlide9.xml" Id="R1bad319805dc42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31ced12854472" /><Relationship Type="http://schemas.openxmlformats.org/officeDocument/2006/relationships/notesSlide" Target="/ppt/notesSlides/notesSlide10.xml" Id="R540c69693afd4e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30259a9fd4c50" /><Relationship Type="http://schemas.openxmlformats.org/officeDocument/2006/relationships/notesSlide" Target="/ppt/notesSlides/notesSlide11.xml" Id="R147a303a42ff41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cdefcf33e4bbf" /><Relationship Type="http://schemas.openxmlformats.org/officeDocument/2006/relationships/notesSlide" Target="/ppt/notesSlides/notesSlide12.xml" Id="R139a7db77a3a42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b371056ddb43d8" /><Relationship Type="http://schemas.openxmlformats.org/officeDocument/2006/relationships/notesSlide" Target="/ppt/notesSlides/notesSlide13.xml" Id="Rbb2f20907c3c42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77bb000ee4635" /><Relationship Type="http://schemas.openxmlformats.org/officeDocument/2006/relationships/notesSlide" Target="/ppt/notesSlides/notesSlide14.xml" Id="R59eb7627c23c45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81760e87d84b7c" /><Relationship Type="http://schemas.openxmlformats.org/officeDocument/2006/relationships/notesSlide" Target="/ppt/notesSlides/notesSlide15.xml" Id="R73f99cef999a45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52a24eed3426d" /><Relationship Type="http://schemas.openxmlformats.org/officeDocument/2006/relationships/notesSlide" Target="/ppt/notesSlides/notesSlide16.xml" Id="R96cbe2d993da45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stage">
            <a:extLst xmlns:a="http://schemas.openxmlformats.org/drawingml/2006/main">
              <a:ext uri="{FF2B5EF4-FFF2-40B4-BE49-F238E27FC236}">
                <a16:creationId xmlns:a16="http://schemas.microsoft.com/office/drawing/2014/main" id="{18D17DD9-65B4-49EF-BDCE-2CEEE7B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B7496-DB5A-4872-882E-C83EF07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9582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56F"/>
                </a:solidFill>
              </a:defRPr>
            </a:pPr>
            <a:r>
              <a:rPr sz="2250" b="1">
                <a:solidFill>
                  <a:srgbClr val="08756F"/>
                </a:solidFill>
              </a:rPr>
              <a:t>ClinSafer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8012761-22CB-41C7-A3FF-68776B8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920115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02A43"/>
                </a:solidFill>
              </a:defRPr>
            </a:pPr>
            <a:r>
              <a:rPr sz="6900" b="1">
                <a:solidFill>
                  <a:srgbClr val="102A43"/>
                </a:solidFill>
              </a:rPr>
              <a:t>Autonomy boundaries for AI medicine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94A6C-D45E-4F5B-8347-56201DDF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293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4D"/>
          </a:solidFill>
          <a:ln xmlns:a="http://schemas.openxmlformats.org/drawingml/2006/main" w="0">
            <a:solidFill>
              <a:srgbClr val="E260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21C7B-91C7-4100-9962-42846DA9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0"/>
            <a:ext cx="8286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2677A"/>
                </a:solidFill>
              </a:defRPr>
            </a:pPr>
            <a:r>
              <a:rPr sz="2325">
                <a:solidFill>
                  <a:srgbClr val="52677A"/>
                </a:solidFill>
              </a:rPr>
              <a:t>A live interview demo for showing how messy patient language becomes governed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3A506-B797-4E51-83FD-39C5EB4D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19350"/>
            <a:ext cx="6400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8756F"/>
                </a:solidFill>
              </a:defRPr>
            </a:pPr>
            <a:r>
              <a:rPr sz="5850" b="1">
                <a:solidFill>
                  <a:srgbClr val="08756F"/>
                </a:solidFill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80C5D-EDE0-4256-AC69-45E78311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371850"/>
            <a:ext cx="2743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synthetic cases in the live 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4A78B-7401-48D3-AE81-7D6F6AAE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76700"/>
            <a:ext cx="6400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364AA"/>
                </a:solidFill>
              </a:defRPr>
            </a:pPr>
            <a:r>
              <a:rPr sz="5850" b="1">
                <a:solidFill>
                  <a:srgbClr val="2364AA"/>
                </a:solidFill>
              </a:rPr>
              <a:t>329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911E4-E681-4D61-894A-1DB74795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29200"/>
            <a:ext cx="2533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passing tests after final polish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5D874-9AAE-449A-940D-FE974C86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734050"/>
            <a:ext cx="6400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2604D"/>
                </a:solidFill>
              </a:defRPr>
            </a:pPr>
            <a:r>
              <a:rPr sz="5850" b="1">
                <a:solidFill>
                  <a:srgbClr val="E2604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9E4FF-40F4-4C86-B8BD-4FDD3B9E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67500"/>
            <a:ext cx="377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most-restrictive governor decides autonomy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B6ABB-7CBB-440F-85D1-332187C5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39250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A"/>
                </a:solidFill>
              </a:defRPr>
            </a:pPr>
            <a:r>
              <a:rPr sz="1350">
                <a:solidFill>
                  <a:srgbClr val="52677A"/>
                </a:solidFill>
              </a:rPr>
              <a:t>Prepared for an AI healthcare interview conversation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84FF4-DB68-4555-A064-FD8EBE7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46785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Live app: 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7632029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02D79C33-60E6-42C0-93DC-F79EF386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E359896-1D04-4BBD-8193-98107D44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WHY THIS AUDIENCE SHOULD CARE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2D3636-60EA-4A26-AEC7-8F957392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Healthcare AI scale changes the safety problem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27E895-8A18-4BD7-B8BE-362046F7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At consumer scale, the hard failures are often not obvious triage misses. They are inference, workflow, and autonomy-boundary failures.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ED067-4DE6-4BEA-A0C9-1209F2A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77914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</a:defRPr>
            </a:pPr>
            <a:r>
              <a:rPr sz="4050" b="1">
                <a:solidFill>
                  <a:srgbClr val="102A43"/>
                </a:solidFill>
              </a:rPr>
              <a:t>The product question is not just diagnosis.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22C9-CCB1-4854-B1F7-F0583340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10350"/>
            <a:ext cx="8229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2677A"/>
                </a:solidFill>
              </a:defRPr>
            </a:pPr>
            <a:r>
              <a:rPr sz="2400">
                <a:solidFill>
                  <a:srgbClr val="52677A"/>
                </a:solidFill>
              </a:rPr>
              <a:t>It is whether the system has enough reliable evidence to act, reassure, refill, route, or stop.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FDEA0-B59D-4129-B56C-DB15525C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924300"/>
            <a:ext cx="6877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8756F"/>
                </a:solidFill>
              </a:defRPr>
            </a:pPr>
            <a:r>
              <a:rPr sz="5850" b="1">
                <a:solidFill>
                  <a:srgbClr val="08756F"/>
                </a:solidFill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ED55A-3189-4FA0-A8C9-9B249750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76800"/>
            <a:ext cx="3086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high-volume patient-facing AI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FCAB7-6C22-40EC-8CCD-1BC21334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657850"/>
            <a:ext cx="6877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3A9D6B"/>
                </a:solidFill>
              </a:defRPr>
            </a:pPr>
            <a:r>
              <a:rPr sz="5850" b="1">
                <a:solidFill>
                  <a:srgbClr val="3A9D6B"/>
                </a:solidFill>
              </a:rPr>
              <a:t>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5F706-BAFD-41CE-922F-0E65327F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6103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low-friction clinician escalation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AFB62-6DBF-448E-88F8-C41EB78F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7162800"/>
            <a:ext cx="6877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725AC1"/>
                </a:solidFill>
              </a:defRPr>
            </a:pPr>
            <a:r>
              <a:rPr sz="5850" b="1">
                <a:solidFill>
                  <a:srgbClr val="725AC1"/>
                </a:solidFill>
              </a:rPr>
              <a:t>Autonomy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B0232-A472-47B5-9D58-82F73F4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8096250"/>
            <a:ext cx="2990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governed permission to act or stop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3F4A5E9-0885-45B6-9A3B-07EACBB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82150"/>
            <a:ext cx="441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Sources: live ClinSafer app, local test suite, and generated demo artifacts.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FCED534-B5EB-4912-90D9-8FECEA4C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831942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9AB5A9AE-E788-429D-ACB4-08485C3F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49DDAA9-2D06-48BF-A47D-77CBB9BE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ONE SENTENCE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F4B702-E913-44BA-8865-E92CB396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thesis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53A4C8-01E7-4432-B15D-5EF870BF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Messy language needs an autonomy governor, not just a smarter answer generator.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77CD3-835F-4D29-9044-67D1E39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53594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CB5F3-63E6-4813-A6FE-F72C376F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What was said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9E929-058F-4A94-AFBE-55EA4E3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Patient statements, denials, goals, barriers, source, freshness.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43B78-F2BC-4AD6-8A71-C0FAB56E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3196590"/>
            <a:ext cx="53594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630B7-486F-4B92-A7C9-CE48882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What can be inferred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53390-5983-4FBC-A305-066E65AC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Only bounded interpretations with confidence, provenance, and close-boundary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8A486-A572-4B88-B303-6166172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7550" y="3196590"/>
            <a:ext cx="53594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73524-A6AE-4C0E-88B2-74D78DB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What cannot be assumed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9B931-37AB-4A78-B96C-7983B144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Unasked symptoms, stale data, remote-unknowable findings, coercion, contradiction.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6689C-54ED-4951-9C52-0A6CB759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672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demo is about safe permission to act, not diagnosis prediction.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02BD2E8-560F-48E0-94C1-AACCC1F6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5714D32-951B-4C9E-8B28-65C94373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4483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4651595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5349F0D0-DD57-4D50-A71A-7D8E4738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16781D3-6A84-4C40-945B-51668A7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HOW TO RUN IT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6DA9DC-0ED8-4BB5-A086-FEA8058B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Seven-minute live demo path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42D8391-3225-431D-90D0-976D3DA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Keep the interview on the product idea. Do not wander through the whole case library.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6B1BD-14CE-4B4E-B4C8-CC4BD8E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56F"/>
                </a:solidFill>
              </a:defRPr>
            </a:pPr>
            <a:r>
              <a:rPr sz="5550" b="1">
                <a:solidFill>
                  <a:srgbClr val="08756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934B6-EA3F-4DE8-AA7E-609849FC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Pick or paste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2DC95-5F79-41A1-B701-5F8808B1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Use cost-fear case or real encounter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A75F7-C0E0-463C-BCF9-9664B025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2364AA"/>
                </a:solidFill>
              </a:defRPr>
            </a:pPr>
            <a:r>
              <a:rPr sz="5550" b="1">
                <a:solidFill>
                  <a:srgbClr val="2364AA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97C8E-A35B-4821-B9D3-6C5B9478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Analyze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5333B-6F8F-4C21-99FB-1795A4A3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JRE and Black Swan Guard run deterministically.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E6E2C-5171-4411-88CD-235149FD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725AC1"/>
                </a:solidFill>
              </a:defRPr>
            </a:pPr>
            <a:r>
              <a:rPr sz="5550" b="1">
                <a:solidFill>
                  <a:srgbClr val="725AC1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93337-59CE-44B3-89D1-ED13948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3679C-612E-456A-93BD-FA37E954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Statement vs Fact and Provenance show authority.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37F5E-5E7E-4C11-B531-6BCBD1AB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E2604D"/>
                </a:solidFill>
              </a:defRPr>
            </a:pPr>
            <a:r>
              <a:rPr sz="5550" b="1">
                <a:solidFill>
                  <a:srgbClr val="E2604D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D24DE-6E69-47EA-8398-39D07B76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51275-6314-49E1-B04C-4D323A39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Most restrictive governor caps autonomy.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FD441-A9E5-4B6B-A35A-7172D900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3A9D6B"/>
                </a:solidFill>
              </a:defRPr>
            </a:pPr>
            <a:r>
              <a:rPr sz="5550" b="1">
                <a:solidFill>
                  <a:srgbClr val="3A9D6B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0DF16-EEE0-4CAC-B56C-1030727F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Recommend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BFE32-9EBB-4C8A-80C3-F8861C1E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Final page gives action, handoff, and metrics.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7F5EC0C-7A74-47C8-9424-6F675B2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CC17668-854F-4933-98AF-B99BA877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6794305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3F97D45C-9BED-4ED0-8E28-AF099059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124265C-43E5-481F-BC0A-FE323EAE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LIVE INPUT PROOF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DE39F0-5DD4-4509-8A5F-C9CFCC50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If they ask for real dialogue, use paste import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634D89-C94D-4658-999B-FB47CC53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The demo is not locked to fixed cases. Pasted encounter text becomes editable, inferred, and analyzed.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3532A-A855-44D1-9009-B2FDE656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8937308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118A1-4436-431D-91AC-61C37F1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8439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2A43"/>
                </a:solidFill>
              </a:defRPr>
            </a:pPr>
            <a:r>
              <a:rPr sz="2025">
                <a:solidFill>
                  <a:srgbClr val="102A43"/>
                </a:solidFill>
              </a:rPr>
              <a:t>Clinician: Do you have chest pain?</a:t>
            </a:r>
          </a:p>
          <a:p xmlns:a="http://schemas.openxmlformats.org/drawingml/2006/main">
            <a:pPr>
              <a:defRPr sz="2025">
                <a:solidFill>
                  <a:srgbClr val="102A43"/>
                </a:solidFill>
              </a:defRPr>
            </a:pPr>
            <a:r>
              <a:rPr sz="2025">
                <a:solidFill>
                  <a:srgbClr val="102A43"/>
                </a:solidFill>
              </a:rPr>
              <a:t>Patient: No, just tight indigestion when I walk.</a:t>
            </a:r>
          </a:p>
          <a:p xmlns:a="http://schemas.openxmlformats.org/drawingml/2006/main">
            <a:pPr>
              <a:defRPr sz="2025">
                <a:solidFill>
                  <a:srgbClr val="102A43"/>
                </a:solidFill>
              </a:defRPr>
            </a:pPr>
            <a:r>
              <a:rPr sz="2025">
                <a:solidFill>
                  <a:srgbClr val="102A43"/>
                </a:solidFill>
              </a:rPr>
              <a:t>Clinician: Any shortness of breath?</a:t>
            </a:r>
          </a:p>
          <a:p xmlns:a="http://schemas.openxmlformats.org/drawingml/2006/main">
            <a:pPr>
              <a:defRPr sz="2025">
                <a:solidFill>
                  <a:srgbClr val="102A43"/>
                </a:solidFill>
              </a:defRPr>
            </a:pPr>
            <a:r>
              <a:rPr sz="2025">
                <a:solidFill>
                  <a:srgbClr val="102A43"/>
                </a:solidFill>
              </a:rPr>
              <a:t>Patient: Not really. I slow down so it does not get bad.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D5B38-0EA5-47CC-AEFC-D683150E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608" y="4585335"/>
            <a:ext cx="7312343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8788B-7321-40A4-BF81-B31EC884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62500"/>
            <a:ext cx="689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Parsed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A3960-8D9B-4ABC-8A42-2F643E79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1054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Q/A, clinician/patient labels, and alternating turns.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3D117-A84D-4BFE-9A8C-031F06DA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608" y="5713095"/>
            <a:ext cx="7312343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38FF6-EEE7-4BB5-9EE8-D45BCF4A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886450"/>
            <a:ext cx="689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Editable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65495-7E58-40E0-BCFE-AFF1F300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Question, answer, source, and concept can be changed before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65775-8F7B-4937-9741-C16D4B13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608" y="6840855"/>
            <a:ext cx="7312343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28DB3-D9B4-4643-B95C-D26B170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010400"/>
            <a:ext cx="689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Inferred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AB1B9-BD7C-4892-92E4-13B5C5ED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3533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Blank concept fields are inferred from question plus answer text.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1D9B27-1769-4BAE-97D6-0F00C1B1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876EA0C-8546-4787-AC8B-4A09F2E1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6850778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62C83DAC-CBC0-4AAF-9F4E-829BB2C8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325C214-2E89-4CD5-A846-EAB6852D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TECHNICAL BACKBONE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798096-0CAB-4AFB-B67C-BEA58EC8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method is ensemble governance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A19DE7-9FA6-4854-B0D4-D6C3367F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LLM candidates help find signals, but deterministic validators and guardrails decide autonomy.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EE1E7-D07E-40AF-9777-573D5423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9C1E-564D-4D2C-AC67-F303D228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7E6A7-95EA-4C35-BD8A-BA9DBFC8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Dialogue, source, patient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83EAA-01BA-4301-90DC-D506D46A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3DEF3-F842-46BF-957C-F109AFEE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F9898-D767-4CEC-B883-2C2C5870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Extractor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FC7C0-5DD7-43C6-8E84-58D7B8D5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Normalize observations and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4210A-B8BC-495F-AFE0-A0AB40DA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D4DD1-2EDE-4319-A686-6983C3E9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74677-E3AB-4B74-80F6-A61317CC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JRE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4DB5F-58C2-4B9F-9B41-778F810F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Missing, uncertain, distorted, contradictory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A7263-2F89-469C-9E28-A2E108F0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9D4F4-B479-44AC-9856-04CBA230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E0A44-B899-40F2-B0F9-F62E079C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BSG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D3CF8-503C-4E86-A092-4E125CE3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Operating envelope and autonomy cap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1F9EF-B65C-4D91-9070-65A56C62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5D2FB-47FE-42AB-9112-5BA81A3B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07100-5A8B-4DE4-B9E2-CC0B18C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4941E"/>
                </a:solidFill>
              </a:defRPr>
            </a:pPr>
            <a:r>
              <a:rPr sz="1725" b="1">
                <a:solidFill>
                  <a:srgbClr val="D4941E"/>
                </a:solidFill>
              </a:rPr>
              <a:t>Governor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E5FC1-7970-491C-95FF-0BBD9F8C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Most restrictive state wins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62D4C-C97F-4C2F-B508-11D3354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F5E02-7DC1-4BAD-B087-B6A1FB98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57E57-50BE-4D67-835D-508A8495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A9D6B"/>
                </a:solidFill>
              </a:defRPr>
            </a:pPr>
            <a:r>
              <a:rPr sz="1725" b="1">
                <a:solidFill>
                  <a:srgbClr val="3A9D6B"/>
                </a:solidFill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7E964-C07C-4636-B332-5A936679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Questions, handoff, recommendations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65C70-A222-4535-84DC-D0701C7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43950"/>
            <a:ext cx="1672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Autonomy is capped by authority, not by model confidence alone.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4889C5E-6324-46BE-BBF4-E11A180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3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DC04AFF-C58D-4E4D-AF50-85A943A1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684283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42957934-71CC-40A8-BB28-6B88AD5E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A7CCA93-FB46-4799-87A9-19F36AF8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WHAT TO POINT AT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87343D-D321-403F-9EC2-0DF7DD31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Provenance is the safety interface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2156CDC-BBB4-416B-AC45-46357F4C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The demo separates signal source from action authority.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8D27A-7099-4E34-95C0-0E716E7D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Curated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291A3-8A33-4C43-8BA7-F5707C5C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319659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5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4674C-B8BC-46D0-AD15-F7CF229E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Enforced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18FBB-BFB3-4144-A5EB-3F7C67D0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Can ask, route, block, or cap.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3A583-A00A-4359-B8EF-62A87B6D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LLM candidates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D12C1-A95A-4FEA-9D65-7BFF3FA5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369570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941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C9C8F-2B42-4D7B-A534-095100E7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941E"/>
                </a:solidFill>
              </a:defRPr>
            </a:pPr>
            <a:r>
              <a:rPr sz="1275" b="1">
                <a:solidFill>
                  <a:srgbClr val="D4941E"/>
                </a:solidFill>
              </a:rPr>
              <a:t>Advisory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410D2-5AB5-4FE6-AD84-D7126473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9570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Can suggest review targets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58F47-6A74-4274-811C-027004D3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Learned priors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53EB0-06FB-4B8B-B061-79565980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419481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64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907C3-9439-4089-8C1B-485206BB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862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64AA"/>
                </a:solidFill>
              </a:defRPr>
            </a:pPr>
            <a:r>
              <a:rPr sz="1275" b="1">
                <a:solidFill>
                  <a:srgbClr val="2364AA"/>
                </a:solidFill>
              </a:rPr>
              <a:t>Bounded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B45B3-D981-4957-BB78-6D9F94DA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9100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Tune confidence and question priority.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49311-5118-4304-B67B-B922408D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Memory hooks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E7EC1-D4F8-4D1B-B6F8-CFD8DC77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469392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5A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508C3-1E32-4224-8199-B1A4E99D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815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25AC1"/>
                </a:solidFill>
              </a:defRPr>
            </a:pPr>
            <a:r>
              <a:rPr sz="1275" b="1">
                <a:solidFill>
                  <a:srgbClr val="725AC1"/>
                </a:solidFill>
              </a:rPr>
              <a:t>Advisory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AF468-881D-475A-B399-DB247AA9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8630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Suggest missing nodes and falsifiers.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92AC9-FE12-4DAF-96D1-6E653A5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Ensemble governor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B8CB4-6FA6-4AD9-B161-7B9627C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519303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60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0FCD9-8353-402F-82A3-C7C8D389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2604D"/>
                </a:solidFill>
              </a:defRPr>
            </a:pPr>
            <a:r>
              <a:rPr sz="1275" b="1">
                <a:solidFill>
                  <a:srgbClr val="E2604D"/>
                </a:solidFill>
              </a:rPr>
              <a:t>Enforced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4539A-7B7B-4BEE-BED8-20798219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0065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Most restrictive final state wins.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C398A88-584E-4EA0-92A3-C9775D8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2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981731-F2F1-44EB-B79B-90B4DC8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4320480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FEEF9632-99FC-4608-AA8F-301603EE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C5E69A0-F918-4347-9AD7-608AB97A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FINAL RECOMMENDATIONS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062FAF-FC98-4A5A-9275-F4995115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final page must be actionable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48F949-D4E2-46C1-811E-25C35B07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A polished analysis is not enough. The output has to tell a human and the system what to do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08BC5-798B-4361-8343-A2505A25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8143875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D4CFE-78BC-41DF-B28B-6A720A60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Disposition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A8E33-D1EB-495E-9337-DC386800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ESCALATE, HOLD, NEED_OBJECTIVE_DATA, ROUTE_CLINICIAN, or narrow audited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59632-B3AD-4C8A-A0AA-DD97367E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96590"/>
            <a:ext cx="8143875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8E814-CC1E-4AD5-B29C-DD6922D7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718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Immediate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7483E-480F-4C20-B222-4C9CAFA9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What is allowed now, what is blocked, and what restores readiness.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845EF-1E83-43D1-A5B3-7A499165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8143875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1E08B-19AF-494A-B708-9FBAC93F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Human factors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44758-8C6C-4C0E-87A3-4BB3B79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Defense/disclosure cues become inference limits and next-question strategy, not patient labels.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06958-E18F-4935-BF98-2DD67054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324350"/>
            <a:ext cx="8143875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E26A7-E1F0-4097-8E0B-30E89791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958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Clinician handoff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A5795-1116-4D5F-B046-E838E208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3870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Boundary map and top blockers instead of raw transcript only.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96F7236-89E6-430C-B2D6-53423E31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96CBBAE-C5B0-4A66-B213-F10D5483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6769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9301671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AB26B5DD-4366-49D9-97DC-E82A2912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8D12A8D-64F9-496C-8530-C90A1493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CREDIBILITY CHECK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4DEDF7-E925-4210-A156-98226AB9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Be precise about what is real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21C511-D4B9-4CDA-9B6E-3195F0B4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This slide prevents the demo from sounding like vaporware or overclaiming.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3B7DF-6FF7-46E5-B176-20403012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56F"/>
                </a:solidFill>
              </a:defRPr>
            </a:pPr>
            <a:r>
              <a:rPr sz="2250" b="1">
                <a:solidFill>
                  <a:srgbClr val="08756F"/>
                </a:solidFill>
              </a:rPr>
              <a:t>Implemented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B77FB-4835-47C5-A2AC-157B494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0040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rPr sz="1950">
                <a:solidFill>
                  <a:srgbClr val="102A43"/>
                </a:solidFill>
              </a:rPr>
              <a:t>Deterministic JRE, Black Swan Guard, live edit/paste, LLM extractor, final recommendations,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3F034-3789-4DE6-A255-DEA617F0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64AA"/>
                </a:solidFill>
              </a:defRPr>
            </a:pPr>
            <a:r>
              <a:rPr sz="2250" b="1">
                <a:solidFill>
                  <a:srgbClr val="2364AA"/>
                </a:solidFill>
              </a:rPr>
              <a:t>Prototype hooks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9A3E4-78F4-4B1A-95BB-F77E2EA8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rPr sz="1950">
                <a:solidFill>
                  <a:srgbClr val="102A43"/>
                </a:solidFill>
              </a:rPr>
              <a:t>In-memory learning, trace regions, VAMS-style near-miss recall, governed template promotion.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0F2B7-A886-4990-AC55-D6D2661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191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2604D"/>
                </a:solidFill>
              </a:defRPr>
            </a:pPr>
            <a:r>
              <a:rPr sz="2250" b="1">
                <a:solidFill>
                  <a:srgbClr val="E2604D"/>
                </a:solidFill>
              </a:rPr>
              <a:t>Not claimed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988AF-35F2-426B-A120-20691235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43400"/>
            <a:ext cx="12192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rPr sz="1950">
                <a:solidFill>
                  <a:srgbClr val="102A43"/>
                </a:solidFill>
              </a:rPr>
              <a:t>Production clinical validation, persistent memory, autonomous prescription approval, medical device readiness.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EB487-23E0-4E7B-AEF9-A561095B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0"/>
            <a:ext cx="1641443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5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B4879-2BA0-4BDC-A202-E2A9FD54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67750"/>
            <a:ext cx="1295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329 tests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9B3C6-4E86-40FD-A59B-D91E22A2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193" y="8572500"/>
            <a:ext cx="1878044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64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7DCE2-3C2A-4279-AF63-7EC97348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667750"/>
            <a:ext cx="1543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64AA"/>
                </a:solidFill>
              </a:defRPr>
            </a:pPr>
            <a:r>
              <a:rPr sz="1275" b="1">
                <a:solidFill>
                  <a:srgbClr val="2364AA"/>
                </a:solidFill>
              </a:rPr>
              <a:t>Live Fly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9A0F6-54D7-437E-8671-1890C12E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37" y="8572500"/>
            <a:ext cx="2822162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5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00004-E988-49DB-9835-F662F097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6677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25AC1"/>
                </a:solidFill>
              </a:defRPr>
            </a:pPr>
            <a:r>
              <a:rPr sz="1275" b="1">
                <a:solidFill>
                  <a:srgbClr val="725AC1"/>
                </a:solidFill>
              </a:rPr>
              <a:t>OpenRouter model configurable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C20BF4D-6C6C-4F8D-B14C-CBFBB5E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3D49773-DD03-4E91-87DF-6EE280F1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5851805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8265ED1A-5739-48F3-A31B-3FE2F455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B324C7E-D2DC-4EB8-BA99-8E0423CD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DEMO CHOICES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7BB3E3-C3E7-4BFA-843C-1B181F48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Cases to run if the conversation shifts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A35C3B-9C84-49D4-BA32-D59C8A0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Use one case at a time. Each one demonstrates a different boundary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BF53B-11A3-43EA-ABBC-E849B51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81534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3936-90AC-4630-93C7-11736AEB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Cost fear minimizes alarm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FE018-B1E5-4405-85B5-B432CA69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Patient asks the system to approve delay while describing exertional tightness.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F45A3-7D32-454B-8A92-87039BAE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96590"/>
            <a:ext cx="81534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3F5A2-4658-4F58-86A7-48827D69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718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4941E"/>
                </a:solidFill>
              </a:defRPr>
            </a:pPr>
            <a:r>
              <a:rPr sz="1725" b="1">
                <a:solidFill>
                  <a:srgbClr val="D4941E"/>
                </a:solidFill>
              </a:rPr>
              <a:t>Embarrassment curbs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1FBC7-31E5-42CD-BB1C-A4C0EDB2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Patient walks back alarm details because of shame, internet fear, and chart anxiety.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68248-6C31-4D96-952D-2D87B9E8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81534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73780-2BCA-491F-AEF3-FE011128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A9D6B"/>
                </a:solidFill>
              </a:defRPr>
            </a:pPr>
            <a:r>
              <a:rPr sz="1725" b="1">
                <a:solidFill>
                  <a:srgbClr val="3A9D6B"/>
                </a:solidFill>
              </a:rPr>
              <a:t>Defense pattern distortion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0B655-949D-4EE2-A42F-F1FA39C6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Patient labels exertional pressure as anxiety while also trying to tough it out.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0831E-3FF6-4BCD-ABB9-9F2D222C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24350"/>
            <a:ext cx="81534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22B3D-3120-415E-9322-CEF89EBB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958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Caregiver conflict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21C4E-E8CC-4EE5-9618-94D6B301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3870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Patient says fine; caregiver reports confusion. Source conflict caps autonomy.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DD4391-9A79-4E9D-8F8F-BE3F0B6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DEF46EB-1416-4B41-975E-899B108C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6769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20984532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B5587C85-5327-45F8-8028-0388D27A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B6179FA-E349-46A2-A76D-D43A326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OPERATING LEVERAGE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FC668C-885E-4583-A05B-57725380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value is safer automation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F26A80-ACBF-4689-96AC-43EB9B77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The same boundary layer can reduce unsafe automation and avoidable human routing.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DA9B7-BB7B-4139-A29A-B74DD456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3981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2604D"/>
                </a:solidFill>
              </a:defRPr>
            </a:pPr>
            <a:r>
              <a:rPr sz="5850" b="1">
                <a:solidFill>
                  <a:srgbClr val="E2604D"/>
                </a:solidFill>
              </a:rPr>
              <a:t>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3CF09-35D8-4B1B-BB89-7350BCA1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Blocks action when assumptions fail.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10573-D64B-4116-81D4-A3CB714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00400"/>
            <a:ext cx="3981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3A9D6B"/>
                </a:solidFill>
              </a:defRPr>
            </a:pPr>
            <a:r>
              <a:rPr sz="5850" b="1">
                <a:solidFill>
                  <a:srgbClr val="3A9D6B"/>
                </a:solidFill>
              </a:rPr>
              <a:t>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C7EDD-9821-451D-8A38-AAA6E3A2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52900"/>
            <a:ext cx="377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Closes fixable evidence gaps before routing.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7F1C1-6AAC-473A-8E44-095F9B8F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3981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8756F"/>
                </a:solidFill>
              </a:defRPr>
            </a:pPr>
            <a:r>
              <a:rPr sz="5850" b="1">
                <a:solidFill>
                  <a:srgbClr val="08756F"/>
                </a:solidFill>
              </a:rPr>
              <a:t>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0171E-15EE-40A6-B852-7702F689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52900"/>
            <a:ext cx="3676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Explains uncertainty without dismissing the patient.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F60CF-DB3A-459F-BA03-408AE7A8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200400"/>
            <a:ext cx="3981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364AA"/>
                </a:solidFill>
              </a:defRPr>
            </a:pPr>
            <a:r>
              <a:rPr sz="5850" b="1">
                <a:solidFill>
                  <a:srgbClr val="2364AA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3D905-44AA-4B60-816B-5C6C72B5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152900"/>
            <a:ext cx="358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Hands clinicians a boundary map, not just transcript.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9C7C8-0F79-42FB-A1F7-C8A25FD6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96300"/>
            <a:ext cx="13468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Metric to track: percent of routed cases where one clarification changes disposition or prevents avoidable physician review.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C7AF5C-161A-4D7B-8C9D-A45D1B85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670BF55-A4AD-482E-9148-8FB73003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8032478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E8095F91-D6FC-4AB7-AF11-4D1A6544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4F87241-66B0-4877-81AD-42AE970E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YOUR STORY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4873C-5F64-4760-B913-A6A96888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What I bring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E945BB-1C32-409A-92CE-43C4B4FC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The differentiator is cross-domain judgment, not just code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30789-F993-491C-9D2D-5CE1E52D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53467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1EA51-2802-4275-B367-C1DEFA7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Medicine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7DC91-AD45-421E-9EC6-63C3C211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Clinical risk, patient language, remote limits, physician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ECFBA-70B2-4959-A8E7-6A79FC8C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3196590"/>
            <a:ext cx="53467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C34B2-046E-4CCE-9B79-0CC6E050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AI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12552-2942-46B5-BBD8-D6D62F25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LLM extraction, expert-system shells, ensemble governance, memory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773B3-E4F2-462D-ADB5-8FBDDDD9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250" y="3196590"/>
            <a:ext cx="53467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E8DA5-EE00-4699-9EDF-E36CD59B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A9D6B"/>
                </a:solidFill>
              </a:defRPr>
            </a:pPr>
            <a:r>
              <a:rPr sz="1725" b="1">
                <a:solidFill>
                  <a:srgbClr val="3A9D6B"/>
                </a:solidFill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CFCF0-6618-4259-9E9D-3751A8AB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Routing, churn, escalation rationale, clinician efficiency, auditability.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CAC00-0AA4-40D3-B0D2-45ED0579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1520"/>
            <a:ext cx="53467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16327-C442-4DF8-BB16-9E1270A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D2CE4-2156-42BF-ACB1-17261E56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Fail-closed thinking, provenance, governed promotion, no uncontrolled online learning.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F2ACE-6A0F-4D2B-AAD8-DCC6BD48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4541520"/>
            <a:ext cx="53467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E4F5C-D274-47A4-8C57-7B48F11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05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D5505-11E0-407A-A636-6E20B11E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48250"/>
            <a:ext cx="493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Demoable UX that makes invisible safety reasoning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4B560-EFD6-41DE-8E44-9889B04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250" y="4541520"/>
            <a:ext cx="53467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E3744-2FE2-4046-9B74-C811AC3D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705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4941E"/>
                </a:solidFill>
              </a:defRPr>
            </a:pPr>
            <a:r>
              <a:rPr sz="1725" b="1">
                <a:solidFill>
                  <a:srgbClr val="D4941E"/>
                </a:solidFill>
              </a:rPr>
              <a:t>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F780E-C2B1-4758-8D2E-5873C8EA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048250"/>
            <a:ext cx="493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Built, tested, pushed, deployed, and iterated from feedback.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6C7EBD-DD8E-461D-AB26-4A446B5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348CD3-1BCF-4F2A-BF48-2632F6FD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1150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5063728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98AA8AB2-19BB-41C4-A178-445F1B90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2807DD1-E7EF-4E20-AD3F-DD4C9480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EXECUTIVE CONVERSATION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97D38D-1B29-4CED-AE3E-3804E108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Likely executive questions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87B00F-C419-4A7C-B496-BE510A7A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Answer directly, then point back to the live 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A15D2-13FE-450E-B780-C0B29E9D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Are you saying we lack this?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C327B-3379-4BC6-AC68-D431E40F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No. I assume you have strong safeguards. This is how I think about the next boundary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57EF5-3C13-4E67-B5EB-C9285890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How does it help the business?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9AA1F-4422-40C5-A327-061A57B2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Safer automation, less avoidable review, clearer escalation rationale, lower abandonment.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5E478-0AF0-44C1-B6EE-DD97DED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What would you measure?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AA5E2-B3BE-4CCB-B1C5-F6A53750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5765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Clinician confirmation, correction rate, avoidable routing, patient completion, evidence-gap closure.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F2233-05CE-4F77-AB73-11A7AC40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Where would it fit?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8CDE7-07B5-433D-8757-B5519CB5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Before autonomous action, refill renewal, low-acuity closure, or physician handoff.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8AEB5-900D-45AD-A4C8-09BDC1C4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What is production path?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D6B19-FBFF-47C6-8E54-23633503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149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Persistent memory, outcome labels, simulation suite, governance promotion, clinical review.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4D64616-A173-4FB7-A4CE-F4A9CEF2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3B9BFE1-BFA8-4F37-89BC-D612AE52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1530481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C57F8EAF-4DA2-4266-8D0D-8B42EB67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1EFC40E-DF68-49C6-8165-3D3FE25E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DEV TEAM CONVERSATION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E15466-E0CF-4FD3-BED9-589EA3D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Likely technical questions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64207F-7F6A-42DF-9D1B-B3863CF7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Be crisp: deterministic core, advisory model, governed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FE2B9-9C0B-4312-8AF5-FDFFB845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Is this rules or AI?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B049B-49BE-44A6-A21C-D8076A36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Both. AI proposes candidates; deterministic systems validate, score, and cap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18BDD-DCD3-46DC-9F5D-9E7780D8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How are nodes selected?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D8FDF-EE11-4019-835C-666FD42B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Domain templates now; next version lets AI propose case-specific graph nodes for governed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4DF87-FC04-44BB-A7F4-FB9B76FD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Can LLM override rules?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D381B-9CC7-454C-B5F2-F8FA5160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5765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No. LLM-only findings are advisory and cannot authorize or hard-stop.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67D0A-8E1C-45D1-8983-F3639B0D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What about latency?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5BD7F-27A0-4B7A-B8DC-653CF6D4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Core analysis is fast and deterministic. LLM runs async with timeout and retry.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4DDBE-EFB8-4DC9-A8FD-B4F4FE98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How prevent memory drift?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35673-2A91-42E4-B77D-DE798E7D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149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Memory proposes missing nodes/falsifiers only. Promotion requires review and simulation.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9CC0C1B-7ADA-4E42-8194-6B5AC854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96CB121-DC58-4191-A554-BBCF813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2141957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D3A36964-BA17-4B9B-8A99-B95DA872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A479237-145A-4139-A032-96FA6917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INTERVIEW DEFENSE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734C72-CC72-452D-BA87-7AB09EE9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How to handle hard objections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C1F130-342B-4A72-BFB2-A0CE41D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Do not defend everything. Separate what is implemented from what is future architecture.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785A1-E073-4B94-AF7D-791143AD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813435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FE5BE-5EC6-4E50-BC5D-BB9F93B1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This is too 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42005-09E2-4960-9044-18EB8658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Agree. The demo is inspectable. The next version uses AI-proposed graphs with deterministic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9832F-1736-4A47-AD8C-326DD48D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96590"/>
            <a:ext cx="813435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58176-B8C3-4B59-A03B-9417768A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718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A9D6B"/>
                </a:solidFill>
              </a:defRPr>
            </a:pPr>
            <a:r>
              <a:rPr sz="1725" b="1">
                <a:solidFill>
                  <a:srgbClr val="3A9D6B"/>
                </a:solidFill>
              </a:rPr>
              <a:t>This may over-route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25D6C-44D8-42E7-8957-B32DE34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Agree that calibration matters. Track false positives, avoided routing, clinician confirmation, and patient completion.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3EF55-F454-4CA2-AE4C-EABEE30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9620"/>
            <a:ext cx="813435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82B61-DB3B-4DF8-9DAD-01BCF1C4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Memory is dangerous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CC668-F8D9-48B4-9868-16680295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Agree. Memory cannot authorize action. It only suggests questions, falsifiers, and review targets.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DFA59-9318-45A4-94B9-3586A94D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9620"/>
            <a:ext cx="813435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AD242-FEDC-4114-86C3-FF6B145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434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We already have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FF959-7B3A-411A-872D-CB26B616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86350"/>
            <a:ext cx="771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Good. This layer governs what triage is allowed to infer and do under uncertainty.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ABE6EC4-21B8-4F28-8B29-68DCB885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E26B2A4-7E1D-4D53-89F4-8F0BE9EB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153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7880627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ED21964A-DAEE-4CB1-9788-25FE37CC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BE89112-E508-4997-9A7D-B9EE4223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CLOSE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9E867B-B0A8-4671-8F6A-02B1A858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ask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242730-135C-48E1-951D-E1FE5537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Use the demo to start a working conversation, not to claim finished production software.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DA5F9-52BD-480E-A254-E30011EC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63055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A43"/>
                </a:solidFill>
              </a:defRPr>
            </a:pPr>
            <a:r>
              <a:rPr sz="3750" b="1">
                <a:solidFill>
                  <a:srgbClr val="102A43"/>
                </a:solidFill>
              </a:rPr>
              <a:t>Where would this boundary layer plug into your highest-leverage workflow?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AAC48-4F95-4D5D-A96B-2FCB5EDD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05650"/>
            <a:ext cx="6400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77A"/>
                </a:solidFill>
              </a:defRPr>
            </a:pPr>
            <a:r>
              <a:rPr sz="1950">
                <a:solidFill>
                  <a:srgbClr val="52677A"/>
                </a:solidFill>
              </a:rPr>
              <a:t>Refills, low-acuity closure, physician handoff, or post-chat escalation persistence.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A6934-D75D-4A41-8990-936DC55A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4604385"/>
            <a:ext cx="888492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C440C-0EA5-4D16-B336-AABCC2B7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81550"/>
            <a:ext cx="845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First 30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79F71-87E9-438D-97E4-F25EA331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24450"/>
            <a:ext cx="845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Shadow-mode one workflow, map failure modes, define metrics, and run historical replay.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DEA02-A80A-4FC4-BA99-5275F10F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5713095"/>
            <a:ext cx="888492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A8D69-50F3-4B61-88DC-BEA5AEF8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86450"/>
            <a:ext cx="845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First 60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A114A-7F86-4684-8CBA-F775786E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845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Integrate with one intake surface and clinician feedback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383DF-72B9-46FE-96B4-FD1EBA2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6821805"/>
            <a:ext cx="888492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708AB-1D58-4503-994C-07E74757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991350"/>
            <a:ext cx="845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First 90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623D9-4B36-4399-9E9C-8D7D7AC9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334250"/>
            <a:ext cx="845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Governed promotion process for new nodes, rules, and memory recalls.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821C1A-ED55-4BF6-AFFC-EFD86321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Deck sources: app verification, local tests, Fly deployment, and generated demo artifacts.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8354CCD-43F4-47CD-9192-F5DF84E5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571617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2026-04-28T13:32:28.7180000Z</dcterms:created>
  <dcterms:modified xsi:type="dcterms:W3CDTF">2026-04-28T13:32:28.7180000Z</dcterms:modified>
</coreProperties>
</file>