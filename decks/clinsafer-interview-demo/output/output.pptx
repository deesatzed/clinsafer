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ca3bcd71d5346a5" /><Relationship Type="http://schemas.openxmlformats.org/officeDocument/2006/relationships/extended-properties" Target="/docProps/app.xml" Id="R5c8fbb2f06d74408" /><Relationship Type="http://schemas.openxmlformats.org/officeDocument/2006/relationships/officeDocument" Target="/ppt/presentation.xml" Id="R3dee7f10121c469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18385633bc14784"/>
  </p:sldMasterIdLst>
  <p:notesMasterIdLst>
    <p:notesMasterId xmlns:r="http://schemas.openxmlformats.org/officeDocument/2006/relationships" r:id="R2549d655b3cd49ee"/>
  </p:notesMasterIdLst>
  <p:sldIdLst>
    <p:sldId xmlns:r="http://schemas.openxmlformats.org/officeDocument/2006/relationships" id="256" r:id="R1555f76c3b5c4918"/>
    <p:sldId xmlns:r="http://schemas.openxmlformats.org/officeDocument/2006/relationships" id="257" r:id="R0d1af8717aab4e20"/>
    <p:sldId xmlns:r="http://schemas.openxmlformats.org/officeDocument/2006/relationships" id="258" r:id="R63d5e802bea14a7e"/>
    <p:sldId xmlns:r="http://schemas.openxmlformats.org/officeDocument/2006/relationships" id="259" r:id="R5ec84fd323c34215"/>
    <p:sldId xmlns:r="http://schemas.openxmlformats.org/officeDocument/2006/relationships" id="260" r:id="Rdce1082aca3d4b28"/>
    <p:sldId xmlns:r="http://schemas.openxmlformats.org/officeDocument/2006/relationships" id="261" r:id="Rf11a8d6448384378"/>
    <p:sldId xmlns:r="http://schemas.openxmlformats.org/officeDocument/2006/relationships" id="262" r:id="R660c61ab61634a4b"/>
    <p:sldId xmlns:r="http://schemas.openxmlformats.org/officeDocument/2006/relationships" id="263" r:id="Rba709e84ff944dee"/>
    <p:sldId xmlns:r="http://schemas.openxmlformats.org/officeDocument/2006/relationships" id="264" r:id="R807c2a4d447f419e"/>
    <p:sldId xmlns:r="http://schemas.openxmlformats.org/officeDocument/2006/relationships" id="265" r:id="Rde728ea108e84814"/>
    <p:sldId xmlns:r="http://schemas.openxmlformats.org/officeDocument/2006/relationships" id="266" r:id="Rdf5b38cca1df4a07"/>
    <p:sldId xmlns:r="http://schemas.openxmlformats.org/officeDocument/2006/relationships" id="267" r:id="Rca14c6d3fcdb42fb"/>
    <p:sldId xmlns:r="http://schemas.openxmlformats.org/officeDocument/2006/relationships" id="268" r:id="Rcaec09ea4a304bc0"/>
    <p:sldId xmlns:r="http://schemas.openxmlformats.org/officeDocument/2006/relationships" id="269" r:id="R01bb436ec3d442eb"/>
    <p:sldId xmlns:r="http://schemas.openxmlformats.org/officeDocument/2006/relationships" id="270" r:id="Rfe6f4b9634ab419a"/>
    <p:sldId xmlns:r="http://schemas.openxmlformats.org/officeDocument/2006/relationships" id="271" r:id="Rf3423ab9a4da49bd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8385633bc14784" /><Relationship Type="http://schemas.openxmlformats.org/officeDocument/2006/relationships/theme" Target="/ppt/theme/theme1.xml" Id="R111b1bd3bc96410b" /><Relationship Type="http://schemas.openxmlformats.org/officeDocument/2006/relationships/notesMaster" Target="/ppt/notesMasters/notesMaster1.xml" Id="R2549d655b3cd49ee" /><Relationship Type="http://schemas.openxmlformats.org/officeDocument/2006/relationships/presProps" Target="/ppt/presProps.xml" Id="R7f794a9898334b73" /><Relationship Type="http://schemas.openxmlformats.org/officeDocument/2006/relationships/viewProps" Target="/ppt/viewProps.xml" Id="Rc2e9929017b84400" /><Relationship Type="http://schemas.openxmlformats.org/officeDocument/2006/relationships/tableStyles" Target="/ppt/tableStyles.xml" Id="R1b38236f94a04413" /><Relationship Type="http://schemas.openxmlformats.org/officeDocument/2006/relationships/slide" Target="/ppt/slides/slide1.xml" Id="R1555f76c3b5c4918" /><Relationship Type="http://schemas.openxmlformats.org/officeDocument/2006/relationships/slide" Target="/ppt/slides/slide2.xml" Id="R0d1af8717aab4e20" /><Relationship Type="http://schemas.openxmlformats.org/officeDocument/2006/relationships/slide" Target="/ppt/slides/slide3.xml" Id="R63d5e802bea14a7e" /><Relationship Type="http://schemas.openxmlformats.org/officeDocument/2006/relationships/slide" Target="/ppt/slides/slide4.xml" Id="R5ec84fd323c34215" /><Relationship Type="http://schemas.openxmlformats.org/officeDocument/2006/relationships/slide" Target="/ppt/slides/slide5.xml" Id="Rdce1082aca3d4b28" /><Relationship Type="http://schemas.openxmlformats.org/officeDocument/2006/relationships/slide" Target="/ppt/slides/slide6.xml" Id="Rf11a8d6448384378" /><Relationship Type="http://schemas.openxmlformats.org/officeDocument/2006/relationships/slide" Target="/ppt/slides/slide7.xml" Id="R660c61ab61634a4b" /><Relationship Type="http://schemas.openxmlformats.org/officeDocument/2006/relationships/slide" Target="/ppt/slides/slide8.xml" Id="Rba709e84ff944dee" /><Relationship Type="http://schemas.openxmlformats.org/officeDocument/2006/relationships/slide" Target="/ppt/slides/slide9.xml" Id="R807c2a4d447f419e" /><Relationship Type="http://schemas.openxmlformats.org/officeDocument/2006/relationships/slide" Target="/ppt/slides/slide10.xml" Id="Rde728ea108e84814" /><Relationship Type="http://schemas.openxmlformats.org/officeDocument/2006/relationships/slide" Target="/ppt/slides/slide11.xml" Id="Rdf5b38cca1df4a07" /><Relationship Type="http://schemas.openxmlformats.org/officeDocument/2006/relationships/slide" Target="/ppt/slides/slide12.xml" Id="Rca14c6d3fcdb42fb" /><Relationship Type="http://schemas.openxmlformats.org/officeDocument/2006/relationships/slide" Target="/ppt/slides/slide13.xml" Id="Rcaec09ea4a304bc0" /><Relationship Type="http://schemas.openxmlformats.org/officeDocument/2006/relationships/slide" Target="/ppt/slides/slide14.xml" Id="R01bb436ec3d442eb" /><Relationship Type="http://schemas.openxmlformats.org/officeDocument/2006/relationships/slide" Target="/ppt/slides/slide15.xml" Id="Rfe6f4b9634ab419a" /><Relationship Type="http://schemas.openxmlformats.org/officeDocument/2006/relationships/slide" Target="/ppt/slides/slide16.xml" Id="Rf3423ab9a4da49b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606fd6e769f4466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ec18d04f7f54235" /><Relationship Type="http://schemas.openxmlformats.org/officeDocument/2006/relationships/notesMaster" Target="/ppt/notesMasters/notesMaster1.xml" Id="Rcdc8692e510e47e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b9ca195a4504bda" /><Relationship Type="http://schemas.openxmlformats.org/officeDocument/2006/relationships/notesMaster" Target="/ppt/notesMasters/notesMaster1.xml" Id="Rb845af9833eb428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5e02f1e93ba4925" /><Relationship Type="http://schemas.openxmlformats.org/officeDocument/2006/relationships/notesMaster" Target="/ppt/notesMasters/notesMaster1.xml" Id="Rabc2704d5a724dc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c9bf1747b8d4f0b" /><Relationship Type="http://schemas.openxmlformats.org/officeDocument/2006/relationships/notesMaster" Target="/ppt/notesMasters/notesMaster1.xml" Id="R547598f97310458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5ab0562b81f4b10" /><Relationship Type="http://schemas.openxmlformats.org/officeDocument/2006/relationships/notesMaster" Target="/ppt/notesMasters/notesMaster1.xml" Id="R7ee786dda1b7412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ac37596c59c4c90" /><Relationship Type="http://schemas.openxmlformats.org/officeDocument/2006/relationships/notesMaster" Target="/ppt/notesMasters/notesMaster1.xml" Id="Re88764384876468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5669161c9c1428d" /><Relationship Type="http://schemas.openxmlformats.org/officeDocument/2006/relationships/notesMaster" Target="/ppt/notesMasters/notesMaster1.xml" Id="R1120b2730c1c480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188428b57e24f1b" /><Relationship Type="http://schemas.openxmlformats.org/officeDocument/2006/relationships/notesMaster" Target="/ppt/notesMasters/notesMaster1.xml" Id="R399e62d70e55459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724f22c26554794" /><Relationship Type="http://schemas.openxmlformats.org/officeDocument/2006/relationships/notesMaster" Target="/ppt/notesMasters/notesMaster1.xml" Id="R8c93417401f1410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8c7925d98154071" /><Relationship Type="http://schemas.openxmlformats.org/officeDocument/2006/relationships/notesMaster" Target="/ppt/notesMasters/notesMaster1.xml" Id="R373b58182a294e0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da88acdc6824bfd" /><Relationship Type="http://schemas.openxmlformats.org/officeDocument/2006/relationships/notesMaster" Target="/ppt/notesMasters/notesMaster1.xml" Id="R85c932521fe14f0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6d4c3327c0640e7" /><Relationship Type="http://schemas.openxmlformats.org/officeDocument/2006/relationships/notesMaster" Target="/ppt/notesMasters/notesMaster1.xml" Id="R9edd3c7bc4ca422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4b7d2802f5a4c7f" /><Relationship Type="http://schemas.openxmlformats.org/officeDocument/2006/relationships/notesMaster" Target="/ppt/notesMasters/notesMaster1.xml" Id="R8adf1e267356428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c5bade68e4643ac" /><Relationship Type="http://schemas.openxmlformats.org/officeDocument/2006/relationships/notesMaster" Target="/ppt/notesMasters/notesMaster1.xml" Id="R8b845f12f56347d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72088458fa64359" /><Relationship Type="http://schemas.openxmlformats.org/officeDocument/2006/relationships/notesMaster" Target="/ppt/notesMasters/notesMaster1.xml" Id="R4e80aaf49f794c3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f2c1bcd2d39473a" /><Relationship Type="http://schemas.openxmlformats.org/officeDocument/2006/relationships/notesMaster" Target="/ppt/notesMasters/notesMaster1.xml" Id="Ra3fec3f77cf5413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humility. Do not imply the team lacks safeguards.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Talk track:</a:t>
            </a:r>
          </a:p>
          <a:p xmlns:a="http://schemas.openxmlformats.org/drawingml/2006/main">
            <a:r>
              <a:t>- "I am assuming your team already has strong AI doctor, triage, escalation, and telemedicine infrastructure."</a:t>
            </a:r>
          </a:p>
          <a:p xmlns:a="http://schemas.openxmlformats.org/drawingml/2006/main">
            <a:r>
              <a:t>- "This is a layer around that: what the AI is allowed to infer, what remains unknown, and when autonomy should be capped."</a:t>
            </a:r>
          </a:p>
          <a:p xmlns:a="http://schemas.openxmlformats.org/drawingml/2006/main">
            <a:r>
              <a:t>- "The point of the deck is to orient the demo; the live app is the proof."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Goal for this slide: position yourself as additive, not adversarial.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Talk track:</a:t>
            </a:r>
          </a:p>
          <a:p xmlns:a="http://schemas.openxmlformats.org/drawingml/2006/main">
            <a:r>
              <a:t>- "At this scale, even a small autonomy-boundary issue matters operationally."</a:t>
            </a:r>
          </a:p>
          <a:p xmlns:a="http://schemas.openxmlformats.org/drawingml/2006/main">
            <a:r>
              <a:t>- "If a patient minimizes because of cost, shame, stigma, fear, or misunderstanding, the AI conversation itself becomes part of the risk."</a:t>
            </a:r>
          </a:p>
          <a:p xmlns:a="http://schemas.openxmlformats.org/drawingml/2006/main">
            <a:r>
              <a:t>- "That is where I think this layer fits: not replacing internal reasoning, but governing its action boundary."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is the core framing.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"I am not trying to win a differential diagnosis contest."</a:t>
            </a:r>
          </a:p>
          <a:p xmlns:a="http://schemas.openxmlformats.org/drawingml/2006/main">
            <a:r>
              <a:t>- "The system should know what it knows, what it inferred, what it did not ask, and what it cannot know remotely."</a:t>
            </a:r>
          </a:p>
          <a:p xmlns:a="http://schemas.openxmlformats.org/drawingml/2006/main">
            <a:r>
              <a:t>- "That determines whether autonomy is appropriate."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is a good place to say "interpretation boundary" out loud.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path:</a:t>
            </a:r>
          </a:p>
          <a:p xmlns:a="http://schemas.openxmlformats.org/drawingml/2006/main">
            <a:r>
              <a:t>1. Open https://clinsafer.fly.dev</a:t>
            </a:r>
          </a:p>
          <a:p xmlns:a="http://schemas.openxmlformats.org/drawingml/2006/main">
            <a:r>
              <a:t>2. Use "Show Cost-Fear Case" first.</a:t>
            </a:r>
          </a:p>
          <a:p xmlns:a="http://schemas.openxmlformats.org/drawingml/2006/main">
            <a:r>
              <a:t>3. Optional: click Paste Transcript and import a short real encounter.</a:t>
            </a:r>
          </a:p>
          <a:p xmlns:a="http://schemas.openxmlformats.org/drawingml/2006/main">
            <a:r>
              <a:t>4. Analyze.</a:t>
            </a:r>
          </a:p>
          <a:p xmlns:a="http://schemas.openxmlformats.org/drawingml/2006/main">
            <a:r>
              <a:t>5. Stop on Statement vs Fact and Provenance &amp; Authority.</a:t>
            </a:r>
          </a:p>
          <a:p xmlns:a="http://schemas.openxmlformats.org/drawingml/2006/main">
            <a:r>
              <a:t>6. Open Final Recommendations.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he asks for a real encounter: paste it. The app now parses Q/A and speaker-labeled transcripts, leaves turns editable, and infers concepts if blank.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 practical demo safety feature.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"If you give me a small de-identified encounter fragment, I can paste it here."</a:t>
            </a:r>
          </a:p>
          <a:p xmlns:a="http://schemas.openxmlformats.org/drawingml/2006/main">
            <a:r>
              <a:t>- "The UI will show a live input parsed proof line so it is obvious that the encounter changed."</a:t>
            </a:r>
          </a:p>
          <a:p xmlns:a="http://schemas.openxmlformats.org/drawingml/2006/main">
            <a:r>
              <a:t>- "Concepts can be blank. The engine infers the likely slot from the question and answer."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Caution: ask for de-identified text only. Avoid PHI in an interview.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Technical explanation:</a:t>
            </a:r>
          </a:p>
          <a:p xmlns:a="http://schemas.openxmlformats.org/drawingml/2006/main">
            <a:r>
              <a:t>- Patient statements become observations with source confidence and trap tags.</a:t>
            </a:r>
          </a:p>
          <a:p xmlns:a="http://schemas.openxmlformats.org/drawingml/2006/main">
            <a:r>
              <a:t>- JRE evaluates readiness: missingness, distortion, contradiction, red flags, objective needs, remote boundaries.</a:t>
            </a:r>
          </a:p>
          <a:p xmlns:a="http://schemas.openxmlformats.org/drawingml/2006/main">
            <a:r>
              <a:t>- Black Swan Guard checks assumptions: identity/proxy, communication channel, envelope fit, source integrity, sentinel risk.</a:t>
            </a:r>
          </a:p>
          <a:p xmlns:a="http://schemas.openxmlformats.org/drawingml/2006/main">
            <a:r>
              <a:t>- LLM findings are advisory candidate signals. They cannot authorize or hard-stop.</a:t>
            </a:r>
          </a:p>
          <a:p xmlns:a="http://schemas.openxmlformats.org/drawingml/2006/main">
            <a:r>
              <a:t>- The final state is the most restrictive of JRE and guardrail state.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Good phrase: "The LLM proposes. Governed software disposes."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anticipates the "LLMs are unsafe" objection.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"Every visible signal has provenance and authority."</a:t>
            </a:r>
          </a:p>
          <a:p xmlns:a="http://schemas.openxmlformats.org/drawingml/2006/main">
            <a:r>
              <a:t>- "The LLM is useful, but it is not allowed to make the final autonomy decision."</a:t>
            </a:r>
          </a:p>
          <a:p xmlns:a="http://schemas.openxmlformats.org/drawingml/2006/main">
            <a:r>
              <a:t>- "Memory is also bounded. It can suggest but not authorize."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they ask why this matters:</a:t>
            </a:r>
          </a:p>
          <a:p xmlns:a="http://schemas.openxmlformats.org/drawingml/2006/main">
            <a:r>
              <a:t>- "Without provenance, a clinician or regulator cannot tell whether a decision came from a validated rule, a model hunch, or a memory prior."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When you click Final Recommendations in the app, frame it as the conversion from analysis into action.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Emphasize:</a:t>
            </a:r>
          </a:p>
          <a:p xmlns:a="http://schemas.openxmlformats.org/drawingml/2006/main">
            <a:r>
              <a:t>- "This is not just explainability. It is operational instruction."</a:t>
            </a:r>
          </a:p>
          <a:p xmlns:a="http://schemas.openxmlformats.org/drawingml/2006/main">
            <a:r>
              <a:t>- "The page distinguishes patient language, clinical handoff, governance actions, and quality metrics."</a:t>
            </a:r>
          </a:p>
          <a:p xmlns:a="http://schemas.openxmlformats.org/drawingml/2006/main">
            <a:r>
              <a:t>- "This helps with safety, physician efficiency, and patient trust."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Do not overstate that the patient copy is final clinical guidance. Say it is a demo draft requiring product/clinical review.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if the technical audience is skeptical.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"The real piece is the governed analysis and live UI."</a:t>
            </a:r>
          </a:p>
          <a:p xmlns:a="http://schemas.openxmlformats.org/drawingml/2006/main">
            <a:r>
              <a:t>- "The memory layer is intentionally described as a prototype hook."</a:t>
            </a:r>
          </a:p>
          <a:p xmlns:a="http://schemas.openxmlformats.org/drawingml/2006/main">
            <a:r>
              <a:t>- "I would not deploy online memory without outcome governance and simulation."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honesty is a strength. It avoids sounding like you are selling magic.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Preferred first case: cost-fear minimizes alarm.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Why:</a:t>
            </a:r>
          </a:p>
          <a:p xmlns:a="http://schemas.openxmlformats.org/drawingml/2006/main">
            <a:r>
              <a:t>- It is subtle enough for a physician.</a:t>
            </a:r>
          </a:p>
          <a:p xmlns:a="http://schemas.openxmlformats.org/drawingml/2006/main">
            <a:r>
              <a:t>- It is business-relevant without sounding mercenary.</a:t>
            </a:r>
          </a:p>
          <a:p xmlns:a="http://schemas.openxmlformats.org/drawingml/2006/main">
            <a:r>
              <a:t>- It shows patient behavior shaping the conversation.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Second case if they ask about real-world subtlety: embarrassment curbs history.</a:t>
            </a:r>
          </a:p>
          <a:p xmlns:a="http://schemas.openxmlformats.org/drawingml/2006/main">
            <a:r>
              <a:t>- It shows shame, fear of a bad outcome, misconstrued medical facts, and chart anxiety distorting the history before the model reasons over 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they care about prescriptions/refills, switch to the stale ACE/CKD/NSAID refill case.</a:t>
            </a:r>
          </a:p>
          <a:p xmlns:a="http://schemas.openxmlformats.org/drawingml/2006/main">
            <a:r>
              <a:t>If they care about caregiver workflows, use caregiver conflict.</a:t>
            </a:r>
          </a:p>
          <a:p xmlns:a="http://schemas.openxmlformats.org/drawingml/2006/main">
            <a:r>
              <a:t>If they care about documentation integrity, use unasked-is-not-denied.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where you connect medicine and business without making it sound like safety is secondary.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"The product win is safe automation."</a:t>
            </a:r>
          </a:p>
          <a:p xmlns:a="http://schemas.openxmlformats.org/drawingml/2006/main">
            <a:r>
              <a:t>- "Sometimes the right answer is route now. Sometimes the right answer is ask one better question and avoid unnecessary routing."</a:t>
            </a:r>
          </a:p>
          <a:p xmlns:a="http://schemas.openxmlformats.org/drawingml/2006/main">
            <a:r>
              <a:t>- "Both matter at scale."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challenged:</a:t>
            </a:r>
          </a:p>
          <a:p xmlns:a="http://schemas.openxmlformats.org/drawingml/2006/main">
            <a:r>
              <a:t>- "I would measure confirmation rate, false positive escalations, avoidable routing prevented, patient completion after escalation, and clinician correction rate."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not a brag slide. It is a bridge from demo to interview.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"What I wanted to show is how I think."</a:t>
            </a:r>
          </a:p>
          <a:p xmlns:a="http://schemas.openxmlformats.org/drawingml/2006/main">
            <a:r>
              <a:t>- "At healthcare AI scale, medicine, business, risk, and engineering are not separate problems."</a:t>
            </a:r>
          </a:p>
          <a:p xmlns:a="http://schemas.openxmlformats.org/drawingml/2006/main">
            <a:r>
              <a:t>- "I can work across those surfaces and still build working software."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Keep it calm. Let the app be the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as your mental checklist, not necessarily as something to present.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Important tone:</a:t>
            </a:r>
          </a:p>
          <a:p xmlns:a="http://schemas.openxmlformats.org/drawingml/2006/main">
            <a:r>
              <a:t>- Never say "you probably do not have this."</a:t>
            </a:r>
          </a:p>
          <a:p xmlns:a="http://schemas.openxmlformats.org/drawingml/2006/main">
            <a:r>
              <a:t>- Say "I do not know your internal safeguards, so I built the kind of layer I would look for at scale."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asked where you would start:</a:t>
            </a:r>
          </a:p>
          <a:p xmlns:a="http://schemas.openxmlformats.org/drawingml/2006/main">
            <a:r>
              <a:t>- "Pick one workflow with clear value and measurable risk, likely prescription renewal or low-acuity closure. Run shadow mode against historical cases first."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If they ask for architecture details:</a:t>
            </a:r>
          </a:p>
          <a:p xmlns:a="http://schemas.openxmlformats.org/drawingml/2006/main">
            <a:r>
              <a:t>- Input schema: patient_context plus statements with question, answer, concept, source, metadata.</a:t>
            </a:r>
          </a:p>
          <a:p xmlns:a="http://schemas.openxmlformats.org/drawingml/2006/main">
            <a:r>
              <a:t>- Extraction: normalize, infer concept if blank, assign source confidence, apply trap priors.</a:t>
            </a:r>
          </a:p>
          <a:p xmlns:a="http://schemas.openxmlformats.org/drawingml/2006/main">
            <a:r>
              <a:t>- JRE: produces observations, findings, JRI, next questions.</a:t>
            </a:r>
          </a:p>
          <a:p xmlns:a="http://schemas.openxmlformats.org/drawingml/2006/main">
            <a:r>
              <a:t>- BSG: evaluates assumptions and max autonomy tier.</a:t>
            </a:r>
          </a:p>
          <a:p xmlns:a="http://schemas.openxmlformats.org/drawingml/2006/main">
            <a:r>
              <a:t>- Governor: most restrictive state wins.</a:t>
            </a:r>
          </a:p>
          <a:p xmlns:a="http://schemas.openxmlformats.org/drawingml/2006/main">
            <a:r>
              <a:t>- LLM: separate /demo/llm-analyze endpoint, async in UI.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they ask about distributions:</a:t>
            </a:r>
          </a:p>
          <a:p xmlns:a="http://schemas.openxmlformats.org/drawingml/2006/main">
            <a:r>
              <a:t>- Current demo uses bounded deterministic confidence and severity, not full probabilistic distributions.</a:t>
            </a:r>
          </a:p>
          <a:p xmlns:a="http://schemas.openxmlformats.org/drawingml/2006/main">
            <a:r>
              <a:t>- Next version would have AI-proposed node ranges and distributions validated against governed templates and calibration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your anti-fragile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pattern:</a:t>
            </a:r>
          </a:p>
          <a:p xmlns:a="http://schemas.openxmlformats.org/drawingml/2006/main">
            <a:r>
              <a:t>1. Agree with the serious part of the objection.</a:t>
            </a:r>
          </a:p>
          <a:p xmlns:a="http://schemas.openxmlformats.org/drawingml/2006/main">
            <a:r>
              <a:t>2. Clarify the boundary.</a:t>
            </a:r>
          </a:p>
          <a:p xmlns:a="http://schemas.openxmlformats.org/drawingml/2006/main">
            <a:r>
              <a:t>3. Say how production would validate 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Example:</a:t>
            </a:r>
          </a:p>
          <a:p xmlns:a="http://schemas.openxmlformats.org/drawingml/2006/main">
            <a:r>
              <a:t>- "Yes, a static rule system cannot cover all medicine. That is why I would not scale it by hand-writing templates. I would use AI to propose the expert-system graph, then validate and execute it with governed deterministic software."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a collaborative question.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"I would love to understand where this kind of boundary layer would matter most inside your current system."</a:t>
            </a:r>
          </a:p>
          <a:p xmlns:a="http://schemas.openxmlformats.org/drawingml/2006/main">
            <a:r>
              <a:t>- "I am not asking you to accept this exact implementation. I am showing the way I think and what I can build."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the interview goes well, offer a specific next step:</a:t>
            </a:r>
          </a:p>
          <a:p xmlns:a="http://schemas.openxmlformats.org/drawingml/2006/main">
            <a:r>
              <a:t>- "Give me one de-identified failure mode or tricky workflow and I can show how I would map it into this boundary framework."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1c73a6293244a9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77a12195f7254260" /><Relationship Type="http://schemas.openxmlformats.org/officeDocument/2006/relationships/slideLayout" Target="/ppt/slideLayouts/slideLayout2.xml" Id="Rc4cf02fadd3a497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4cf02fadd3a497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32f22dd97c44318" /><Relationship Type="http://schemas.openxmlformats.org/officeDocument/2006/relationships/notesSlide" Target="/ppt/notesSlides/notesSlide1.xml" Id="R8ef96d88bb2d4ce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5bfb6c19a844ad0" /><Relationship Type="http://schemas.openxmlformats.org/officeDocument/2006/relationships/notesSlide" Target="/ppt/notesSlides/notesSlide2.xml" Id="Re1526a67389546f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7737fc6a52b480c" /><Relationship Type="http://schemas.openxmlformats.org/officeDocument/2006/relationships/notesSlide" Target="/ppt/notesSlides/notesSlide3.xml" Id="R6f54109a5147402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244f0b02b5f431e" /><Relationship Type="http://schemas.openxmlformats.org/officeDocument/2006/relationships/notesSlide" Target="/ppt/notesSlides/notesSlide4.xml" Id="Rbc0f8e68edde4f1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305e2d5eec0493f" /><Relationship Type="http://schemas.openxmlformats.org/officeDocument/2006/relationships/notesSlide" Target="/ppt/notesSlides/notesSlide5.xml" Id="Rbfdb3660c7194a5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5f4e975f769441f" /><Relationship Type="http://schemas.openxmlformats.org/officeDocument/2006/relationships/notesSlide" Target="/ppt/notesSlides/notesSlide6.xml" Id="Rdc41a0df9631427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a1d66ae45fc4f65" /><Relationship Type="http://schemas.openxmlformats.org/officeDocument/2006/relationships/notesSlide" Target="/ppt/notesSlides/notesSlide7.xml" Id="R56eace2ebfd84e3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e54390e072347a8" /><Relationship Type="http://schemas.openxmlformats.org/officeDocument/2006/relationships/notesSlide" Target="/ppt/notesSlides/notesSlide8.xml" Id="R1c8ec0d1cd584e1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353f76211264354" /><Relationship Type="http://schemas.openxmlformats.org/officeDocument/2006/relationships/notesSlide" Target="/ppt/notesSlides/notesSlide9.xml" Id="Raef7cc3dbdc641f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4dafd99d457463d" /><Relationship Type="http://schemas.openxmlformats.org/officeDocument/2006/relationships/notesSlide" Target="/ppt/notesSlides/notesSlide10.xml" Id="R80e9c73fac464c1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f67f8b7d71349f4" /><Relationship Type="http://schemas.openxmlformats.org/officeDocument/2006/relationships/notesSlide" Target="/ppt/notesSlides/notesSlide11.xml" Id="R31af0c5fd17c470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51cc03c8826462f" /><Relationship Type="http://schemas.openxmlformats.org/officeDocument/2006/relationships/notesSlide" Target="/ppt/notesSlides/notesSlide12.xml" Id="R054878845d9f42a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bc70ee548ff4483" /><Relationship Type="http://schemas.openxmlformats.org/officeDocument/2006/relationships/notesSlide" Target="/ppt/notesSlides/notesSlide13.xml" Id="Rc22e93c404394f0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7fb3bc7d01443c9" /><Relationship Type="http://schemas.openxmlformats.org/officeDocument/2006/relationships/notesSlide" Target="/ppt/notesSlides/notesSlide14.xml" Id="R7d3568367814470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7f47662e97b4490" /><Relationship Type="http://schemas.openxmlformats.org/officeDocument/2006/relationships/notesSlide" Target="/ppt/notesSlides/notesSlide15.xml" Id="R79c8647e84954c5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9cb14a81a4b4ed8" /><Relationship Type="http://schemas.openxmlformats.org/officeDocument/2006/relationships/notesSlide" Target="/ppt/notesSlides/notesSlide16.xml" Id="Rf986cc023a6f426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stage">
            <a:extLst xmlns:a="http://schemas.openxmlformats.org/drawingml/2006/main">
              <a:ext uri="{FF2B5EF4-FFF2-40B4-BE49-F238E27FC236}">
                <a16:creationId xmlns:a16="http://schemas.microsoft.com/office/drawing/2014/main" id="{BE8ED9CC-51DD-4E5E-9C77-9817163AA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A290B0-EDA0-4246-9403-DFF461496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62200"/>
            <a:ext cx="95821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8756F"/>
                </a:solidFill>
              </a:defRPr>
            </a:pPr>
            <a:r>
              <a:rPr sz="2250" b="1">
                <a:solidFill>
                  <a:srgbClr val="08756F"/>
                </a:solidFill>
              </a:rPr>
              <a:t>ClinSafer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96D02B70-13D4-4C67-844D-EDE330CF4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95600"/>
            <a:ext cx="9201150" cy="316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900" b="1">
                <a:solidFill>
                  <a:srgbClr val="102A43"/>
                </a:solidFill>
              </a:defRPr>
            </a:pPr>
            <a:r>
              <a:rPr sz="6900" b="1">
                <a:solidFill>
                  <a:srgbClr val="102A43"/>
                </a:solidFill>
              </a:rPr>
              <a:t>Autonomy boundaries for AI medicine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865020-8F1F-473F-BDEE-32DDA3D08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229350"/>
            <a:ext cx="24765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04D"/>
          </a:solidFill>
          <a:ln xmlns:a="http://schemas.openxmlformats.org/drawingml/2006/main" w="0">
            <a:solidFill>
              <a:srgbClr val="E2604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950907-1CE3-44B1-B387-E93ED6ABE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477000"/>
            <a:ext cx="82867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52677A"/>
                </a:solidFill>
              </a:defRPr>
            </a:pPr>
            <a:r>
              <a:rPr sz="2325">
                <a:solidFill>
                  <a:srgbClr val="52677A"/>
                </a:solidFill>
              </a:rPr>
              <a:t>A live interview demo for showing how messy patient language becomes governed action.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245D9D-A836-4F43-87A9-2D4361AA6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2419350"/>
            <a:ext cx="640080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08756F"/>
                </a:solidFill>
              </a:defRPr>
            </a:pPr>
            <a:r>
              <a:rPr sz="5850" b="1">
                <a:solidFill>
                  <a:srgbClr val="08756F"/>
                </a:solidFill>
              </a:rPr>
              <a:t>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449CA3-F0F3-4105-B06B-8E6EF0834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371850"/>
            <a:ext cx="2743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synthetic cases in the live library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60A9F0-5911-43F3-83F3-5631AFB73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4076700"/>
            <a:ext cx="640080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2364AA"/>
                </a:solidFill>
              </a:defRPr>
            </a:pPr>
            <a:r>
              <a:rPr sz="5850" b="1">
                <a:solidFill>
                  <a:srgbClr val="2364AA"/>
                </a:solidFill>
              </a:rPr>
              <a:t>325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405728-E6D1-46D1-96B7-42322FD2E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5029200"/>
            <a:ext cx="25336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passing tests after final polish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BC6AEB-8857-4E3F-9F5D-3D9DA7C8A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5734050"/>
            <a:ext cx="640080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E2604D"/>
                </a:solidFill>
              </a:defRPr>
            </a:pPr>
            <a:r>
              <a:rPr sz="5850" b="1">
                <a:solidFill>
                  <a:srgbClr val="E2604D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347DB9-F579-4DFA-AE53-94E828962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667500"/>
            <a:ext cx="3771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most-restrictive governor decides autonomy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3E0692-1D76-452B-B131-296190B3D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239250"/>
            <a:ext cx="4000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2677A"/>
                </a:solidFill>
              </a:defRPr>
            </a:pPr>
            <a:r>
              <a:rPr sz="1350">
                <a:solidFill>
                  <a:srgbClr val="52677A"/>
                </a:solidFill>
              </a:rPr>
              <a:t>Prepared for an AI healthcare interview conversation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844AFB-2F60-43E0-8F8D-0738B67AD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467850"/>
            <a:ext cx="2038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Live app: 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04151462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F434662F-627C-4CF4-983C-53C9739FA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EB35EBD6-D43E-499F-8C98-1F461FD15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WHY THIS AUDIENCE SHOULD CARE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09AA730-F4EE-4D83-83F1-BAE4D47FE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Healthcare AI scale changes the safety problem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FA7C7F9F-D2A5-4AFA-9840-BE2A444D7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At consumer scale, the hard failures are often not obvious triage misses. They are inference, workflow, and autonomy-boundary failures.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1030D6-51CB-43FA-923A-F1D7CBC95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43500"/>
            <a:ext cx="779145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02A43"/>
                </a:solidFill>
              </a:defRPr>
            </a:pPr>
            <a:r>
              <a:rPr sz="4050" b="1">
                <a:solidFill>
                  <a:srgbClr val="102A43"/>
                </a:solidFill>
              </a:rPr>
              <a:t>The product question is not just diagnosis.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393C38-779D-47F4-BEBC-7AC109C35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610350"/>
            <a:ext cx="82296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52677A"/>
                </a:solidFill>
              </a:defRPr>
            </a:pPr>
            <a:r>
              <a:rPr sz="2400">
                <a:solidFill>
                  <a:srgbClr val="52677A"/>
                </a:solidFill>
              </a:rPr>
              <a:t>It is whether the system has enough reliable evidence to act, reassure, refill, route, or stop.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E7452B-035B-4B3F-9D9C-D1A9918E9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3924300"/>
            <a:ext cx="68770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08756F"/>
                </a:solidFill>
              </a:defRPr>
            </a:pPr>
            <a:r>
              <a:rPr sz="5850" b="1">
                <a:solidFill>
                  <a:srgbClr val="08756F"/>
                </a:solidFill>
              </a:rPr>
              <a:t>Scale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E14B18-F099-4098-8501-3C9F85F1E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4876800"/>
            <a:ext cx="30861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high-volume patient-facing AI intake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691B65-55E5-4ED0-B713-EB5F691A2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5657850"/>
            <a:ext cx="68770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3A9D6B"/>
                </a:solidFill>
              </a:defRPr>
            </a:pPr>
            <a:r>
              <a:rPr sz="5850" b="1">
                <a:solidFill>
                  <a:srgbClr val="3A9D6B"/>
                </a:solidFill>
              </a:rPr>
              <a:t>Handoff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E4E594-E786-4DBA-9982-295A29688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610350"/>
            <a:ext cx="26098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low-friction clinician escalation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CF990D-FC95-4012-95C4-7FCEF612E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7162800"/>
            <a:ext cx="68770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725AC1"/>
                </a:solidFill>
              </a:defRPr>
            </a:pPr>
            <a:r>
              <a:rPr sz="5850" b="1">
                <a:solidFill>
                  <a:srgbClr val="725AC1"/>
                </a:solidFill>
              </a:rPr>
              <a:t>Autonomy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A5A163-297A-4620-B09A-2262A463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8096250"/>
            <a:ext cx="29908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governed permission to act or stop</a:t>
            </a:r>
          </a:p>
        </p:txBody>
      </p:sp>
      <p:sp>
        <p:nvSpPr>
          <p:cNvPr id="1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229B54B0-C6CC-4719-B008-AA959A104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582150"/>
            <a:ext cx="44196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Sources: live ClinSafer app, local test suite, and generated demo artifacts.</a:t>
            </a:r>
          </a:p>
        </p:txBody>
      </p:sp>
      <p:sp>
        <p:nvSpPr>
          <p:cNvPr id="14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BF55B262-8048-431A-A464-FFA1BA5CF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46604179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E8BF1497-A7C4-465A-B828-198F206DD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41945F5C-AB50-425B-87A9-6243927A6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ONE SENTENCE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8DA0B63-F214-4CC6-87B0-19974EAAF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The thesis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A1472EF4-57C0-4941-B0FE-0C053581B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Messy language needs an autonomy governor, not just a smarter answer generator.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0F15C7-7D0C-4A79-B5A9-E9076B439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6590"/>
            <a:ext cx="53594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B910C4-EF80-472E-A41F-F285AF5E8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718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What was said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CEB89F-8514-42EE-875F-5778F68D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Patient statements, denials, goals, barriers, source, freshness.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A3D7DE-5F19-4DFE-B4DF-AF20BA99E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300" y="3196590"/>
            <a:ext cx="53594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F95781-16A4-4918-AD6D-3B06CCBE7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718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What can be inferred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84768E-F8EE-467D-9C39-14ECD8746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147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Only bounded interpretations with confidence, provenance, and close-boundary questions.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A2D85C-E8D0-442B-98BF-4FFC442DB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7550" y="3196590"/>
            <a:ext cx="53594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42FF47-06A4-41A2-93E7-1956F688A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33718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What cannot be assumed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0CC10A-5EA7-413E-935C-7EEE4E86A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37147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Unasked symptoms, stale data, remote-unknowable findings, coercion, contradiction.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AE5941-7B04-4FA8-B748-4AB815133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91050"/>
            <a:ext cx="167259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43"/>
                </a:solidFill>
              </a:defRPr>
            </a:pPr>
            <a:r>
              <a:rPr sz="2550" b="1">
                <a:solidFill>
                  <a:srgbClr val="102A43"/>
                </a:solidFill>
              </a:rPr>
              <a:t>The demo is about safe permission to act, not diagnosis prediction.</a:t>
            </a:r>
          </a:p>
        </p:txBody>
      </p:sp>
      <p:sp>
        <p:nvSpPr>
          <p:cNvPr id="1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BA935324-A4E3-4385-9B7B-A33584CF7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9590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6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F9E20AB2-A4B2-4C06-B39F-F9A3E05DD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544830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03821623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7573BD3B-A360-4DE7-A797-ED0CF5150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C6F9B3A5-8269-48E1-8EA5-E3CBAF12C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HOW TO RUN IT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831281B-F697-4DEC-B4CE-3A773F40A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Seven-minute live demo path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BDF3F8CB-E943-454F-87A6-5CA4D1350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Keep the interview on the product idea. Do not wander through the whole case library.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ED5979-CAFB-455C-BB58-29595BB3C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00650"/>
            <a:ext cx="32004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08756F"/>
                </a:solidFill>
              </a:defRPr>
            </a:pPr>
            <a:r>
              <a:rPr sz="5550" b="1">
                <a:solidFill>
                  <a:srgbClr val="08756F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FF24C4-BDE1-472F-87B6-3AC514783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91250"/>
            <a:ext cx="3200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Pick or paste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B66EFD-C962-481A-BACA-DEBC1D4D5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667500"/>
            <a:ext cx="3200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Use cost-fear case or real encounter text.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32A63D-0B48-4F82-9BE2-8CC287E6E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200650"/>
            <a:ext cx="32004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2364AA"/>
                </a:solidFill>
              </a:defRPr>
            </a:pPr>
            <a:r>
              <a:rPr sz="5550" b="1">
                <a:solidFill>
                  <a:srgbClr val="2364AA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2004AE-F8EB-4A00-8FC2-E640B5427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6191250"/>
            <a:ext cx="3200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Analyze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4F03E7-F914-48B0-948F-EEF4DF063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6667500"/>
            <a:ext cx="3200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JRE and Black Swan Guard run deterministically.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056A20-3DE5-403F-B84E-A00FB6FEB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200650"/>
            <a:ext cx="32004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725AC1"/>
                </a:solidFill>
              </a:defRPr>
            </a:pPr>
            <a:r>
              <a:rPr sz="5550" b="1">
                <a:solidFill>
                  <a:srgbClr val="725AC1"/>
                </a:solidFill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A5F020-2EB6-4669-834E-D35991D12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6191250"/>
            <a:ext cx="3200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Inspect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6058F9-300E-4789-8D4E-7571E5E3F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6667500"/>
            <a:ext cx="3200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Statement vs Fact and Provenance show authority.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8A9E16-4D63-4A27-8189-47C6C7DCF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200650"/>
            <a:ext cx="32004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E2604D"/>
                </a:solidFill>
              </a:defRPr>
            </a:pPr>
            <a:r>
              <a:rPr sz="5550" b="1">
                <a:solidFill>
                  <a:srgbClr val="E2604D"/>
                </a:solidFill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D7854A-443E-4C7B-8DD3-BD8677974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191250"/>
            <a:ext cx="3200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Decide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BECF8D-0E76-4EA3-B694-ACE98F67A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667500"/>
            <a:ext cx="3200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Most restrictive governor caps autonomy.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3867BF-7F97-45CA-BAA7-4BB4A370A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06550" y="5200650"/>
            <a:ext cx="32004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3A9D6B"/>
                </a:solidFill>
              </a:defRPr>
            </a:pPr>
            <a:r>
              <a:rPr sz="5550" b="1">
                <a:solidFill>
                  <a:srgbClr val="3A9D6B"/>
                </a:solidFill>
              </a:rPr>
              <a:t>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2B2E23-7A57-4DD7-B9F7-1707FC8A2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06550" y="6191250"/>
            <a:ext cx="3200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Recommend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3BFCB5-A50A-4E72-A362-E0DF9E73D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06550" y="6667500"/>
            <a:ext cx="3200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Final page gives action, handoff, and metrics.</a:t>
            </a:r>
          </a:p>
        </p:txBody>
      </p:sp>
      <p:sp>
        <p:nvSpPr>
          <p:cNvPr id="20" name="footer-left">
            <a:extLst xmlns:a="http://schemas.openxmlformats.org/drawingml/2006/main">
              <a:ext uri="{FF2B5EF4-FFF2-40B4-BE49-F238E27FC236}">
                <a16:creationId xmlns:a16="http://schemas.microsoft.com/office/drawing/2014/main" id="{29502A18-E8E8-4A3B-A0AC-407A0608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21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FD65E675-4E9D-4BB8-8EA2-508B3CB14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19550765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DF8F13C2-2718-42BE-823D-79CCEBBA2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B347F9B7-A512-4FC6-8D9C-BE246F3C3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LIVE INPUT PROOF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C2C7470-3FCE-420B-B52C-ADFC21D11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If they ask for real dialogue, use paste import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F36BFE50-A440-4A04-86A0-86FDFAE7B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The demo is not locked to fixed cases. Pasted encounter text becomes editable, inferred, and analyzed.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87CC24-4FC1-4428-BFC1-DCD44B265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6590"/>
            <a:ext cx="8937308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32AC52-653D-48A5-8D39-CB829D02C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429000"/>
            <a:ext cx="843915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102A43"/>
                </a:solidFill>
              </a:defRPr>
            </a:pPr>
            <a:r>
              <a:rPr sz="2025">
                <a:solidFill>
                  <a:srgbClr val="102A43"/>
                </a:solidFill>
              </a:rPr>
              <a:t>Clinician: Do you have chest pain?</a:t>
            </a:r>
          </a:p>
          <a:p xmlns:a="http://schemas.openxmlformats.org/drawingml/2006/main">
            <a:pPr>
              <a:defRPr sz="2025">
                <a:solidFill>
                  <a:srgbClr val="102A43"/>
                </a:solidFill>
              </a:defRPr>
            </a:pPr>
            <a:r>
              <a:rPr sz="2025">
                <a:solidFill>
                  <a:srgbClr val="102A43"/>
                </a:solidFill>
              </a:rPr>
              <a:t>Patient: No, just tight indigestion when I walk.</a:t>
            </a:r>
          </a:p>
          <a:p xmlns:a="http://schemas.openxmlformats.org/drawingml/2006/main">
            <a:pPr>
              <a:defRPr sz="2025">
                <a:solidFill>
                  <a:srgbClr val="102A43"/>
                </a:solidFill>
              </a:defRPr>
            </a:pPr>
            <a:r>
              <a:rPr sz="2025">
                <a:solidFill>
                  <a:srgbClr val="102A43"/>
                </a:solidFill>
              </a:rPr>
              <a:t>Clinician: Any shortness of breath?</a:t>
            </a:r>
          </a:p>
          <a:p xmlns:a="http://schemas.openxmlformats.org/drawingml/2006/main">
            <a:pPr>
              <a:defRPr sz="2025">
                <a:solidFill>
                  <a:srgbClr val="102A43"/>
                </a:solidFill>
              </a:defRPr>
            </a:pPr>
            <a:r>
              <a:rPr sz="2025">
                <a:solidFill>
                  <a:srgbClr val="102A43"/>
                </a:solidFill>
              </a:rPr>
              <a:t>Patient: Not really. I slow down so it does not get bad.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3ED765-E54F-4022-8AE0-1A4DCA829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4608" y="4585335"/>
            <a:ext cx="7312343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7A707B-7D04-4F0A-A887-1AE9F8238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4762500"/>
            <a:ext cx="6896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Parsed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BB709F-0AB9-4B7B-9F87-C0BEC0585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51054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Q/A, clinician/patient labels, and alternating turns.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329750-CFFC-46A2-92AE-9D6C8FEF7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4608" y="5713095"/>
            <a:ext cx="7312343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7771B1-6BA9-4B9F-9A7F-899013E98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5886450"/>
            <a:ext cx="6896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Editable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F688FD-8E1C-4A69-8CBE-AC2EB18B0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622935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Question, answer, source, and concept can be changed before analysis.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916F37-1462-411F-8F6E-B41A1ED59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4608" y="6840855"/>
            <a:ext cx="7312343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B04433-8A3C-473F-8812-525BA603C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7010400"/>
            <a:ext cx="6896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Inferred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DF3BBC-53ED-4040-8A07-399070FC4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73533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Blank concept fields are inferred from question plus answer text.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33881F66-EBBF-4157-B67A-FB59CAA37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7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6DBA360F-7DC9-495A-9323-AF75807DE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36406166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8D4BA182-9143-4BE0-BFD9-A8D62F7DB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4DEDF3C8-B63B-46AC-977D-47FE39B87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TECHNICAL BACKBONE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D3254C1-FFA2-44C6-B437-DBE1DCC1D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The method is ensemble governance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D5801B9-7F3F-4D2D-9969-61317CE7F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LLM candidates help find signals, but deterministic validators and guardrails decide autonomy.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D80BFA-67C8-4D76-83A6-B571F9815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1495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565EA8-3802-4AAA-B21B-FC6DEAB5E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67350"/>
            <a:ext cx="1885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7EF1C2-5B86-4221-827C-A57859BF1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10250"/>
            <a:ext cx="1885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77A"/>
                </a:solidFill>
              </a:defRPr>
            </a:pPr>
            <a:r>
              <a:rPr sz="1275">
                <a:solidFill>
                  <a:srgbClr val="52677A"/>
                </a:solidFill>
              </a:rPr>
              <a:t>Dialogue, source, patient context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DAD5D6-5B1A-4AB1-AC55-9E1C97BAD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695950"/>
            <a:ext cx="247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2677A"/>
                </a:solidFill>
              </a:defRPr>
            </a:pPr>
            <a:r>
              <a:rPr sz="1800" b="1">
                <a:solidFill>
                  <a:srgbClr val="52677A"/>
                </a:solidFill>
              </a:rPr>
              <a:t>-&gt;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490AB1-9574-40B1-A7BA-17B727637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31495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78662A-6F64-4B72-8D75-F848D78CA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467350"/>
            <a:ext cx="1885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Extractor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541B20-D408-4607-8BEA-557A6D59D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810250"/>
            <a:ext cx="1885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77A"/>
                </a:solidFill>
              </a:defRPr>
            </a:pPr>
            <a:r>
              <a:rPr sz="1275">
                <a:solidFill>
                  <a:srgbClr val="52677A"/>
                </a:solidFill>
              </a:rPr>
              <a:t>Normalize observations and confidence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6C2979-11ED-4A10-95C9-2BF730BA5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695950"/>
            <a:ext cx="247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2677A"/>
                </a:solidFill>
              </a:defRPr>
            </a:pPr>
            <a:r>
              <a:rPr sz="1800" b="1">
                <a:solidFill>
                  <a:srgbClr val="52677A"/>
                </a:solidFill>
              </a:rPr>
              <a:t>-&gt;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C0304F-8322-4157-9129-D046186D5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531495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7B443A-FAD3-4143-947D-9A01B8106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67350"/>
            <a:ext cx="1885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725AC1"/>
                </a:solidFill>
              </a:defRPr>
            </a:pPr>
            <a:r>
              <a:rPr sz="1725" b="1">
                <a:solidFill>
                  <a:srgbClr val="725AC1"/>
                </a:solidFill>
              </a:rPr>
              <a:t>JRE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2114C2-449F-4B63-9F0A-31B79A35F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810250"/>
            <a:ext cx="1885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77A"/>
                </a:solidFill>
              </a:defRPr>
            </a:pPr>
            <a:r>
              <a:rPr sz="1275">
                <a:solidFill>
                  <a:srgbClr val="52677A"/>
                </a:solidFill>
              </a:rPr>
              <a:t>Missing, uncertain, distorted, contradictory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53FFF3-838A-4300-9514-9C81A794B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695950"/>
            <a:ext cx="247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2677A"/>
                </a:solidFill>
              </a:defRPr>
            </a:pPr>
            <a:r>
              <a:rPr sz="1800" b="1">
                <a:solidFill>
                  <a:srgbClr val="52677A"/>
                </a:solidFill>
              </a:rPr>
              <a:t>-&gt;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608B45-C94D-4F64-A00F-A5305A343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531495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AC8F11-0095-4B49-B8F1-52E9BE72B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467350"/>
            <a:ext cx="1885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BSG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D0DD07-3F1E-4705-8A1F-B361A4F2C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810250"/>
            <a:ext cx="1885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77A"/>
                </a:solidFill>
              </a:defRPr>
            </a:pPr>
            <a:r>
              <a:rPr sz="1275">
                <a:solidFill>
                  <a:srgbClr val="52677A"/>
                </a:solidFill>
              </a:rPr>
              <a:t>Operating envelope and autonomy cap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C738CD-DDB1-4CF1-B1BC-3EED3BF06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5695950"/>
            <a:ext cx="247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2677A"/>
                </a:solidFill>
              </a:defRPr>
            </a:pPr>
            <a:r>
              <a:rPr sz="1800" b="1">
                <a:solidFill>
                  <a:srgbClr val="52677A"/>
                </a:solidFill>
              </a:rPr>
              <a:t>-&gt;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D5E7C9-6634-41E9-AC88-A70522088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531495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C9C932-4B5A-43E3-BE7A-9F02F618C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5467350"/>
            <a:ext cx="1885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D4941E"/>
                </a:solidFill>
              </a:defRPr>
            </a:pPr>
            <a:r>
              <a:rPr sz="1725" b="1">
                <a:solidFill>
                  <a:srgbClr val="D4941E"/>
                </a:solidFill>
              </a:rPr>
              <a:t>Governor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63A8C6-2FA6-4A67-B781-F14FDF0E5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5810250"/>
            <a:ext cx="1885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77A"/>
                </a:solidFill>
              </a:defRPr>
            </a:pPr>
            <a:r>
              <a:rPr sz="1275">
                <a:solidFill>
                  <a:srgbClr val="52677A"/>
                </a:solidFill>
              </a:rPr>
              <a:t>Most restrictive state wins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4FD59D-112E-407D-B1B0-F32CB38D7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5695950"/>
            <a:ext cx="247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2677A"/>
                </a:solidFill>
              </a:defRPr>
            </a:pPr>
            <a:r>
              <a:rPr sz="1800" b="1">
                <a:solidFill>
                  <a:srgbClr val="52677A"/>
                </a:solidFill>
              </a:rPr>
              <a:t>-&gt;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5FD731-4B9F-480A-A6BE-B60680684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35050" y="531495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D34B44-D55E-47F3-AD39-84B28110F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5467350"/>
            <a:ext cx="1885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3A9D6B"/>
                </a:solidFill>
              </a:defRPr>
            </a:pPr>
            <a:r>
              <a:rPr sz="1725" b="1">
                <a:solidFill>
                  <a:srgbClr val="3A9D6B"/>
                </a:solidFill>
              </a:rPr>
              <a:t>Output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351DA43-5975-4006-A065-2E4042AE7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5810250"/>
            <a:ext cx="1885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77A"/>
                </a:solidFill>
              </a:defRPr>
            </a:pPr>
            <a:r>
              <a:rPr sz="1275">
                <a:solidFill>
                  <a:srgbClr val="52677A"/>
                </a:solidFill>
              </a:rPr>
              <a:t>Questions, handoff, recommendations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E54FDBD-D9D0-4F0F-87BA-8B322C43C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743950"/>
            <a:ext cx="167259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43"/>
                </a:solidFill>
              </a:defRPr>
            </a:pPr>
            <a:r>
              <a:rPr sz="2550" b="1">
                <a:solidFill>
                  <a:srgbClr val="102A43"/>
                </a:solidFill>
              </a:rPr>
              <a:t>Autonomy is capped by authority, not by model confidence alone.</a:t>
            </a:r>
          </a:p>
        </p:txBody>
      </p:sp>
      <p:sp>
        <p:nvSpPr>
          <p:cNvPr id="29" name="footer-left">
            <a:extLst xmlns:a="http://schemas.openxmlformats.org/drawingml/2006/main">
              <a:ext uri="{FF2B5EF4-FFF2-40B4-BE49-F238E27FC236}">
                <a16:creationId xmlns:a16="http://schemas.microsoft.com/office/drawing/2014/main" id="{F8FA5004-97BA-4FAE-A5E0-B2EEEBB9B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30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A542A33C-AFD7-419B-A381-F8021C193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66605603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F0E3293D-E66A-4838-B155-5C948F35B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B926DB6C-FE13-4E87-BBA3-4137FC2E5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WHAT TO POINT AT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04AB29C-CBF6-4F41-8A27-6F83591F9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Provenance is the safety interface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361D4AB-7EFD-438F-83D7-5BA492E1B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The demo separates signal source from action authority.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6221FE-3711-483C-8D3A-19E191A9C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49339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A43"/>
                </a:solidFill>
              </a:defRPr>
            </a:pPr>
            <a:r>
              <a:rPr sz="2175" b="1">
                <a:solidFill>
                  <a:srgbClr val="102A43"/>
                </a:solidFill>
              </a:rPr>
              <a:t>Curated rules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537FAC-71E7-4719-BAD0-0258BBCDD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8363" y="3196590"/>
            <a:ext cx="1571625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56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EC9D52-ABBC-46FE-8972-F9D42F471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276600"/>
            <a:ext cx="1238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8756F"/>
                </a:solidFill>
              </a:defRPr>
            </a:pPr>
            <a:r>
              <a:rPr sz="1275" b="1">
                <a:solidFill>
                  <a:srgbClr val="08756F"/>
                </a:solidFill>
              </a:rPr>
              <a:t>Enforced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A4B678-E573-406C-803C-4E63276E6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200400"/>
            <a:ext cx="81343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2677A"/>
                </a:solidFill>
              </a:defRPr>
            </a:pPr>
            <a:r>
              <a:rPr sz="1875">
                <a:solidFill>
                  <a:srgbClr val="52677A"/>
                </a:solidFill>
              </a:rPr>
              <a:t>Can ask, route, block, or cap.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687E58-F0F2-48A2-B928-0437B5B57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95700"/>
            <a:ext cx="49339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A43"/>
                </a:solidFill>
              </a:defRPr>
            </a:pPr>
            <a:r>
              <a:rPr sz="2175" b="1">
                <a:solidFill>
                  <a:srgbClr val="102A43"/>
                </a:solidFill>
              </a:rPr>
              <a:t>LLM candidates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562B59-4588-4544-A5AB-FE5F1A1E8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8363" y="3695700"/>
            <a:ext cx="1571625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4941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75801E-12F0-412D-9624-225198E80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790950"/>
            <a:ext cx="1238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4941E"/>
                </a:solidFill>
              </a:defRPr>
            </a:pPr>
            <a:r>
              <a:rPr sz="1275" b="1">
                <a:solidFill>
                  <a:srgbClr val="D4941E"/>
                </a:solidFill>
              </a:rPr>
              <a:t>Advisory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B638A0-D0B3-471A-872A-7BEDF590F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695700"/>
            <a:ext cx="81343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2677A"/>
                </a:solidFill>
              </a:defRPr>
            </a:pPr>
            <a:r>
              <a:rPr sz="1875">
                <a:solidFill>
                  <a:srgbClr val="52677A"/>
                </a:solidFill>
              </a:rPr>
              <a:t>Can suggest review targets only.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2CD39E-C09A-4D19-A986-DF1C48389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91000"/>
            <a:ext cx="49339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A43"/>
                </a:solidFill>
              </a:defRPr>
            </a:pPr>
            <a:r>
              <a:rPr sz="2175" b="1">
                <a:solidFill>
                  <a:srgbClr val="102A43"/>
                </a:solidFill>
              </a:rPr>
              <a:t>Learned priors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5816B3-79AB-4AA0-8552-04B7A03EF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8363" y="4194810"/>
            <a:ext cx="1571625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364A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FA18BA-E7ED-4A35-81B0-7362B259A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86250"/>
            <a:ext cx="1238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364AA"/>
                </a:solidFill>
              </a:defRPr>
            </a:pPr>
            <a:r>
              <a:rPr sz="1275" b="1">
                <a:solidFill>
                  <a:srgbClr val="2364AA"/>
                </a:solidFill>
              </a:rPr>
              <a:t>Bounded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7CF281-640F-45D8-A297-E756FA78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191000"/>
            <a:ext cx="81343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2677A"/>
                </a:solidFill>
              </a:defRPr>
            </a:pPr>
            <a:r>
              <a:rPr sz="1875">
                <a:solidFill>
                  <a:srgbClr val="52677A"/>
                </a:solidFill>
              </a:rPr>
              <a:t>Tune confidence and question priority.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3B66F8-9089-4549-8A71-FEFFB71F5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86300"/>
            <a:ext cx="49339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A43"/>
                </a:solidFill>
              </a:defRPr>
            </a:pPr>
            <a:r>
              <a:rPr sz="2175" b="1">
                <a:solidFill>
                  <a:srgbClr val="102A43"/>
                </a:solidFill>
              </a:rPr>
              <a:t>Memory hooks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3CB242-E4D3-4699-B0E5-D7ED00480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8363" y="4693920"/>
            <a:ext cx="1571625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725AC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E9E14F-FED7-417D-8BE7-3F310E180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781550"/>
            <a:ext cx="1238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725AC1"/>
                </a:solidFill>
              </a:defRPr>
            </a:pPr>
            <a:r>
              <a:rPr sz="1275" b="1">
                <a:solidFill>
                  <a:srgbClr val="725AC1"/>
                </a:solidFill>
              </a:rPr>
              <a:t>Advisory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0978D7-30C4-4BF6-A455-1CABF10BD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686300"/>
            <a:ext cx="81343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2677A"/>
                </a:solidFill>
              </a:defRPr>
            </a:pPr>
            <a:r>
              <a:rPr sz="1875">
                <a:solidFill>
                  <a:srgbClr val="52677A"/>
                </a:solidFill>
              </a:rPr>
              <a:t>Suggest missing nodes and falsifiers.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2E40EB-4D6C-492E-B7A1-F1AAF1747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00650"/>
            <a:ext cx="49339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A43"/>
                </a:solidFill>
              </a:defRPr>
            </a:pPr>
            <a:r>
              <a:rPr sz="2175" b="1">
                <a:solidFill>
                  <a:srgbClr val="102A43"/>
                </a:solidFill>
              </a:rPr>
              <a:t>Ensemble governor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0A9659-3847-4CA8-B9BB-70471E4B5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8363" y="5193030"/>
            <a:ext cx="1571625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E2604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C0B3FF-EA82-4066-937F-8CC20068C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276850"/>
            <a:ext cx="1238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E2604D"/>
                </a:solidFill>
              </a:defRPr>
            </a:pPr>
            <a:r>
              <a:rPr sz="1275" b="1">
                <a:solidFill>
                  <a:srgbClr val="E2604D"/>
                </a:solidFill>
              </a:rPr>
              <a:t>Enforced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8ECF55D-FCA6-4F5D-AC34-17CF83AD0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200650"/>
            <a:ext cx="81343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2677A"/>
                </a:solidFill>
              </a:defRPr>
            </a:pPr>
            <a:r>
              <a:rPr sz="1875">
                <a:solidFill>
                  <a:srgbClr val="52677A"/>
                </a:solidFill>
              </a:rPr>
              <a:t>Most restrictive final state wins.</a:t>
            </a:r>
          </a:p>
        </p:txBody>
      </p:sp>
      <p:sp>
        <p:nvSpPr>
          <p:cNvPr id="2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ECAC9FB2-FE37-4615-BD17-AE12D70AE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26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A1651C1E-1037-408D-B284-0A0C4ABE0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9672547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7DF47A3B-B363-4063-BBFD-9C1055FA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DE30688D-3532-4EA6-A974-C0D9C9D5F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FINAL RECOMMENDATIONS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A1CA92E-0FF3-45DC-875F-C37CE3DA9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The final page must be actionable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4C32591-20EB-4CD5-B30A-8A26BA863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A polished analysis is not enough. The output has to tell a human and the system what to do next.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A57016-7B2D-4C29-9789-3D0AF6C8F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6590"/>
            <a:ext cx="8143875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E65187-92D9-4176-977C-22AA0E60B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7185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Disposition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F03E41-FB61-4A71-BA48-5D2AB8EF8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ESCALATE, HOLD, NEED_OBJECTIVE_DATA, ROUTE_CLINICIAN, or narrow audited action.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28B6DB-12E5-402A-B76D-5B424010B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3196590"/>
            <a:ext cx="8143875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4E08B4-E97E-4EB7-A1F6-88A8E5127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37185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Immediate action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48499D-E6E5-42B0-8408-2D8126FF1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71475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What is allowed now, what is blocked, and what restores readiness.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51100D-BC7B-40B2-8EC8-971C940F3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24350"/>
            <a:ext cx="8143875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738C8A-CA82-4673-BC91-3C8458D4D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9580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Patient message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0A8107-BE02-4642-B05E-ACDF97F2B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38700"/>
            <a:ext cx="77343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Safety language that addresses cost, fear, embarrassment, stigma, work, or delay without downgrading risk.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87CADD-7495-4763-ABA3-D7DCDF06D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4324350"/>
            <a:ext cx="8143875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AA8356-C3A7-42B5-A4A8-CEBAB22FB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49580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725AC1"/>
                </a:solidFill>
              </a:defRPr>
            </a:pPr>
            <a:r>
              <a:rPr sz="1725" b="1">
                <a:solidFill>
                  <a:srgbClr val="725AC1"/>
                </a:solidFill>
              </a:rPr>
              <a:t>Clinician handoff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0CA924-CDD8-4E0D-BE62-7BAAFB3AB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83870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Boundary map and top blockers instead of raw transcript only.</a:t>
            </a:r>
          </a:p>
        </p:txBody>
      </p:sp>
      <p:sp>
        <p:nvSpPr>
          <p:cNvPr id="17" name="footer-left">
            <a:extLst xmlns:a="http://schemas.openxmlformats.org/drawingml/2006/main">
              <a:ext uri="{FF2B5EF4-FFF2-40B4-BE49-F238E27FC236}">
                <a16:creationId xmlns:a16="http://schemas.microsoft.com/office/drawing/2014/main" id="{F3FA3324-B209-4EDA-BABF-9DFC1C93D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7340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8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09BCCA06-EAA8-4A05-BD06-1D5BF9917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58864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78006735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79B96E3B-C96F-4819-BEC5-FC8D81E59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63BC36D9-D38E-4C31-A6A9-BA1C0A661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CREDIBILITY CHECK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1C3F9FF-E133-429F-A3A5-855142DF3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Be precise about what is real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DD5EB8C-FCAA-4956-86AA-56172EA30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This slide prevents the demo from sounding like vaporware or overclaiming.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474785-DBD0-4FD9-B7BD-61D95EC0B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4191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8756F"/>
                </a:solidFill>
              </a:defRPr>
            </a:pPr>
            <a:r>
              <a:rPr sz="2250" b="1">
                <a:solidFill>
                  <a:srgbClr val="08756F"/>
                </a:solidFill>
              </a:rPr>
              <a:t>Implemented now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F732E8-D5BF-4DA0-BD88-A07ED12B0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200400"/>
            <a:ext cx="12192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102A43"/>
                </a:solidFill>
              </a:defRPr>
            </a:pPr>
            <a:r>
              <a:rPr sz="1950">
                <a:solidFill>
                  <a:srgbClr val="102A43"/>
                </a:solidFill>
              </a:rPr>
              <a:t>Deterministic JRE, Black Swan Guard, live edit/paste, LLM extractor, final recommendations, tests.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B4ADF1-2539-43A2-A2FA-1ED592F9B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71900"/>
            <a:ext cx="4191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364AA"/>
                </a:solidFill>
              </a:defRPr>
            </a:pPr>
            <a:r>
              <a:rPr sz="2250" b="1">
                <a:solidFill>
                  <a:srgbClr val="2364AA"/>
                </a:solidFill>
              </a:rPr>
              <a:t>Prototype hooks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C9CE41-5B4A-48A5-AEA0-D17E18C41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771900"/>
            <a:ext cx="12192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102A43"/>
                </a:solidFill>
              </a:defRPr>
            </a:pPr>
            <a:r>
              <a:rPr sz="1950">
                <a:solidFill>
                  <a:srgbClr val="102A43"/>
                </a:solidFill>
              </a:rPr>
              <a:t>In-memory learning, trace regions, VAMS-style near-miss recall, governed template promotion.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915A63-A1F1-4EBF-B4F6-25BA808E2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43400"/>
            <a:ext cx="4191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E2604D"/>
                </a:solidFill>
              </a:defRPr>
            </a:pPr>
            <a:r>
              <a:rPr sz="2250" b="1">
                <a:solidFill>
                  <a:srgbClr val="E2604D"/>
                </a:solidFill>
              </a:rPr>
              <a:t>Not claimed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43F6C8-202E-4758-A2C5-8669E8D05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343400"/>
            <a:ext cx="12192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102A43"/>
                </a:solidFill>
              </a:defRPr>
            </a:pPr>
            <a:r>
              <a:rPr sz="1950">
                <a:solidFill>
                  <a:srgbClr val="102A43"/>
                </a:solidFill>
              </a:rPr>
              <a:t>Production clinical validation, persistent memory, autonomous prescription approval, medical device readiness.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8F0A74-B861-4DA6-A8A9-42EAB218F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0"/>
            <a:ext cx="1641443" cy="571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5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17F107-205C-4FE9-BC38-904F60C2C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8667750"/>
            <a:ext cx="12954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8756F"/>
                </a:solidFill>
              </a:defRPr>
            </a:pPr>
            <a:r>
              <a:rPr sz="1275" b="1">
                <a:solidFill>
                  <a:srgbClr val="08756F"/>
                </a:solidFill>
              </a:rPr>
              <a:t>325 tests passed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0438BA-8A22-4C4F-AB04-7A92844E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9193" y="8572500"/>
            <a:ext cx="1878044" cy="571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364A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8455A5-C27E-438D-8E4E-CE55C2BC0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8667750"/>
            <a:ext cx="15430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364AA"/>
                </a:solidFill>
              </a:defRPr>
            </a:pPr>
            <a:r>
              <a:rPr sz="1275" b="1">
                <a:solidFill>
                  <a:srgbClr val="2364AA"/>
                </a:solidFill>
              </a:rPr>
              <a:t>Live Fly deployment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4C0F80-A329-429C-89D6-0BF81FB54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3937" y="8572500"/>
            <a:ext cx="2822162" cy="571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725AC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B097AA-407F-4931-911F-FA39AFD1A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8667750"/>
            <a:ext cx="2476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725AC1"/>
                </a:solidFill>
              </a:defRPr>
            </a:pPr>
            <a:r>
              <a:rPr sz="1275" b="1">
                <a:solidFill>
                  <a:srgbClr val="725AC1"/>
                </a:solidFill>
              </a:rPr>
              <a:t>OpenRouter model configurable</a:t>
            </a:r>
          </a:p>
        </p:txBody>
      </p:sp>
      <p:sp>
        <p:nvSpPr>
          <p:cNvPr id="17" name="footer-left">
            <a:extLst xmlns:a="http://schemas.openxmlformats.org/drawingml/2006/main">
              <a:ext uri="{FF2B5EF4-FFF2-40B4-BE49-F238E27FC236}">
                <a16:creationId xmlns:a16="http://schemas.microsoft.com/office/drawing/2014/main" id="{0A9DB1F0-A807-462F-8793-EC2200A3A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8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12525C3C-8FE0-4CF5-A1EA-FE5C152C9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14218658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FEAF5533-37FF-496E-BD79-252FB3BBB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2DEB7D07-35ED-4150-B149-F95DC1073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DEMO CHOICES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4E17C45-2385-4593-9903-93793AD0F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Cases to run if the conversation shifts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0D1CEB1-8139-45C1-941E-849B5C3CF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Use one case at a time. Each one demonstrates a different boundary failure.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91DFE5-CB51-419B-9397-136137591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6590"/>
            <a:ext cx="815340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0E97E0-E856-469B-9062-D46582A69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7185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Cost fear minimizes alarm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AB6376-EE59-4AEA-906E-20FE6BA81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Patient asks the system to approve delay while describing exertional tightness.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F045BC-F9AA-4677-9687-3C09EE3FE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196590"/>
            <a:ext cx="815340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06F94A-125F-47DE-8EA7-979F158E1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37185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D4941E"/>
                </a:solidFill>
              </a:defRPr>
            </a:pPr>
            <a:r>
              <a:rPr sz="1725" b="1">
                <a:solidFill>
                  <a:srgbClr val="D4941E"/>
                </a:solidFill>
              </a:rPr>
              <a:t>Embarrassment curbs history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3FF3B8-A916-40BE-82FF-7608A69FC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1475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Patient walks back alarm details because of shame, internet fear, and chart anxiety.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E51FFA-3CF6-40CB-BA66-C0EF75599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24350"/>
            <a:ext cx="815340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DADBC9-D711-4FA4-8E1A-419661EA1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9580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725AC1"/>
                </a:solidFill>
              </a:defRPr>
            </a:pPr>
            <a:r>
              <a:rPr sz="1725" b="1">
                <a:solidFill>
                  <a:srgbClr val="725AC1"/>
                </a:solidFill>
              </a:rPr>
              <a:t>Caregiver conflict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050E89-E9C2-4D9A-A905-DA5D51F9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3870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Patient says fine; caregiver reports confusion. Source conflict caps autonomy.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30EA39-F834-4EBB-86A9-A6BA8D7A6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324350"/>
            <a:ext cx="815340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29237E-FEA9-4630-A8B1-93B649A79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49580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Unasked is not denied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4EA615-26E0-49B0-A3BD-69A77B8FF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83870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The system refuses to treat missing safety variables as negative evidence.</a:t>
            </a:r>
          </a:p>
        </p:txBody>
      </p:sp>
      <p:sp>
        <p:nvSpPr>
          <p:cNvPr id="17" name="footer-left">
            <a:extLst xmlns:a="http://schemas.openxmlformats.org/drawingml/2006/main">
              <a:ext uri="{FF2B5EF4-FFF2-40B4-BE49-F238E27FC236}">
                <a16:creationId xmlns:a16="http://schemas.microsoft.com/office/drawing/2014/main" id="{5504DCF5-D292-4678-BA4F-9E66AF22E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8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EEEF5EB1-5F53-4994-AD99-4C9559C3F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567690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31007148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88B75724-9F83-42ED-AEE2-88FD70201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CD9C8C07-C073-4FE4-85EB-D34F1EA3B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OPERATING LEVERAGE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9C2FB23-3F83-4048-A67F-1118689D3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The value is safer automation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22FE700-00EB-4CB7-882C-0661195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The same boundary layer can reduce unsafe automation and avoidable human routing.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3D1D66-C9F7-47B7-8108-EF0219D22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39814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E2604D"/>
                </a:solidFill>
              </a:defRPr>
            </a:pPr>
            <a:r>
              <a:rPr sz="5850" b="1">
                <a:solidFill>
                  <a:srgbClr val="E2604D"/>
                </a:solidFill>
              </a:rPr>
              <a:t>Safety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0F7099-AE52-426A-BFE6-2E15171DA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52900"/>
            <a:ext cx="3162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Blocks action when assumptions fail.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36D298-FF7E-45B6-BAA4-16C9FBB58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200400"/>
            <a:ext cx="39814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3A9D6B"/>
                </a:solidFill>
              </a:defRPr>
            </a:pPr>
            <a:r>
              <a:rPr sz="5850" b="1">
                <a:solidFill>
                  <a:srgbClr val="3A9D6B"/>
                </a:solidFill>
              </a:rPr>
              <a:t>Margin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92DD9A-8F33-4DDC-B336-D07779938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152900"/>
            <a:ext cx="3771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Closes fixable evidence gaps before routing.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00E1D3-41B4-45E0-9366-7B20CB96C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200400"/>
            <a:ext cx="39814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08756F"/>
                </a:solidFill>
              </a:defRPr>
            </a:pPr>
            <a:r>
              <a:rPr sz="5850" b="1">
                <a:solidFill>
                  <a:srgbClr val="08756F"/>
                </a:solidFill>
              </a:rPr>
              <a:t>Trust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A671B2-96FF-42B0-BB86-44278F025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152900"/>
            <a:ext cx="36766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Explains uncertainty without dismissing the patient.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AB0D91-E026-4B69-BCAD-D3D52BE26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3200400"/>
            <a:ext cx="39814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2364AA"/>
                </a:solidFill>
              </a:defRPr>
            </a:pPr>
            <a:r>
              <a:rPr sz="5850" b="1">
                <a:solidFill>
                  <a:srgbClr val="2364AA"/>
                </a:solidFill>
              </a:rPr>
              <a:t>Review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028B1D-11B2-45FC-8411-4861106FB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152900"/>
            <a:ext cx="3581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Hands clinicians a boundary map, not just transcript.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BE5B70-6980-4C91-ABFC-2D29A7EE4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496300"/>
            <a:ext cx="134683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Metric to track: percent of routed cases where one clarification changes disposition or prevents avoidable physician review.</a:t>
            </a:r>
          </a:p>
        </p:txBody>
      </p:sp>
      <p:sp>
        <p:nvSpPr>
          <p:cNvPr id="1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8BC30C5E-252C-4920-A905-28FF2A58F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5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C5D2EF55-11C6-41DB-9A89-BA3C39252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63076259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57565156-4949-4DC9-A05A-7EB76C9D9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F91CEA21-07E5-43D7-A1A3-E11359994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YOUR STORY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6073876-1A21-4899-A0FB-160A63AF0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What I bring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093C187D-C140-422B-B313-03614CA9B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The differentiator is cross-domain judgment, not just code output.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0F9424-C3E5-4E94-9F38-DE8AF0EAC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6590"/>
            <a:ext cx="53467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9B73AE-8714-4450-8890-981A16B40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718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Medicine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CEBBCC-4110-48DD-A190-6DEE91908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Clinical risk, patient language, remote limits, physician workflow.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C8ED2D-7FCE-4C97-B4C9-1244D5EE1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0650" y="3196590"/>
            <a:ext cx="53467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E2A10F-30BA-49DA-B894-1186D7C7F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3718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AI systems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60C3DD-472E-4605-BB70-BAD7777C2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7147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LLM extraction, expert-system shells, ensemble governance, memory boundaries.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9B7F39-AE03-48BF-9A8E-8C83DC28E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0250" y="3196590"/>
            <a:ext cx="53467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4C9708-554B-4953-8773-CC9ACD5C6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33718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3A9D6B"/>
                </a:solidFill>
              </a:defRPr>
            </a:pPr>
            <a:r>
              <a:rPr sz="1725" b="1">
                <a:solidFill>
                  <a:srgbClr val="3A9D6B"/>
                </a:solidFill>
              </a:rPr>
              <a:t>Operations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EECBE5-D61E-4476-84C5-E01A29560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37147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Routing, churn, escalation rationale, clinician efficiency, auditability.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FE5E46-1AC4-47B2-AF99-940F475C9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41520"/>
            <a:ext cx="53467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60C85A-DFBC-433B-BF79-BAD95150D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053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725AC1"/>
                </a:solidFill>
              </a:defRPr>
            </a:pPr>
            <a:r>
              <a:rPr sz="1725" b="1">
                <a:solidFill>
                  <a:srgbClr val="725AC1"/>
                </a:solidFill>
              </a:rPr>
              <a:t>Risk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545D07-6063-4496-BE01-623C03BD1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482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Fail-closed thinking, provenance, governed promotion, no uncontrolled online learning.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A3A30E-7ACC-4095-95FC-14DE62363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0650" y="4541520"/>
            <a:ext cx="534670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525949-4CBA-47A2-B13F-83712E5BB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7053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Product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1144AA-C4FA-4FF2-9761-7EF7412C4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048250"/>
            <a:ext cx="49339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Demoable UX that makes invisible safety reasoning visible.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B2D47E-F3F8-4490-A40D-653DFD793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0250" y="4541520"/>
            <a:ext cx="534670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2C8877-7F3E-4487-ADC1-B16C81F92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47053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D4941E"/>
                </a:solidFill>
              </a:defRPr>
            </a:pPr>
            <a:r>
              <a:rPr sz="1725" b="1">
                <a:solidFill>
                  <a:srgbClr val="D4941E"/>
                </a:solidFill>
              </a:rPr>
              <a:t>Execution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ACAC8E-131A-4797-853E-0F761BEDB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5048250"/>
            <a:ext cx="49339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Built, tested, pushed, deployed, and iterated from feedback.</a:t>
            </a:r>
          </a:p>
        </p:txBody>
      </p:sp>
      <p:sp>
        <p:nvSpPr>
          <p:cNvPr id="2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95E71A85-B648-4051-B23E-DC596EDE7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626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24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CC4DA47B-D118-465A-8F05-29BF3329B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61150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67096784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2D0F20BA-D6BB-493D-B66D-E09A7496C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AC2CE2B9-95D9-4474-BEC3-AF54E5FA7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EXECUTIVE CONVERSATION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9A87627-A395-46B3-A94E-CD5389D1C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Likely executive questions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A601D4E-2D58-425E-8FD3-432EC8ACF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Answer directly, then point back to the live app.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2AE415-5135-4744-B904-DD4A71333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8756F"/>
                </a:solidFill>
              </a:defRPr>
            </a:pPr>
            <a:r>
              <a:rPr sz="1575" b="1">
                <a:solidFill>
                  <a:srgbClr val="08756F"/>
                </a:solidFill>
              </a:rPr>
              <a:t>Are you saying we lack this?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77DD23-00D8-4EB1-871E-CD75FAF6A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2004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No. I assume you have strong safeguards. This is how I think about the next boundary layer.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953D28-B894-4615-82CA-4E9FAE7D3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195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8756F"/>
                </a:solidFill>
              </a:defRPr>
            </a:pPr>
            <a:r>
              <a:rPr sz="1575" b="1">
                <a:solidFill>
                  <a:srgbClr val="08756F"/>
                </a:solidFill>
              </a:rPr>
              <a:t>How does it help the business?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492E6C-2B9D-4C3B-9971-34864FE1F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6195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Safer automation, less avoidable review, clearer escalation rationale, lower abandonment.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72AF0A-7202-449E-9791-ECB601407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5765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8756F"/>
                </a:solidFill>
              </a:defRPr>
            </a:pPr>
            <a:r>
              <a:rPr sz="1575" b="1">
                <a:solidFill>
                  <a:srgbClr val="08756F"/>
                </a:solidFill>
              </a:rPr>
              <a:t>What would you measure?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B131CF-F1C9-4EA3-99CB-C640B137D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05765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Clinician confirmation, correction rate, avoidable routing, patient completion, evidence-gap closure.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58A19B-50CC-4C06-A21C-C79E8FCB1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958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8756F"/>
                </a:solidFill>
              </a:defRPr>
            </a:pPr>
            <a:r>
              <a:rPr sz="1575" b="1">
                <a:solidFill>
                  <a:srgbClr val="08756F"/>
                </a:solidFill>
              </a:rPr>
              <a:t>Where would it fit?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32990D-4768-4676-A25A-DF021C819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4958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Before autonomous action, refill renewal, low-acuity closure, or physician handoff.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725B6A-B5CC-4C4E-95AF-FE03CD055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149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8756F"/>
                </a:solidFill>
              </a:defRPr>
            </a:pPr>
            <a:r>
              <a:rPr sz="1575" b="1">
                <a:solidFill>
                  <a:srgbClr val="08756F"/>
                </a:solidFill>
              </a:rPr>
              <a:t>What is production path?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6BC629-6E46-49F8-85CE-428CBFD7D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9149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Persistent memory, outcome labels, simulation suite, governance promotion, clinical review.</a:t>
            </a:r>
          </a:p>
        </p:txBody>
      </p:sp>
      <p:sp>
        <p:nvSpPr>
          <p:cNvPr id="1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517ACED2-FB15-49D2-9893-210482FEA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6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4F564293-41D4-4AE4-8639-E173417B4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261582554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25C87743-C165-45BC-A6D7-9A6D9DBA9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B8DC1832-4DF2-4E2D-B131-E10DA17AB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DEV TEAM CONVERSATION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D60839D-34B9-46B2-984B-0D2A0685A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Likely technical questions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62AA0583-C166-4BFB-93DB-6850B375E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Be crisp: deterministic core, advisory model, governed learning.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A8635E-55D3-43A4-9269-8168E1840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364AA"/>
                </a:solidFill>
              </a:defRPr>
            </a:pPr>
            <a:r>
              <a:rPr sz="1575" b="1">
                <a:solidFill>
                  <a:srgbClr val="2364AA"/>
                </a:solidFill>
              </a:rPr>
              <a:t>Is this rules or AI?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610E05-3E76-40BD-A5AB-5F254B94A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2004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Both. AI proposes candidates; deterministic systems validate, score, and cap action.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8E06DB-94EB-49C9-84D9-75A24CF29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195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364AA"/>
                </a:solidFill>
              </a:defRPr>
            </a:pPr>
            <a:r>
              <a:rPr sz="1575" b="1">
                <a:solidFill>
                  <a:srgbClr val="2364AA"/>
                </a:solidFill>
              </a:rPr>
              <a:t>How are nodes selected?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84B8D3-4A0A-4DDD-8E5E-6BE41DA0E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6195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Domain templates now; next version lets AI propose case-specific graph nodes for governed validation.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704B36-F63E-43BB-A3D9-CC1BD11F7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5765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364AA"/>
                </a:solidFill>
              </a:defRPr>
            </a:pPr>
            <a:r>
              <a:rPr sz="1575" b="1">
                <a:solidFill>
                  <a:srgbClr val="2364AA"/>
                </a:solidFill>
              </a:rPr>
              <a:t>Can LLM override rules?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101B05-798C-4CB5-BD34-A7FBF2DE2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05765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No. LLM-only findings are advisory and cannot authorize or hard-stop.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89C16F-D4A3-4D38-A025-46019A228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958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364AA"/>
                </a:solidFill>
              </a:defRPr>
            </a:pPr>
            <a:r>
              <a:rPr sz="1575" b="1">
                <a:solidFill>
                  <a:srgbClr val="2364AA"/>
                </a:solidFill>
              </a:rPr>
              <a:t>What about latency?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BAF98A-B680-4110-82DA-7838DD741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4958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Core analysis is fast and deterministic. LLM runs async with timeout and retry.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2A9F57-67E3-4C4F-954F-C98573851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149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364AA"/>
                </a:solidFill>
              </a:defRPr>
            </a:pPr>
            <a:r>
              <a:rPr sz="1575" b="1">
                <a:solidFill>
                  <a:srgbClr val="2364AA"/>
                </a:solidFill>
              </a:rPr>
              <a:t>How prevent memory drift?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E3794B-03EC-444A-9EEE-C96A93E11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9149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Memory proposes missing nodes/falsifiers only. Promotion requires review and simulation.</a:t>
            </a:r>
          </a:p>
        </p:txBody>
      </p:sp>
      <p:sp>
        <p:nvSpPr>
          <p:cNvPr id="1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7576760F-585C-455A-9486-936A41B35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6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5D07FB92-0A12-4683-8172-304A6283E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17390952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4EEF53AE-5FBF-4D9F-BD33-B5233BAD9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5952D038-5C27-423D-8D06-29084A129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INTERVIEW DEFENSE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3289E25-9B5D-4F37-AA8C-B05EE9D51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How to handle hard objections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C08446B-4B95-4F56-82DC-38F39A6C0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Do not defend everything. Separate what is implemented from what is future architecture.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13DEB3-E839-4115-884C-7934CDACF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6590"/>
            <a:ext cx="813435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D1A921-554A-47F8-B4A5-4463F44E9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71850"/>
            <a:ext cx="7715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This is too static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21EB36-193A-4E8A-8A65-8AEC8593D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77152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Agree. The demo is inspectable. The next version uses AI-proposed graphs with deterministic validation.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81680F-79D6-418F-A9B4-32AF10053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196590"/>
            <a:ext cx="813435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AE64F1-9A81-423F-8DE4-3F21AA645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371850"/>
            <a:ext cx="7715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3A9D6B"/>
                </a:solidFill>
              </a:defRPr>
            </a:pPr>
            <a:r>
              <a:rPr sz="1725" b="1">
                <a:solidFill>
                  <a:srgbClr val="3A9D6B"/>
                </a:solidFill>
              </a:rPr>
              <a:t>This may over-route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6D9178-976D-4FC1-89E1-2949CB5B4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714750"/>
            <a:ext cx="77152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Agree that calibration matters. Track false positives, avoided routing, clinician confirmation, and patient completion.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1ECF6B-0F60-4C60-895F-5C72DA650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79620"/>
            <a:ext cx="813435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C7DEDE-7074-43B1-BD93-6C429ACF4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43450"/>
            <a:ext cx="7715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Memory is dangerous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3BB1D8-A155-44B7-8090-5F62651AE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86350"/>
            <a:ext cx="77152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Agree. Memory cannot authorize action. It only suggests questions, falsifiers, and review targets.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CEF3F7-22AF-467F-8B42-263626CE6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579620"/>
            <a:ext cx="813435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A3FFD4-EAC4-4738-B6F2-A8CA8D728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743450"/>
            <a:ext cx="7715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We already have triage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514F1D-07EB-4753-8745-659A60407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5086350"/>
            <a:ext cx="7715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Good. This layer governs what triage is allowed to infer and do under uncertainty.</a:t>
            </a:r>
          </a:p>
        </p:txBody>
      </p:sp>
      <p:sp>
        <p:nvSpPr>
          <p:cNvPr id="17" name="footer-left">
            <a:extLst xmlns:a="http://schemas.openxmlformats.org/drawingml/2006/main">
              <a:ext uri="{FF2B5EF4-FFF2-40B4-BE49-F238E27FC236}">
                <a16:creationId xmlns:a16="http://schemas.microsoft.com/office/drawing/2014/main" id="{8B9C488D-0E23-43A7-8E46-098CC153C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00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8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6350EFFB-2C5B-4744-9450-E85C69402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6153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195165587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C9DB0358-1511-4151-9D85-7509DE770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E26EB78B-D1C4-49F6-A9C4-FD380E37F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CLOSE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8BF1C2E-0B8D-4D16-B015-67CEABB2B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The ask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C4FCE80B-20F3-4E9F-A134-E5C4E34A1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Use the demo to start a working conversation, not to claim finished production software.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275896-46BC-4A91-AD71-A3121584F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10100"/>
            <a:ext cx="6305550" cy="228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02A43"/>
                </a:solidFill>
              </a:defRPr>
            </a:pPr>
            <a:r>
              <a:rPr sz="3750" b="1">
                <a:solidFill>
                  <a:srgbClr val="102A43"/>
                </a:solidFill>
              </a:rPr>
              <a:t>Where would this boundary layer plug into your highest-leverage workflow?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7D2D03-7ACC-4F8A-ACC0-BDC751674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105650"/>
            <a:ext cx="64008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52677A"/>
                </a:solidFill>
              </a:defRPr>
            </a:pPr>
            <a:r>
              <a:rPr sz="1950">
                <a:solidFill>
                  <a:srgbClr val="52677A"/>
                </a:solidFill>
              </a:rPr>
              <a:t>Refills, low-acuity closure, physician handoff, or post-chat escalation persistence.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206907-BC05-43F3-87F0-9A17C9A85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2030" y="4604385"/>
            <a:ext cx="888492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501FBD-8061-46E9-A17A-3E8452EF6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781550"/>
            <a:ext cx="8458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First 30 days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21F060-7DFD-44D5-B2E9-30A11C125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124450"/>
            <a:ext cx="8458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Shadow-mode one workflow, map failure modes, define metrics, and run historical replay.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2C53E1-8CB1-4178-A8F1-039C664D6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2030" y="5713095"/>
            <a:ext cx="888492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D7CD61-021E-4C9D-BD79-5F45C543B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886450"/>
            <a:ext cx="8458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First 60 days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DD30D0-F157-481A-AEB7-E890FFD09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6229350"/>
            <a:ext cx="8458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Integrate with one intake surface and clinician feedback loop.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231D62-04B7-4C0F-BDE5-1EE8368F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2030" y="6821805"/>
            <a:ext cx="888492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8D167F-0A46-46D4-BF83-1C0D6577C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6991350"/>
            <a:ext cx="8458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725AC1"/>
                </a:solidFill>
              </a:defRPr>
            </a:pPr>
            <a:r>
              <a:rPr sz="1725" b="1">
                <a:solidFill>
                  <a:srgbClr val="725AC1"/>
                </a:solidFill>
              </a:rPr>
              <a:t>First 90 days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5CAEF7-34C2-4873-8AA4-2A1C6136B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7334250"/>
            <a:ext cx="8458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Governed promotion process for new nodes, rules, and memory recalls.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8A103698-D5ED-45DC-B6D2-560838745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5334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Deck sources: app verification, local tests, Fly deployment, and generated demo artifacts.</a:t>
            </a:r>
          </a:p>
        </p:txBody>
      </p:sp>
      <p:sp>
        <p:nvSpPr>
          <p:cNvPr id="17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ECA68970-57FA-47C1-A25B-71FF18315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919196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2026-04-28T11:11:28.0540000Z</dcterms:created>
  <dcterms:modified xsi:type="dcterms:W3CDTF">2026-04-28T11:11:28.0540000Z</dcterms:modified>
</coreProperties>
</file>