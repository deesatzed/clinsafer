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df86528e2a43d4" /><Relationship Type="http://schemas.openxmlformats.org/officeDocument/2006/relationships/extended-properties" Target="/docProps/app.xml" Id="R0b1510fce57f42eb" /><Relationship Type="http://schemas.openxmlformats.org/officeDocument/2006/relationships/officeDocument" Target="/ppt/presentation.xml" Id="R883b008827f94d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792f44d48e4db5"/>
  </p:sldMasterIdLst>
  <p:notesMasterIdLst>
    <p:notesMasterId xmlns:r="http://schemas.openxmlformats.org/officeDocument/2006/relationships" r:id="R2acac280b647457f"/>
  </p:notesMasterIdLst>
  <p:sldIdLst>
    <p:sldId xmlns:r="http://schemas.openxmlformats.org/officeDocument/2006/relationships" id="256" r:id="R8d6b89053b524b6b"/>
    <p:sldId xmlns:r="http://schemas.openxmlformats.org/officeDocument/2006/relationships" id="257" r:id="R1b7a1fbdf9a24d67"/>
    <p:sldId xmlns:r="http://schemas.openxmlformats.org/officeDocument/2006/relationships" id="258" r:id="Rc8310eb544264791"/>
    <p:sldId xmlns:r="http://schemas.openxmlformats.org/officeDocument/2006/relationships" id="259" r:id="R15089ea6497f43f4"/>
    <p:sldId xmlns:r="http://schemas.openxmlformats.org/officeDocument/2006/relationships" id="260" r:id="R9be3fa7f55ef44b2"/>
    <p:sldId xmlns:r="http://schemas.openxmlformats.org/officeDocument/2006/relationships" id="261" r:id="R698c26104fad4f85"/>
    <p:sldId xmlns:r="http://schemas.openxmlformats.org/officeDocument/2006/relationships" id="262" r:id="Rda2c3b63f61b430e"/>
    <p:sldId xmlns:r="http://schemas.openxmlformats.org/officeDocument/2006/relationships" id="263" r:id="R7eb85b06fc6d4fbe"/>
    <p:sldId xmlns:r="http://schemas.openxmlformats.org/officeDocument/2006/relationships" id="264" r:id="R20008c99ea384e07"/>
    <p:sldId xmlns:r="http://schemas.openxmlformats.org/officeDocument/2006/relationships" id="265" r:id="R750ba3b28b5048e8"/>
    <p:sldId xmlns:r="http://schemas.openxmlformats.org/officeDocument/2006/relationships" id="266" r:id="R68c5038c80234835"/>
    <p:sldId xmlns:r="http://schemas.openxmlformats.org/officeDocument/2006/relationships" id="267" r:id="R76ddb4f8e0a0418d"/>
    <p:sldId xmlns:r="http://schemas.openxmlformats.org/officeDocument/2006/relationships" id="268" r:id="R42584fab7a87419e"/>
    <p:sldId xmlns:r="http://schemas.openxmlformats.org/officeDocument/2006/relationships" id="269" r:id="R7fd2ff7e30854f2f"/>
    <p:sldId xmlns:r="http://schemas.openxmlformats.org/officeDocument/2006/relationships" id="270" r:id="R7a0bcd8db9c44c41"/>
    <p:sldId xmlns:r="http://schemas.openxmlformats.org/officeDocument/2006/relationships" id="271" r:id="Rcdeab7797518410d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792f44d48e4db5" /><Relationship Type="http://schemas.openxmlformats.org/officeDocument/2006/relationships/theme" Target="/ppt/theme/theme1.xml" Id="R03fae1f6a3d74ea3" /><Relationship Type="http://schemas.openxmlformats.org/officeDocument/2006/relationships/notesMaster" Target="/ppt/notesMasters/notesMaster1.xml" Id="R2acac280b647457f" /><Relationship Type="http://schemas.openxmlformats.org/officeDocument/2006/relationships/presProps" Target="/ppt/presProps.xml" Id="R1c4c2bf2e7294d05" /><Relationship Type="http://schemas.openxmlformats.org/officeDocument/2006/relationships/viewProps" Target="/ppt/viewProps.xml" Id="R40587583e479490f" /><Relationship Type="http://schemas.openxmlformats.org/officeDocument/2006/relationships/tableStyles" Target="/ppt/tableStyles.xml" Id="Rc721e3eeb0de4f8c" /><Relationship Type="http://schemas.openxmlformats.org/officeDocument/2006/relationships/slide" Target="/ppt/slides/slide1.xml" Id="R8d6b89053b524b6b" /><Relationship Type="http://schemas.openxmlformats.org/officeDocument/2006/relationships/slide" Target="/ppt/slides/slide2.xml" Id="R1b7a1fbdf9a24d67" /><Relationship Type="http://schemas.openxmlformats.org/officeDocument/2006/relationships/slide" Target="/ppt/slides/slide3.xml" Id="Rc8310eb544264791" /><Relationship Type="http://schemas.openxmlformats.org/officeDocument/2006/relationships/slide" Target="/ppt/slides/slide4.xml" Id="R15089ea6497f43f4" /><Relationship Type="http://schemas.openxmlformats.org/officeDocument/2006/relationships/slide" Target="/ppt/slides/slide5.xml" Id="R9be3fa7f55ef44b2" /><Relationship Type="http://schemas.openxmlformats.org/officeDocument/2006/relationships/slide" Target="/ppt/slides/slide6.xml" Id="R698c26104fad4f85" /><Relationship Type="http://schemas.openxmlformats.org/officeDocument/2006/relationships/slide" Target="/ppt/slides/slide7.xml" Id="Rda2c3b63f61b430e" /><Relationship Type="http://schemas.openxmlformats.org/officeDocument/2006/relationships/slide" Target="/ppt/slides/slide8.xml" Id="R7eb85b06fc6d4fbe" /><Relationship Type="http://schemas.openxmlformats.org/officeDocument/2006/relationships/slide" Target="/ppt/slides/slide9.xml" Id="R20008c99ea384e07" /><Relationship Type="http://schemas.openxmlformats.org/officeDocument/2006/relationships/slide" Target="/ppt/slides/slide10.xml" Id="R750ba3b28b5048e8" /><Relationship Type="http://schemas.openxmlformats.org/officeDocument/2006/relationships/slide" Target="/ppt/slides/slide11.xml" Id="R68c5038c80234835" /><Relationship Type="http://schemas.openxmlformats.org/officeDocument/2006/relationships/slide" Target="/ppt/slides/slide12.xml" Id="R76ddb4f8e0a0418d" /><Relationship Type="http://schemas.openxmlformats.org/officeDocument/2006/relationships/slide" Target="/ppt/slides/slide13.xml" Id="R42584fab7a87419e" /><Relationship Type="http://schemas.openxmlformats.org/officeDocument/2006/relationships/slide" Target="/ppt/slides/slide14.xml" Id="R7fd2ff7e30854f2f" /><Relationship Type="http://schemas.openxmlformats.org/officeDocument/2006/relationships/slide" Target="/ppt/slides/slide15.xml" Id="R7a0bcd8db9c44c41" /><Relationship Type="http://schemas.openxmlformats.org/officeDocument/2006/relationships/slide" Target="/ppt/slides/slide16.xml" Id="Rcdeab779751841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a5a69a3b21d4b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c2f68decee4252" /><Relationship Type="http://schemas.openxmlformats.org/officeDocument/2006/relationships/notesMaster" Target="/ppt/notesMasters/notesMaster1.xml" Id="R135f4eb4926442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10b4a503e545d4" /><Relationship Type="http://schemas.openxmlformats.org/officeDocument/2006/relationships/notesMaster" Target="/ppt/notesMasters/notesMaster1.xml" Id="Rfc6dbfee4d284c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d339a380104b7c" /><Relationship Type="http://schemas.openxmlformats.org/officeDocument/2006/relationships/notesMaster" Target="/ppt/notesMasters/notesMaster1.xml" Id="R47d07d8249ad4b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78ac8b87664d5f" /><Relationship Type="http://schemas.openxmlformats.org/officeDocument/2006/relationships/notesMaster" Target="/ppt/notesMasters/notesMaster1.xml" Id="Rf6a50eb56e944c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728cf448eb47c7" /><Relationship Type="http://schemas.openxmlformats.org/officeDocument/2006/relationships/notesMaster" Target="/ppt/notesMasters/notesMaster1.xml" Id="Rf6b66448d7ed4d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51ef57c15a4133" /><Relationship Type="http://schemas.openxmlformats.org/officeDocument/2006/relationships/notesMaster" Target="/ppt/notesMasters/notesMaster1.xml" Id="R10ef3cd4a39b41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3cca3420004957" /><Relationship Type="http://schemas.openxmlformats.org/officeDocument/2006/relationships/notesMaster" Target="/ppt/notesMasters/notesMaster1.xml" Id="Rcf9d848fbc9e4f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e3109d891c491c" /><Relationship Type="http://schemas.openxmlformats.org/officeDocument/2006/relationships/notesMaster" Target="/ppt/notesMasters/notesMaster1.xml" Id="Rd7e6a8ec4ada4d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75a5bf42e949c6" /><Relationship Type="http://schemas.openxmlformats.org/officeDocument/2006/relationships/notesMaster" Target="/ppt/notesMasters/notesMaster1.xml" Id="R2d658a7a9a03498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480776ff834b6e" /><Relationship Type="http://schemas.openxmlformats.org/officeDocument/2006/relationships/notesMaster" Target="/ppt/notesMasters/notesMaster1.xml" Id="Ra0428244d1fd4d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a37f0332684f5f" /><Relationship Type="http://schemas.openxmlformats.org/officeDocument/2006/relationships/notesMaster" Target="/ppt/notesMasters/notesMaster1.xml" Id="R5f5466924da341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dbb05881a44202" /><Relationship Type="http://schemas.openxmlformats.org/officeDocument/2006/relationships/notesMaster" Target="/ppt/notesMasters/notesMaster1.xml" Id="R144ae561dee843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457f9fb6074413" /><Relationship Type="http://schemas.openxmlformats.org/officeDocument/2006/relationships/notesMaster" Target="/ppt/notesMasters/notesMaster1.xml" Id="Rae40b43da5ae4d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932a9de1754e2e" /><Relationship Type="http://schemas.openxmlformats.org/officeDocument/2006/relationships/notesMaster" Target="/ppt/notesMasters/notesMaster1.xml" Id="Rb38025502b2f410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fdb3abe2b684480" /><Relationship Type="http://schemas.openxmlformats.org/officeDocument/2006/relationships/notesMaster" Target="/ppt/notesMasters/notesMaster1.xml" Id="Re9590a4dc85b47c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766c9ddfc447a1" /><Relationship Type="http://schemas.openxmlformats.org/officeDocument/2006/relationships/notesMaster" Target="/ppt/notesMasters/notesMaster1.xml" Id="R78ebe51b02b348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humility. Do not imply the team lacks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"I am assuming your team already has strong AI doctor, triage, escalation, and telemedicine infrastructure."</a:t>
            </a:r>
          </a:p>
          <a:p xmlns:a="http://schemas.openxmlformats.org/drawingml/2006/main">
            <a:r>
              <a:t>- "This is a layer around that: what the AI is allowed to infer, what remains unknown, and when autonomy should be capped."</a:t>
            </a:r>
          </a:p>
          <a:p xmlns:a="http://schemas.openxmlformats.org/drawingml/2006/main">
            <a:r>
              <a:t>- "The point of the deck is to orient the demo; the live app is the proof."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for this slide: position yourself as additive, not adversarial.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"At this scale, even a small autonomy-boundary issue matters operationally."</a:t>
            </a:r>
          </a:p>
          <a:p xmlns:a="http://schemas.openxmlformats.org/drawingml/2006/main">
            <a:r>
              <a:t>- "If a patient minimizes because of cost, shame, fear, misunderstanding, anxiety framing, or stoic denial, the AI conversation itself becomes part of the risk."</a:t>
            </a:r>
          </a:p>
          <a:p xmlns:a="http://schemas.openxmlformats.org/drawingml/2006/main">
            <a:r>
              <a:t>- "That is where I think this layer fits: not replacing internal reasoning, but governing its action boundary."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core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am not trying to win a differential diagnosis contest."</a:t>
            </a:r>
          </a:p>
          <a:p xmlns:a="http://schemas.openxmlformats.org/drawingml/2006/main">
            <a:r>
              <a:t>- "The system should know what it knows, what it inferred, what it did not ask, and what it cannot know remotely."</a:t>
            </a:r>
          </a:p>
          <a:p xmlns:a="http://schemas.openxmlformats.org/drawingml/2006/main">
            <a:r>
              <a:t>- "That determines whether autonomy is appropriate."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good place to say "interpretation boundary" out 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path:</a:t>
            </a:r>
          </a:p>
          <a:p xmlns:a="http://schemas.openxmlformats.org/drawingml/2006/main">
            <a:r>
              <a:t>1. Open https://clinsafer.fly.dev</a:t>
            </a:r>
          </a:p>
          <a:p xmlns:a="http://schemas.openxmlformats.org/drawingml/2006/main">
            <a:r>
              <a:t>2. Use "Show Cost-Fear Case" first.</a:t>
            </a:r>
          </a:p>
          <a:p xmlns:a="http://schemas.openxmlformats.org/drawingml/2006/main">
            <a:r>
              <a:t>3. Optional: click Paste Transcript and import a short real encounter.</a:t>
            </a:r>
          </a:p>
          <a:p xmlns:a="http://schemas.openxmlformats.org/drawingml/2006/main">
            <a:r>
              <a:t>4. Analyze.</a:t>
            </a:r>
          </a:p>
          <a:p xmlns:a="http://schemas.openxmlformats.org/drawingml/2006/main">
            <a:r>
              <a:t>5. Stop on Statement vs Fact and Provenance &amp; Authority.</a:t>
            </a:r>
          </a:p>
          <a:p xmlns:a="http://schemas.openxmlformats.org/drawingml/2006/main">
            <a:r>
              <a:t>6. Open Final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he asks for a real encounter: paste it. The app now parses Q/A and speaker-labeled transcripts, leaves turns editable, infers concepts if blank, and shows an Input Coverage Audit proving each line was used, mapped, routed, or held for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practical demo safety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"If you give me a small de-identified encounter fragment, I can paste it here."</a:t>
            </a:r>
          </a:p>
          <a:p xmlns:a="http://schemas.openxmlformats.org/drawingml/2006/main">
            <a:r>
              <a:t>- "The UI will show a live input parsed proof line so it is obvious that the encounter changed."</a:t>
            </a:r>
          </a:p>
          <a:p xmlns:a="http://schemas.openxmlformats.org/drawingml/2006/main">
            <a:r>
              <a:t>- "Concepts can be blank. The engine infers the likely slot from the question and answer."</a:t>
            </a:r>
          </a:p>
          <a:p xmlns:a="http://schemas.openxmlformats.org/drawingml/2006/main">
            <a:r>
              <a:t>- "The Input Coverage Audit is the proof that no line quietly disappears."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Caution: ask for de-identified text only. Avoid PHI in an interview.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explanation:</a:t>
            </a:r>
          </a:p>
          <a:p xmlns:a="http://schemas.openxmlformats.org/drawingml/2006/main">
            <a:r>
              <a:t>- Patient statements become observations with source confidence and trap tags.</a:t>
            </a:r>
          </a:p>
          <a:p xmlns:a="http://schemas.openxmlformats.org/drawingml/2006/main">
            <a:r>
              <a:t>- JRE evaluates readiness: missingness, distortion, contradiction, red flags, objective needs, remote boundaries.</a:t>
            </a:r>
          </a:p>
          <a:p xmlns:a="http://schemas.openxmlformats.org/drawingml/2006/main">
            <a:r>
              <a:t>- Black Swan Guard checks assumptions: identity/proxy, communication channel, envelope fit, source integrity, sentinel risk.</a:t>
            </a:r>
          </a:p>
          <a:p xmlns:a="http://schemas.openxmlformats.org/drawingml/2006/main">
            <a:r>
              <a:t>- LLM findings are advisory candidate signals. They cannot authorize or hard-stop.</a:t>
            </a:r>
          </a:p>
          <a:p xmlns:a="http://schemas.openxmlformats.org/drawingml/2006/main">
            <a:r>
              <a:t>- The final state is the most restrictive of JRE and guardrail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phrase: "The LLM proposes. Governed software disposes."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anticipates the "LLMs are unsafe" objection.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"Every visible signal has provenance and authority."</a:t>
            </a:r>
          </a:p>
          <a:p xmlns:a="http://schemas.openxmlformats.org/drawingml/2006/main">
            <a:r>
              <a:t>- "The LLM is useful, but it is not allowed to make the final autonomy decision."</a:t>
            </a:r>
          </a:p>
          <a:p xmlns:a="http://schemas.openxmlformats.org/drawingml/2006/main">
            <a:r>
              <a:t>- "Memory is also bounded. It can suggest but not authorize."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why this matters:</a:t>
            </a:r>
          </a:p>
          <a:p xmlns:a="http://schemas.openxmlformats.org/drawingml/2006/main">
            <a:r>
              <a:t>- "Without provenance, a clinician or regulator cannot tell whether a decision came from a validated rule, a model hunch, or a memory prior."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When you click Final Recommendations in the app, frame it as the conversion from analysis into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Emphasize:</a:t>
            </a:r>
          </a:p>
          <a:p xmlns:a="http://schemas.openxmlformats.org/drawingml/2006/main">
            <a:r>
              <a:t>- "This is not just explainability. It is operational instruction."</a:t>
            </a:r>
          </a:p>
          <a:p xmlns:a="http://schemas.openxmlformats.org/drawingml/2006/main">
            <a:r>
              <a:t>- "The page distinguishes patient language, human defense patterns, clinical handoff, governance actions, and quality metrics."</a:t>
            </a:r>
          </a:p>
          <a:p xmlns:a="http://schemas.openxmlformats.org/drawingml/2006/main">
            <a:r>
              <a:t>- "This helps with safety, physician efficiency, and patient trust."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not overstate that the patient copy is final clinical guidance. Say it is a demo draft requiring product/clinical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technical audience is skeptical.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real piece is the governed analysis and live UI."</a:t>
            </a:r>
          </a:p>
          <a:p xmlns:a="http://schemas.openxmlformats.org/drawingml/2006/main">
            <a:r>
              <a:t>- "The memory layer is intentionally described as a prototype hook."</a:t>
            </a:r>
          </a:p>
          <a:p xmlns:a="http://schemas.openxmlformats.org/drawingml/2006/main">
            <a:r>
              <a:t>- "I would not deploy online memory without outcome governance and simulation."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honesty is a strength. It avoids sounding like you are selling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first case: cost-fear minimizes alarm.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Why:</a:t>
            </a:r>
          </a:p>
          <a:p xmlns:a="http://schemas.openxmlformats.org/drawingml/2006/main">
            <a:r>
              <a:t>- It is subtle enough for a physician.</a:t>
            </a:r>
          </a:p>
          <a:p xmlns:a="http://schemas.openxmlformats.org/drawingml/2006/main">
            <a:r>
              <a:t>- It is business-relevant without sounding mercenary.</a:t>
            </a:r>
          </a:p>
          <a:p xmlns:a="http://schemas.openxmlformats.org/drawingml/2006/main">
            <a:r>
              <a:t>- It shows patient behavior shaping the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 case if they ask about real-world subtlety: embarrassment curbs history.</a:t>
            </a:r>
          </a:p>
          <a:p xmlns:a="http://schemas.openxmlformats.org/drawingml/2006/main">
            <a:r>
              <a:t>- It shows shame, fear of a bad outcome, misconstrued medical facts, and chart anxiety distorting the history before the model reasons over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 case if they ask what "human" means beyond embarrassment: defense pattern distortion.</a:t>
            </a:r>
          </a:p>
          <a:p xmlns:a="http://schemas.openxmlformats.org/drawingml/2006/main">
            <a:r>
              <a:t>- It bridges anxious somatic amplification/reassurance seeking and stoic minimization/denial without using stigmatizing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care about prescriptions/refills, switch to the stale ACE/CKD/NSAID refill case.</a:t>
            </a:r>
          </a:p>
          <a:p xmlns:a="http://schemas.openxmlformats.org/drawingml/2006/main">
            <a:r>
              <a:t>If they care about caregiver workflows, use caregiver conflict.</a:t>
            </a:r>
          </a:p>
          <a:p xmlns:a="http://schemas.openxmlformats.org/drawingml/2006/main">
            <a:r>
              <a:t>If they care about documentation integrity, use unasked-is-not-denied.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connect medicine and business without making it sound like safety is secondary.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product win is safe automation."</a:t>
            </a:r>
          </a:p>
          <a:p xmlns:a="http://schemas.openxmlformats.org/drawingml/2006/main">
            <a:r>
              <a:t>- "Sometimes the right answer is route now. Sometimes the right answer is ask one better question and avoid unnecessary routing."</a:t>
            </a:r>
          </a:p>
          <a:p xmlns:a="http://schemas.openxmlformats.org/drawingml/2006/main">
            <a:r>
              <a:t>- "Both matter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challenged:</a:t>
            </a:r>
          </a:p>
          <a:p xmlns:a="http://schemas.openxmlformats.org/drawingml/2006/main">
            <a:r>
              <a:t>- "I would measure confirmation rate, false positive escalations, avoidable routing prevented, patient completion after escalation, and clinician correction rate."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brag slide. It is a bridge from demo to interview.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"What I wanted to show is how I think."</a:t>
            </a:r>
          </a:p>
          <a:p xmlns:a="http://schemas.openxmlformats.org/drawingml/2006/main">
            <a:r>
              <a:t>- "At healthcare AI scale, medicine, business, risk, and engineering are not separate problems."</a:t>
            </a:r>
          </a:p>
          <a:p xmlns:a="http://schemas.openxmlformats.org/drawingml/2006/main">
            <a:r>
              <a:t>- "I can work across those surfaces and still build working software."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it calm. Let the app be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your mental checklist, not necessarily as something to present.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Important tone:</a:t>
            </a:r>
          </a:p>
          <a:p xmlns:a="http://schemas.openxmlformats.org/drawingml/2006/main">
            <a:r>
              <a:t>- Never say "you probably do not have this."</a:t>
            </a:r>
          </a:p>
          <a:p xmlns:a="http://schemas.openxmlformats.org/drawingml/2006/main">
            <a:r>
              <a:t>- Say "I do not know your internal safeguards, so I built the kind of layer I would look for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asked where you would start:</a:t>
            </a:r>
          </a:p>
          <a:p xmlns:a="http://schemas.openxmlformats.org/drawingml/2006/main">
            <a:r>
              <a:t>- "Pick one workflow with clear value and measurable risk, likely prescription renewal or low-acuity closure. Run shadow mode against historical cases first."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they ask for architecture details:</a:t>
            </a:r>
          </a:p>
          <a:p xmlns:a="http://schemas.openxmlformats.org/drawingml/2006/main">
            <a:r>
              <a:t>- Input schema: patient_context plus statements with question, answer, concept, source, metadata.</a:t>
            </a:r>
          </a:p>
          <a:p xmlns:a="http://schemas.openxmlformats.org/drawingml/2006/main">
            <a:r>
              <a:t>- Extraction: normalize, infer concept if blank, assign source confidence, apply trap priors.</a:t>
            </a:r>
          </a:p>
          <a:p xmlns:a="http://schemas.openxmlformats.org/drawingml/2006/main">
            <a:r>
              <a:t>- JRE: produces observations, findings, JRI, next questions.</a:t>
            </a:r>
          </a:p>
          <a:p xmlns:a="http://schemas.openxmlformats.org/drawingml/2006/main">
            <a:r>
              <a:t>- BSG: evaluates assumptions and max autonomy tier.</a:t>
            </a:r>
          </a:p>
          <a:p xmlns:a="http://schemas.openxmlformats.org/drawingml/2006/main">
            <a:r>
              <a:t>- Governor: most restrictive state wins.</a:t>
            </a:r>
          </a:p>
          <a:p xmlns:a="http://schemas.openxmlformats.org/drawingml/2006/main">
            <a:r>
              <a:t>- LLM: separate /demo/llm-analyze endpoint, async in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about distributions:</a:t>
            </a:r>
          </a:p>
          <a:p xmlns:a="http://schemas.openxmlformats.org/drawingml/2006/main">
            <a:r>
              <a:t>- Current demo uses bounded deterministic confidence and severity, not full probabilistic distributions.</a:t>
            </a:r>
          </a:p>
          <a:p xmlns:a="http://schemas.openxmlformats.org/drawingml/2006/main">
            <a:r>
              <a:t>- Next version would have AI-proposed node ranges and distributions validated against governed templates and calibration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anti-fragile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pattern:</a:t>
            </a:r>
          </a:p>
          <a:p xmlns:a="http://schemas.openxmlformats.org/drawingml/2006/main">
            <a:r>
              <a:t>1. Agree with the serious part of the objection.</a:t>
            </a:r>
          </a:p>
          <a:p xmlns:a="http://schemas.openxmlformats.org/drawingml/2006/main">
            <a:r>
              <a:t>2. Clarify the boundary.</a:t>
            </a:r>
          </a:p>
          <a:p xmlns:a="http://schemas.openxmlformats.org/drawingml/2006/main">
            <a:r>
              <a:t>3. Say how production would validate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Example:</a:t>
            </a:r>
          </a:p>
          <a:p xmlns:a="http://schemas.openxmlformats.org/drawingml/2006/main">
            <a:r>
              <a:t>- "Yes, a static rule system cannot cover all medicine. That is why I would not scale it by hand-writing templates. I would use AI to propose the expert-system graph, then validate and execute it with governed deterministic software."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collaborative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would love to understand where this kind of boundary layer would matter most inside your current system."</a:t>
            </a:r>
          </a:p>
          <a:p xmlns:a="http://schemas.openxmlformats.org/drawingml/2006/main">
            <a:r>
              <a:t>- "I am not asking you to accept this exact implementation. I am showing the way I think and what I can build."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 interview goes well, offer a specific next step:</a:t>
            </a:r>
          </a:p>
          <a:p xmlns:a="http://schemas.openxmlformats.org/drawingml/2006/main">
            <a:r>
              <a:t>- "Give me one de-identified failure mode or tricky workflow and I can show how I would map it into this boundary framework."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97eb7346e427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4534952f7f949f3" /><Relationship Type="http://schemas.openxmlformats.org/officeDocument/2006/relationships/slideLayout" Target="/ppt/slideLayouts/slideLayout2.xml" Id="R95a354ce51a34c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a354ce51a34c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6462cb9a874980" /><Relationship Type="http://schemas.openxmlformats.org/officeDocument/2006/relationships/notesSlide" Target="/ppt/notesSlides/notesSlide1.xml" Id="R087ce5f080ed4d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6f444c1e8d4053" /><Relationship Type="http://schemas.openxmlformats.org/officeDocument/2006/relationships/notesSlide" Target="/ppt/notesSlides/notesSlide2.xml" Id="R28752825b13f47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eacf7e613f4129" /><Relationship Type="http://schemas.openxmlformats.org/officeDocument/2006/relationships/notesSlide" Target="/ppt/notesSlides/notesSlide3.xml" Id="R6b7ec98d07824b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900a2a474a4ed3" /><Relationship Type="http://schemas.openxmlformats.org/officeDocument/2006/relationships/notesSlide" Target="/ppt/notesSlides/notesSlide4.xml" Id="R357ae2e6b4b445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3cc3d25a9a47bd" /><Relationship Type="http://schemas.openxmlformats.org/officeDocument/2006/relationships/notesSlide" Target="/ppt/notesSlides/notesSlide5.xml" Id="R102350088bfd49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fb2cf8080c4349" /><Relationship Type="http://schemas.openxmlformats.org/officeDocument/2006/relationships/notesSlide" Target="/ppt/notesSlides/notesSlide6.xml" Id="R8a6bdee3cb8946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9f77c0dd5b4b0a" /><Relationship Type="http://schemas.openxmlformats.org/officeDocument/2006/relationships/notesSlide" Target="/ppt/notesSlides/notesSlide7.xml" Id="R479fe81faf1142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2395fe1411433c" /><Relationship Type="http://schemas.openxmlformats.org/officeDocument/2006/relationships/notesSlide" Target="/ppt/notesSlides/notesSlide8.xml" Id="R6357f733ec4843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fa377ff9e446d0" /><Relationship Type="http://schemas.openxmlformats.org/officeDocument/2006/relationships/notesSlide" Target="/ppt/notesSlides/notesSlide9.xml" Id="R81388c46dfc84e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8ea41dbbf440a5" /><Relationship Type="http://schemas.openxmlformats.org/officeDocument/2006/relationships/notesSlide" Target="/ppt/notesSlides/notesSlide10.xml" Id="R8dc9e52703604e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202aee8f0e4d3f" /><Relationship Type="http://schemas.openxmlformats.org/officeDocument/2006/relationships/notesSlide" Target="/ppt/notesSlides/notesSlide11.xml" Id="R8645e7a9e00a49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6ea917063246c0" /><Relationship Type="http://schemas.openxmlformats.org/officeDocument/2006/relationships/notesSlide" Target="/ppt/notesSlides/notesSlide12.xml" Id="Rb9fc31a24263401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bdf0aa5893446f" /><Relationship Type="http://schemas.openxmlformats.org/officeDocument/2006/relationships/notesSlide" Target="/ppt/notesSlides/notesSlide13.xml" Id="Ra3286e80ccca49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3984172a7749ce" /><Relationship Type="http://schemas.openxmlformats.org/officeDocument/2006/relationships/notesSlide" Target="/ppt/notesSlides/notesSlide14.xml" Id="R20488f34d1e0445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0d8418f74a4bda" /><Relationship Type="http://schemas.openxmlformats.org/officeDocument/2006/relationships/notesSlide" Target="/ppt/notesSlides/notesSlide15.xml" Id="R80f110608da649c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cb5875b9dd4c9d" /><Relationship Type="http://schemas.openxmlformats.org/officeDocument/2006/relationships/notesSlide" Target="/ppt/notesSlides/notesSlide16.xml" Id="Re34fd5afae884d3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stage">
            <a:extLst xmlns:a="http://schemas.openxmlformats.org/drawingml/2006/main">
              <a:ext uri="{FF2B5EF4-FFF2-40B4-BE49-F238E27FC236}">
                <a16:creationId xmlns:a16="http://schemas.microsoft.com/office/drawing/2014/main" id="{69920191-57C6-483B-81F9-76500693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968C1-CC9C-4A49-A4DC-60AEA4A8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9582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ClinSafer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24EB365-E349-454A-AF10-AD48E347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92011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102A43"/>
                </a:solidFill>
              </a:defRPr>
            </a:pPr>
            <a:r>
              <a:rPr sz="6900" b="1">
                <a:solidFill>
                  <a:srgbClr val="102A43"/>
                </a:solidFill>
              </a:rPr>
              <a:t>Autonomy boundaries for AI medicine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D1816-B25F-4578-8DEB-842A2E41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293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04D"/>
          </a:solidFill>
          <a:ln xmlns:a="http://schemas.openxmlformats.org/drawingml/2006/main" w="0">
            <a:solidFill>
              <a:srgbClr val="E260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A7206-43AB-4825-82FE-D29C21E7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8286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2677A"/>
                </a:solidFill>
              </a:defRPr>
            </a:pPr>
            <a:r>
              <a:rPr sz="2325">
                <a:solidFill>
                  <a:srgbClr val="52677A"/>
                </a:solidFill>
              </a:rPr>
              <a:t>A live interview demo for showing how messy patient language becomes governed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233A1-FAE4-4939-BA7C-3320EA8C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4193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6E3DA8-FA06-46BF-92AD-B50D1880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71850"/>
            <a:ext cx="2743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synthetic cases in the live library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B0B3F-1522-4C5A-9415-70910C9F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07670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333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DB5F4-81DB-4C0A-B200-AD5DE1C1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29200"/>
            <a:ext cx="2533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passing tests after final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4A771B-7F4E-414E-9985-7BA1940C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7340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53A04D-7A18-4E57-872F-51358165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6675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most-restrictive governor decides 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F8CB1-97B0-4245-982A-5B2A2F77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2392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77A"/>
                </a:solidFill>
              </a:defRPr>
            </a:pPr>
            <a:r>
              <a:rPr sz="1350">
                <a:solidFill>
                  <a:srgbClr val="52677A"/>
                </a:solidFill>
              </a:rPr>
              <a:t>Prepared for an AI healthcare interview conversation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34772C-6F0A-4849-AC7B-513A0281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467850"/>
            <a:ext cx="2038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app: 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50622115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67CE4638-CF72-454B-807E-8F1ACF0D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76ED70F-CAC0-414A-A2C8-D51F6AE3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WHY THIS AUDIENCE SHOULD CARE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64B4CE-EBF4-4409-B8F5-BC976292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Healthcare AI scale changes the safety problem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6F48DC3-6CC8-4B64-AB09-F12DADAF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At consumer scale, the hard failures are often not obvious triage misses. They are inference, workflow, and autonomy-boundary failures.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204FE-D5D0-45F9-9C3C-FC07A35E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77914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2A43"/>
                </a:solidFill>
              </a:defRPr>
            </a:pPr>
            <a:r>
              <a:rPr sz="4050" b="1">
                <a:solidFill>
                  <a:srgbClr val="102A43"/>
                </a:solidFill>
              </a:rPr>
              <a:t>The product question is not just diagnosis.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A6B3D-72E7-48F2-958F-49EE13E8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10350"/>
            <a:ext cx="8229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52677A"/>
                </a:solidFill>
              </a:defRPr>
            </a:pPr>
            <a:r>
              <a:rPr sz="2400">
                <a:solidFill>
                  <a:srgbClr val="52677A"/>
                </a:solidFill>
              </a:rPr>
              <a:t>It is whether the system has enough reliable evidence to act, reassure, refill, route, or stop.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28E2F-F135-41D0-B13F-159D2D4F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9243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9A936-E092-4F70-988A-185F723A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76800"/>
            <a:ext cx="3086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high-volume patient-facing AI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B532E-3A89-422C-A111-A5A47C56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65785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FA8D8D-D721-4FCF-BCC8-84DED0BE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6103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low-friction clinician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F53B4E-FE0F-4AA2-8757-C12DB530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71628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725AC1"/>
                </a:solidFill>
              </a:defRPr>
            </a:pPr>
            <a:r>
              <a:rPr sz="5850" b="1">
                <a:solidFill>
                  <a:srgbClr val="725AC1"/>
                </a:solidFill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41669C-68B7-40D5-B06D-BCC58244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8096250"/>
            <a:ext cx="2990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governed permission to act or stop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1B87324-8BF2-4633-876A-73156525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82150"/>
            <a:ext cx="4419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Sources: live ClinSafer app, local test suite, and generated demo artifacts.</a:t>
            </a:r>
          </a:p>
        </p:txBody>
      </p:sp>
      <p:sp>
        <p:nvSpPr>
          <p:cNvPr id="1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9D51C5E-00FA-41FE-94D0-937E970F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2120864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B5F98A42-862C-48BB-8C3C-AAA9C0FE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176E832-F02C-4089-B5E8-BC9D9676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ONE SENTENCE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484CC0-E4FD-4D4D-BE61-8E577AD7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thesis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E5003A5-DD30-49CA-AE37-E9CDFFC8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Messy language needs an autonomy governor, not just a smarter answer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204AC-4442-4304-96DA-DB64D538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85E69-7BED-488E-8F15-A67F4FEE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What was said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68DF2-B136-4693-8C07-4DA7B2E4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statements, denials, goals, barriers, source, freshness.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9333A-A003-4097-8B15-E47AA77B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635F3-29DD-470E-B07F-157DC3E3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What can be inferred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DD25C-AA4D-4239-8216-53942837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Only bounded interpretations with confidence, provenance, and close-boundary questions.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55A33-70DE-440F-AB6C-1BDB9C1C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75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C93A0-96DC-49AE-86AB-4B4C5F3F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What cannot be assumed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E69919-3AF9-4FC7-BABF-C9FB4403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Unasked symptoms, stale data, remote-unknowable findings, coercion, contradiction.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A3BDFF-659B-4AC3-9B95-EA649DFB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The demo is about safe permission to act, not diagnosis prediction.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755B0F5-EDEB-4281-A8F5-71C73D91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00C2DAE-4158-4AC8-A464-BCD5C0DC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4483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4521353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ADA7D6BC-C614-4BFB-8992-1FA45A35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766C007-2494-4931-9C2D-FD9D4D47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HOW TO RUN IT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FD8048-5CBF-440C-B2A9-EB1B940E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Seven-minute live demo path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276FE7A-FBC0-445C-99D3-3423F0D1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Keep the interview on the product idea. Do not wander through the whole case library.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161624-3A9A-4333-BE2C-34195FB4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08756F"/>
                </a:solidFill>
              </a:defRPr>
            </a:pPr>
            <a:r>
              <a:rPr sz="5550" b="1">
                <a:solidFill>
                  <a:srgbClr val="0875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D11E3C-D5EE-40DF-A1BF-A12BE001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Pick or paste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E6C21-63BA-4D6D-9A87-9A34BBDF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Use cost-fear case or real encounter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2236D-6EAB-422C-9959-0C48E0E5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2364AA"/>
                </a:solidFill>
              </a:defRPr>
            </a:pPr>
            <a:r>
              <a:rPr sz="5550" b="1">
                <a:solidFill>
                  <a:srgbClr val="2364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2629B-42BB-4ED5-BDDC-778A9487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Analyze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42824C-3B60-4D81-851F-C5D94345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JRE and Black Swan Guard run deterministically.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C30E7-F6A8-44C5-AA78-8D295197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725AC1"/>
                </a:solidFill>
              </a:defRPr>
            </a:pPr>
            <a:r>
              <a:rPr sz="5550" b="1">
                <a:solidFill>
                  <a:srgbClr val="725AC1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0629A-C7EB-465A-AFA6-EAF4AF4A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Inspect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D1D1C-13B5-42DB-BFB9-E25A3799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Statement vs Fact and Provenance show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B56DED-832D-42A5-B863-ED8F9BC4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E2604D"/>
                </a:solidFill>
              </a:defRPr>
            </a:pPr>
            <a:r>
              <a:rPr sz="5550" b="1">
                <a:solidFill>
                  <a:srgbClr val="E2604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A383-CE17-471D-882A-84CBD039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5C5E58-F329-4678-A255-6D50162D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 restrictive governor caps autonomy.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CE395-C2CF-4EFB-8F75-52C0484F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3A9D6B"/>
                </a:solidFill>
              </a:defRPr>
            </a:pPr>
            <a:r>
              <a:rPr sz="5550" b="1">
                <a:solidFill>
                  <a:srgbClr val="3A9D6B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CDC8A-6FCD-4FD9-B842-FA936543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EE0CA4-6D85-45DD-ABAC-7CDD1B1E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Final page gives action, handoff, and metrics.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A68E39D-7761-4E84-ADA3-996DE4B1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082BB75-81CE-4392-9337-6899EB65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4018088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6D1CB724-FFA1-49EC-A0C1-280C1924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11F6C13-EA1C-4989-AB16-D92B9C32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INPUT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0A54D9-A1C8-418F-ABC0-D4D59980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If they ask for real dialogue, use paste import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E2CA2AC-6ACE-435C-AA52-3EE3C4B1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is not locked to fixed cases. Pasted encounter text becomes editable, inferred, and analyzed.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30044-3B73-4AB6-B699-3A328531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937308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14EE2-7B48-4CBB-B8D8-107DED26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84391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Do you have chest pain?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No, just tight indigestion when I walk.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Any shortness of breath?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Not really. I slow down so it does not get 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B1340-ABC1-4610-A462-FB20A786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402145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50E92-54E6-49AD-BDA3-A6C708CB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1910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Parsed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DB333-F415-4E30-ABAA-91DA2026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5339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Q/A, clinician/patient labels, and alternating 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F6DA51-A05F-483F-8ECF-7A9FA316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514921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4532DC-7DE7-48BE-8482-05258D97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3149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Editable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C1C29-CB04-4101-A263-7DBAB81A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65785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Question, answer, source, and concept can be changed before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ABBC6-1076-44EF-A130-23A4AB95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627697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B47D65-4F70-4D55-8B18-0A57E36A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4579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Inferred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601B86-54A1-464C-B4D8-611F35F9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7818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Blank or generic concepts are inferred from question plus answer text.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C1E77-00B6-4F4D-A8C7-CACBAED3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740473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5A4886-0C79-4426-B044-92800890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5819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Coverage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03D6D-073C-4FE6-95ED-1FF2F063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9248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Each line is marked used, context, red flag, hard stop, or review.</a:t>
            </a:r>
          </a:p>
        </p:txBody>
      </p:sp>
      <p:sp>
        <p:nvSpPr>
          <p:cNvPr id="1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6D46B9E-94D7-47AC-9ACE-49693CD4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5D5AC9D-DBB9-4EA4-9C6F-56382E8F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83699876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371760A-42E4-4DAB-A861-32787606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C43446A-F07D-4190-B8A7-CB0AA86D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TECHNICAL BACKBONE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03CD08-5529-4EF5-997B-3B3C40AF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method is ensemble governance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040C72C-04B1-46BD-AE88-BBC06C89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LLM candidates help find signals, but deterministic validators and guardrails decide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039A7-DBA8-4D55-B438-27A2CAEE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83728-4D27-4877-A6B6-DAF45BDC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B2B89-9CE7-4AEB-8BB8-C0300EBF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Transcript + coverage audit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DE7AD-10E9-4B44-8E7A-5099A05D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A4922-8F01-496C-B4FB-BD51FC71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36126-9439-42C4-BAA1-FBFCCCF9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Extractor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6D2DC-DB49-43A7-9163-720D4EBC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Normalize observations and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925FF5-14E8-4055-86BE-531A61F7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811509-31CE-4E41-A3E6-686A80C1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8EEB85-AC65-42B0-99C3-4FFCF3B7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JRE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0A087-0CBF-4341-9248-1786BBD3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Missing, uncertain, distorted, contradictory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6A73E-6175-47D3-A705-3B33E1CB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71F6C-72C7-4E5D-9788-47FDA4E9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8157B-A2BF-47BF-B5DB-8211F88D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BSG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FEBCD1-729A-4376-B4BC-807E7944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Operating envelope and autonomy cap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B0B302-A3C5-456B-8E9C-896EFC22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C2391F-E9A4-42F8-A4F5-A2173940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FA31F7-91E0-4908-B5D5-DE1C618B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Governor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AB54C1-01A8-43CA-9812-16D17D03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Most restrictive state wins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0C9A19-9DB2-4FA3-8C30-7FB76985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D3BC74-060D-49DE-ACD4-2A17E25D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1654A7-1EE4-447E-A6C4-0FBBA536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18BE2B-6E5E-4E67-AAC7-4BECE573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Questions, handoff, recommendations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79002C-7E91-4782-8D7C-B6962A1D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439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Autonomy is capped by authority, not by model confidence alone.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5510CA7-6546-4EED-BB9E-FF5544FA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A509A7A-A7DA-44D5-BA26-4410A2CF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80238735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4AECC966-6B49-4921-9ECA-77172C2D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12CC6E9-2574-464E-9C0D-381FBDEC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WHAT TO POINT AT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0D046B-9EEC-474B-AC7F-43A1D52C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Provenance is the safety interface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6E3FECA-D946-4C0D-A745-71EDCEDD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separates signal source from action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0FBF86-A88A-42F9-8333-E82D5220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Curated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BE885-46E4-4553-8B0A-D9EADFBA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19659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7C7642-3892-4891-9ED5-89A548D5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Enforced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FA504-AC42-411F-A9D9-546440FC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ask, route, block, or cap.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11677-8421-41D4-8AEB-F7BC8948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LLM candidates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7D1EDD-60BE-46D0-BD7E-30805651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69570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494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ED786-4E5B-4300-BA9F-A774B005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909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41E"/>
                </a:solidFill>
              </a:defRPr>
            </a:pPr>
            <a:r>
              <a:rPr sz="1275" b="1">
                <a:solidFill>
                  <a:srgbClr val="D4941E"/>
                </a:solidFill>
              </a:rPr>
              <a:t>Advisory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7F9E3-4632-48A1-9BB3-A67ECFFD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957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suggest review targets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DC758-FF96-43A1-A5B8-F1A0E796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Learned priors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4FB6C6-CC08-4BB3-9AA6-2FD55CB0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19481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7E3F18-96B7-4D70-8962-0050DD3F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862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Bounded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44194E-1F1F-4129-B733-C64FD9A9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910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Tune confidence and question priority.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ECD49D-82E8-4176-A90D-37C02AAA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Memory hooks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FC034-C7D4-48CC-90FB-4FF97B19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69392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F5BBD0-572E-4F44-89F5-3CE269C6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Advisory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A7595E-8C79-4EF8-8273-90B93525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863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Suggest missing nodes and falsifiers.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EE37B9-E110-4570-98B9-4EE93C1E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Ensemble governor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E42927-8865-45B5-AAC4-1E097BCA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519303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260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9609A0-0D27-49B2-992C-22B53348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2604D"/>
                </a:solidFill>
              </a:defRPr>
            </a:pPr>
            <a:r>
              <a:rPr sz="1275" b="1">
                <a:solidFill>
                  <a:srgbClr val="E2604D"/>
                </a:solidFill>
              </a:rPr>
              <a:t>Enforced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D8F52E-FED3-42BD-9625-C67BC3D6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65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Most restrictive final state wins.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D145DA3-491F-46DF-B15E-4DE38F02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857C547-675F-441C-94EE-235BC43B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0172824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AFEBECE-296F-4E01-BB68-A20389F0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84CA95F-B532-46FE-B05C-6CE0C334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FINAL RECOMMENDATIONS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6C36D7-4BB7-406E-809B-1157C6FD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final page must be actionable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CA2699D-1FC8-4409-95C0-B2BFB28B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 polished analysis is not enough. The output has to tell a human and the system what to do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3CEDE-495B-4394-B664-2FD3B9ED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90DA2-0E1F-443D-88F8-6875698D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Disposition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AA516F-15F8-485B-9A57-088B7F93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ESCALATE, HOLD, NEED_OBJECTIVE_DATA, ROUTE_CLINICIAN, or narrow audited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30066-230A-4DFC-ABCE-F00133C5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736F0B-756A-4F44-9C80-698BCCDF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Immediate 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CCD210-C8E0-441B-9123-04E4D68B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What is allowed now, what is blocked, and what restores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E2872D-015C-412F-BD63-DB4E3F5D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422B8-A9C6-4EF2-9A01-21F03403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Human factors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619AB0-208B-4FE1-AA80-7557DFD6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Defense/disclosure cues become inference limits and next-question strategy, not patient labels.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6E0596-337C-4B8C-948B-19279DEA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EA9CF-6D83-4BC5-985D-40EC0598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Clinician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34790A-CB11-4EDC-8148-6A17812A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Boundary map and top blockers instead of raw transcript only.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2CF4626-5FAF-4408-8C2F-C949D8EA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D922650-DBD3-4A59-A9C3-DEEAC268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4746272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4FABB624-4111-4A5E-87BE-0F57D33A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A160E83-BA2D-49D9-921B-818BD030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CREDIBILITY CHECK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7C36D7-F375-4DA9-AAD8-EEBF912E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Be precise about what is real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49001F-1238-47FA-88EE-5D1A5ED3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This slide prevents the demo from sounding like vaporware or overclaiming.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FB059-EDEB-44EA-9292-058E2138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Implemented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18B26-8F67-459D-808D-3CC643B9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Deterministic JRE, Black Swan Guard, live edit/paste, LLM extractor, final recommendations, tests.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B3A8AF-16BD-494A-9DA1-D59CF3BC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64AA"/>
                </a:solidFill>
              </a:defRPr>
            </a:pPr>
            <a:r>
              <a:rPr sz="2250" b="1">
                <a:solidFill>
                  <a:srgbClr val="2364AA"/>
                </a:solidFill>
              </a:rPr>
              <a:t>Prototype 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4A7B5-CC78-415B-B246-7B0F3515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In-memory learning, trace regions, VAMS-style near-miss recall, governed template promotion.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CFC86-CDA2-4872-A1BC-172936F3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191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2604D"/>
                </a:solidFill>
              </a:defRPr>
            </a:pPr>
            <a:r>
              <a:rPr sz="2250" b="1">
                <a:solidFill>
                  <a:srgbClr val="E2604D"/>
                </a:solidFill>
              </a:rPr>
              <a:t>Not claimed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C1431-6320-491F-BDD0-3E486CF8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43400"/>
            <a:ext cx="12192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Production clinical validation, persistent memory, autonomous prescription approval, medical device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90D24-A9F1-4267-BEC1-A0B5C161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0"/>
            <a:ext cx="1641443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C5CFC4-E272-4A8C-A110-A33F08EE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67750"/>
            <a:ext cx="1295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333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9E7B48-DC7E-4518-91DE-6E7E29DB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193" y="8572500"/>
            <a:ext cx="1878044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5DD68D-DC61-477D-92A6-13A0679E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6677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Live Fly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8B35A1-76C6-4C99-8C67-D867112A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937" y="8572500"/>
            <a:ext cx="2822162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1AB325-18B3-402E-86CA-537BD2ED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86677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OpenRouter model configurable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BE19535-F3FC-4C6B-A7EB-FCA6E58A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68F1B90-AA3A-4B64-8C6B-A24613D1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6675035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CA491AEE-FAF8-4B4F-AE3A-8D5D4395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14E4D96-BF80-49B3-8827-8E2ADC82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DEMO CHOICES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A78086-BF9C-4A98-ACCE-69430053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Cases to run if the conversation shifts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D3A76F6-4C2E-4522-BB54-9C2F1DEC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one case at a time. Each one demonstrates a different boundary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06729-0CF9-4270-A73E-38201F70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8567C-1B73-4782-A8AC-739AFB3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Cost fear minimizes alarm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980D26-902F-4604-9D3A-B9763B88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asks the system to approve delay while describing exertional tightness.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EDBF7-457E-4FDC-8915-1AB4DD88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0826C9-A59B-40A1-9880-3FA83B5F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Embarrassment curbs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6C1AC-0AAF-442F-96E0-CC76DC6A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walks back alarm details because of shame, internet fear, and chart anxiety.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65E73-5E76-4255-8CEA-C07BC089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94C54D-0E5A-4172-A9B1-5AC8590E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Defense pattern distortion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4F4AD-EB10-4D54-A9E4-854A59ED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labels exertional pressure as anxiety while also trying to tough it out.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2F9E2-37E2-4EBE-A2A9-F0908783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EC693-74F2-4101-813E-F80C7A5C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Caregiver conflict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21468-056A-4939-B55A-21556A65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says fine; caregiver reports confusion. Source conflict caps autonomy.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2D213D5-B46F-4913-83B3-660CB552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F764E00-5DC6-4EF7-9F4A-9CF4611C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1174952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74855B4D-FADF-46CE-A8B4-46ADA59D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40D820B-D987-4010-924C-55C8A617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OPERATING LEVERAGE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BC6420-B397-4903-84D2-2EB7354E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value is safer automation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0D0BBC1-1398-4CDA-8CFC-8AD04FE5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same boundary layer can reduce unsafe automation and avoidable human routing.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41CEE-0256-485E-BFCE-08165137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42BAC-C64A-4D6A-91F0-9CBCEFC1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3162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Blocks action when assumptions fail.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0C33B-0035-40EA-9491-84DE702D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1D2FDA-F8B5-4031-9E39-6DB50495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529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Closes fixable evidence gaps before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E158C2-1F0E-4A0E-94DC-50671A37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47E7B-316F-467A-AFE4-2AA73212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3676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Explains uncertainty without dismissing the patient.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4754A-D177-48CC-A282-333D4DE1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1A5FFC-585D-452F-B073-80668DC0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529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Hands clinicians a boundary map, not just transcript.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3DB5BD-183D-4423-9658-35E39C30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96300"/>
            <a:ext cx="1346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Metric to track: percent of routed cases where one clarification changes disposition or prevents avoidable physician review.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73F01EF-4858-4D62-8054-AC5A7527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63236BE-AC05-4CBA-B234-D1DB7EDB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03952385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CBFEBDC2-8562-41F5-8B43-D66C9459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D065611-7DDF-4365-B60B-D643456C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YOUR STORY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03A058-2A2F-43EB-9147-716D4D30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What I bring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BC7C1C3-062C-4BFA-AE59-DA5EE14B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differentiator is cross-domain judgment, not just code output.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8D5F4-4163-4D42-878F-EA786B12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AB730-E3D2-4A8C-A3DE-07321006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Medicine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8E92D-D8EB-4408-8C2F-3491CDDA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Clinical risk, patient language, remote limits, physician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122B7-D626-459A-AD62-305E8C0D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23989-C103-4DF8-A08C-34F00DAB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AI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5A5F4-F69D-43F4-AB7B-8CE4E724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LLM extraction, expert-system shells, ensemble governance, memory boundaries.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73025-25F3-4ACE-A42A-8AF2A99E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EE4B7-9539-4B20-A0D9-D124F16E0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Operations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A7F8F-5E6E-42C4-902D-B7B1FEAE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Routing, churn, escalation rationale, clinician efficiency, auditability.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81A7B0-87DD-40EA-9CE3-3E82AEE5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152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8C517-8484-4910-89C8-F25970F8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6DCF5-E953-433D-96BF-67B46EEF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Fail-closed thinking, provenance, governed promotion, no uncontrolled online learning.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8F5AF-402B-406B-8F10-2331A4D9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20A8D-E991-463C-8378-153DD43F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A7984F-879E-4A25-BC2F-F122A292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Demoable UX that makes invisible safety reasoning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B7B050-7469-47B2-B09E-81AB3A63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CC97A8-8761-470B-A349-6251B6F4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E9B91-2255-4FFC-B717-7B1DCEEC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Built, tested, pushed, deployed, and iterated from feedback.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B1B189D-73DA-4ED9-85D3-6B7F79E1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2EA4619-8AE4-4BF4-89CE-CE688EF9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150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74278355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A4BBDEA4-34F6-4D22-8CA5-DA1350E1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A9FBAF3-123E-423E-B871-0B93F315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EXECUTIVE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95F6633-ABCF-4431-B013-C210CE01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executive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03701AB-8756-4DA4-B8DE-7B760AA0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Answer directly, then point back to the live app.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948A7-9EAA-47DE-A5D3-72414864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Are you saying we lack this?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BBF7D6-E1CA-4312-87B6-BC48A3C1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I assume you have strong safeguards. This is how I think about the next boundary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CDEAC-2BA1-4308-9972-86997C20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How does it help the business?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94184D-D39D-44E0-9169-39236180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Safer automation, less avoidable review, clearer escalation rationale, lower abandonment.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49C375-54CB-43CA-A900-5CB77921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would you measure?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A6F783-4827-46C3-B1FD-04809A80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Clinician confirmation, correction rate, avoidable routing, patient completion, evidence-gap closure.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4AC72-6030-4073-B342-05262C80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Where would it 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F86456-75B1-494D-9610-B75CCF58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Before autonomous action, refill renewal, low-acuity closure, or physician handoff.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D38EF-0376-4220-85AB-EDAC102A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is production path?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D6C29-E38B-4E2F-A208-BEA151AF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Persistent memory, outcome labels, simulation suite, governance promotion, clinical review.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1062FCF-8F1F-4DB2-836C-1FDA622C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594C0AC-C493-4332-9627-D5856C8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9044115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2106AFD-8AE2-4F98-A1BD-5BBB0B42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296706F-1F6D-4DDD-AA3B-3980601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DEV TEAM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0CDEE1-3CB3-4344-A74F-BE97E2D4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technical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90B12B-68AB-4290-988D-BE5EE223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Be crisp: deterministic core, advisory model, governed learning.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93DF6-FE08-41F7-AD6C-994CD5A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Is this rules or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D8A89-580D-4ED4-9A4E-6591468A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Both. AI proposes candidates; deterministic systems validate, score, and cap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35D00-FA77-4D5A-8C17-09E89537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are nodes selected?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62760-AC7A-46E8-9867-79E7CF94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Domain templates now; next version lets AI propose case-specific graph nodes for governed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C97C5-F857-4557-B7C0-945C12FD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Can LLM override rules?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A95CE-B9E6-4E86-A26A-A95A7E19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LLM-only findings are advisory and cannot authorize or hard-stop.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C92DF7-2C81-4BEC-8816-466D6A0A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What about latency?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D47D0-F097-4175-8B51-0B8241A4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Core analysis is fast and deterministic. LLM runs async with timeout and retry.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C1769-95D1-462E-9B99-C34D8CF1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prevent memory drift?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0597E-F0FA-41DC-9CA4-C41F9C1F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Memory proposes missing nodes/falsifiers only. Promotion requires review and simulation.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514B731-E1F3-4ED3-A17D-1D8610D8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0174807-5B10-4BE5-948D-8A8955B1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32492303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90859BB7-34D0-455E-84F6-4F196C88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F1E40EA-67E6-44C6-8E85-79767A9C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INTERVIEW DEFENSE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89EB71-9CC0-4783-8B00-CA09CCBB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How to handle hard objections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30298A3-288C-4C51-88E0-95FA7E90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Do not defend everything. Separate what is implemented from what is future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D772B-B2A0-4313-BDC2-EDFAAC41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4218F-A1CE-424D-9FB7-9E6653E7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This is too static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E9684-1389-402A-AD22-A9DAF266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The demo is inspectable. The next version uses AI-proposed graphs with deterministic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430208-228D-461C-B136-C843D624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FA505-BE52-4EFA-AF48-8B173313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This may over-route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89C442-F523-43CB-BD9F-38DD01EA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 that calibration matters. Track false positives, avoided routing, clinician confirmation, and patient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312A6A-EFA0-4509-957C-E24CFDF9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962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6CFCC-46B3-4A3A-8455-82161719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Memory is dangerous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37880-AB83-48B5-9B42-C04F0581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Memory cannot authorize action. It only suggests questions, falsifiers, and review targets.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C310D-9CAE-4B8C-A740-1E76F7C6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9620"/>
            <a:ext cx="813435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BC52EF-F9F0-4485-85A8-D0734D1A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We already have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15EB65-B7D3-4023-A583-279AA8AE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Good. This layer governs what triage is allowed to infer and do under uncertainty.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782F3B5-06B0-4029-9CD2-AD495F1A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D9D826A-E087-46F1-9A14-6AF3FF93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53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8906562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57787EC-FDAE-4952-B6D5-EEF5F2D1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0122E51-CA54-4A27-8B61-6149DD02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CLOSE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C16FEE-C834-43E8-95B9-DAB930E3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ask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4891C57-7419-4F2B-B41C-32CF910F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the demo to start a working conversation, not to claim finished production software.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B5E7A6-F971-4CB7-9A6D-58E3E65D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63055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43"/>
                </a:solidFill>
              </a:defRPr>
            </a:pPr>
            <a:r>
              <a:rPr sz="3750" b="1">
                <a:solidFill>
                  <a:srgbClr val="102A43"/>
                </a:solidFill>
              </a:rPr>
              <a:t>Where would this boundary layer plug into your highest-leverage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728C8-F671-479F-A48E-05ED353C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05650"/>
            <a:ext cx="6400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77A"/>
                </a:solidFill>
              </a:defRPr>
            </a:pPr>
            <a:r>
              <a:rPr sz="1950">
                <a:solidFill>
                  <a:srgbClr val="52677A"/>
                </a:solidFill>
              </a:rPr>
              <a:t>Refills, low-acuity closure, physician handoff, or post-chat escalation persistence.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15F43-C905-423C-9B99-2D62286E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460438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108535-BF91-4300-9F02-70735A5F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First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96ACE-D87B-4813-BCC9-6C543F7C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244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Shadow-mode one workflow, map failure modes, define metrics, and run historical replay.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726606-84A1-4905-95AF-BD7B94A8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571309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2D0BC-0E72-4172-A96E-83675058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864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First 60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9C48E8-F274-41C6-986F-B242739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2293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Integrate with one intake surface and clinician feedback loop.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760BDD-07C5-4ABF-95CB-438B487C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682180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4D1213-CA61-49F1-A3BF-963D34A0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9913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First 90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2859CA-D58C-409E-82ED-FCD58011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3342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Governed promotion process for new nodes, rules, and memory recalls.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904A290-466D-47A9-9511-D1A75E24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Deck sources: app verification, local tests, Fly deployment, and generated demo artifacts.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4582870-1D6D-4333-92B7-0506E5AC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8980375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2026-04-28T16:05:26.0790000Z</dcterms:created>
  <dcterms:modified xsi:type="dcterms:W3CDTF">2026-04-28T16:05:26.0790000Z</dcterms:modified>
</coreProperties>
</file>