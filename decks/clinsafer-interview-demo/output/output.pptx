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14fbf7ca9e42f3" /><Relationship Type="http://schemas.openxmlformats.org/officeDocument/2006/relationships/extended-properties" Target="/docProps/app.xml" Id="Rf1912c857c2a48fa" /><Relationship Type="http://schemas.openxmlformats.org/officeDocument/2006/relationships/officeDocument" Target="/ppt/presentation.xml" Id="R3abfd05f1d2148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8aa4daa9a84e09"/>
  </p:sldMasterIdLst>
  <p:notesMasterIdLst>
    <p:notesMasterId xmlns:r="http://schemas.openxmlformats.org/officeDocument/2006/relationships" r:id="R28cc1c8c586745b5"/>
  </p:notesMasterIdLst>
  <p:sldIdLst>
    <p:sldId xmlns:r="http://schemas.openxmlformats.org/officeDocument/2006/relationships" id="256" r:id="Re10616338f664962"/>
    <p:sldId xmlns:r="http://schemas.openxmlformats.org/officeDocument/2006/relationships" id="257" r:id="R720ae5714ec44058"/>
    <p:sldId xmlns:r="http://schemas.openxmlformats.org/officeDocument/2006/relationships" id="258" r:id="R271e65d029c644ff"/>
    <p:sldId xmlns:r="http://schemas.openxmlformats.org/officeDocument/2006/relationships" id="259" r:id="Rf9a099aa9e49494c"/>
    <p:sldId xmlns:r="http://schemas.openxmlformats.org/officeDocument/2006/relationships" id="260" r:id="R829b60b9fb624447"/>
    <p:sldId xmlns:r="http://schemas.openxmlformats.org/officeDocument/2006/relationships" id="261" r:id="Rc3aa62206e974559"/>
    <p:sldId xmlns:r="http://schemas.openxmlformats.org/officeDocument/2006/relationships" id="262" r:id="Rde92e896e00845cb"/>
    <p:sldId xmlns:r="http://schemas.openxmlformats.org/officeDocument/2006/relationships" id="263" r:id="Rff3607fe3cdc4277"/>
    <p:sldId xmlns:r="http://schemas.openxmlformats.org/officeDocument/2006/relationships" id="264" r:id="Rd6593f97c4684036"/>
    <p:sldId xmlns:r="http://schemas.openxmlformats.org/officeDocument/2006/relationships" id="265" r:id="R482d0370a0234855"/>
    <p:sldId xmlns:r="http://schemas.openxmlformats.org/officeDocument/2006/relationships" id="266" r:id="Ref90e6e57cdc4c4e"/>
    <p:sldId xmlns:r="http://schemas.openxmlformats.org/officeDocument/2006/relationships" id="267" r:id="Rd3129dd9eddd49a4"/>
    <p:sldId xmlns:r="http://schemas.openxmlformats.org/officeDocument/2006/relationships" id="268" r:id="Re85dba0074fa496b"/>
    <p:sldId xmlns:r="http://schemas.openxmlformats.org/officeDocument/2006/relationships" id="269" r:id="R9f65cc107ca54323"/>
    <p:sldId xmlns:r="http://schemas.openxmlformats.org/officeDocument/2006/relationships" id="270" r:id="R31bc405e80fd4559"/>
    <p:sldId xmlns:r="http://schemas.openxmlformats.org/officeDocument/2006/relationships" id="271" r:id="Rfb3dc18e4b0a46b4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8aa4daa9a84e09" /><Relationship Type="http://schemas.openxmlformats.org/officeDocument/2006/relationships/theme" Target="/ppt/theme/theme1.xml" Id="R0c78b15a0a7c4797" /><Relationship Type="http://schemas.openxmlformats.org/officeDocument/2006/relationships/notesMaster" Target="/ppt/notesMasters/notesMaster1.xml" Id="R28cc1c8c586745b5" /><Relationship Type="http://schemas.openxmlformats.org/officeDocument/2006/relationships/presProps" Target="/ppt/presProps.xml" Id="R63a6d74a7e67403d" /><Relationship Type="http://schemas.openxmlformats.org/officeDocument/2006/relationships/viewProps" Target="/ppt/viewProps.xml" Id="R1c0d86bdbe934add" /><Relationship Type="http://schemas.openxmlformats.org/officeDocument/2006/relationships/tableStyles" Target="/ppt/tableStyles.xml" Id="R81c9a80c26804697" /><Relationship Type="http://schemas.openxmlformats.org/officeDocument/2006/relationships/slide" Target="/ppt/slides/slide1.xml" Id="Re10616338f664962" /><Relationship Type="http://schemas.openxmlformats.org/officeDocument/2006/relationships/slide" Target="/ppt/slides/slide2.xml" Id="R720ae5714ec44058" /><Relationship Type="http://schemas.openxmlformats.org/officeDocument/2006/relationships/slide" Target="/ppt/slides/slide3.xml" Id="R271e65d029c644ff" /><Relationship Type="http://schemas.openxmlformats.org/officeDocument/2006/relationships/slide" Target="/ppt/slides/slide4.xml" Id="Rf9a099aa9e49494c" /><Relationship Type="http://schemas.openxmlformats.org/officeDocument/2006/relationships/slide" Target="/ppt/slides/slide5.xml" Id="R829b60b9fb624447" /><Relationship Type="http://schemas.openxmlformats.org/officeDocument/2006/relationships/slide" Target="/ppt/slides/slide6.xml" Id="Rc3aa62206e974559" /><Relationship Type="http://schemas.openxmlformats.org/officeDocument/2006/relationships/slide" Target="/ppt/slides/slide7.xml" Id="Rde92e896e00845cb" /><Relationship Type="http://schemas.openxmlformats.org/officeDocument/2006/relationships/slide" Target="/ppt/slides/slide8.xml" Id="Rff3607fe3cdc4277" /><Relationship Type="http://schemas.openxmlformats.org/officeDocument/2006/relationships/slide" Target="/ppt/slides/slide9.xml" Id="Rd6593f97c4684036" /><Relationship Type="http://schemas.openxmlformats.org/officeDocument/2006/relationships/slide" Target="/ppt/slides/slide10.xml" Id="R482d0370a0234855" /><Relationship Type="http://schemas.openxmlformats.org/officeDocument/2006/relationships/slide" Target="/ppt/slides/slide11.xml" Id="Ref90e6e57cdc4c4e" /><Relationship Type="http://schemas.openxmlformats.org/officeDocument/2006/relationships/slide" Target="/ppt/slides/slide12.xml" Id="Rd3129dd9eddd49a4" /><Relationship Type="http://schemas.openxmlformats.org/officeDocument/2006/relationships/slide" Target="/ppt/slides/slide13.xml" Id="Re85dba0074fa496b" /><Relationship Type="http://schemas.openxmlformats.org/officeDocument/2006/relationships/slide" Target="/ppt/slides/slide14.xml" Id="R9f65cc107ca54323" /><Relationship Type="http://schemas.openxmlformats.org/officeDocument/2006/relationships/slide" Target="/ppt/slides/slide15.xml" Id="R31bc405e80fd4559" /><Relationship Type="http://schemas.openxmlformats.org/officeDocument/2006/relationships/slide" Target="/ppt/slides/slide16.xml" Id="Rfb3dc18e4b0a46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6dda815ed104c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074012694048ea" /><Relationship Type="http://schemas.openxmlformats.org/officeDocument/2006/relationships/notesMaster" Target="/ppt/notesMasters/notesMaster1.xml" Id="Rfbbd3858ca244e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2789ad096146ef" /><Relationship Type="http://schemas.openxmlformats.org/officeDocument/2006/relationships/notesMaster" Target="/ppt/notesMasters/notesMaster1.xml" Id="R49e6f70e9bb149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871c71602a4742" /><Relationship Type="http://schemas.openxmlformats.org/officeDocument/2006/relationships/notesMaster" Target="/ppt/notesMasters/notesMaster1.xml" Id="Rbcfaf1620dda4c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79618000654ecc" /><Relationship Type="http://schemas.openxmlformats.org/officeDocument/2006/relationships/notesMaster" Target="/ppt/notesMasters/notesMaster1.xml" Id="Ra297e05c2fac43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78761509da4d84" /><Relationship Type="http://schemas.openxmlformats.org/officeDocument/2006/relationships/notesMaster" Target="/ppt/notesMasters/notesMaster1.xml" Id="Rab4443e15d9c4b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bc1dc9998c4ebd" /><Relationship Type="http://schemas.openxmlformats.org/officeDocument/2006/relationships/notesMaster" Target="/ppt/notesMasters/notesMaster1.xml" Id="R71c9dd0897f943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9953c4f8964d6b" /><Relationship Type="http://schemas.openxmlformats.org/officeDocument/2006/relationships/notesMaster" Target="/ppt/notesMasters/notesMaster1.xml" Id="Re3a2ae0656974f4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0d1573a2e34911" /><Relationship Type="http://schemas.openxmlformats.org/officeDocument/2006/relationships/notesMaster" Target="/ppt/notesMasters/notesMaster1.xml" Id="R2a71f4793871413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979195b39b4cb9" /><Relationship Type="http://schemas.openxmlformats.org/officeDocument/2006/relationships/notesMaster" Target="/ppt/notesMasters/notesMaster1.xml" Id="R16f97c559e6344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99f0ed785c144e0" /><Relationship Type="http://schemas.openxmlformats.org/officeDocument/2006/relationships/notesMaster" Target="/ppt/notesMasters/notesMaster1.xml" Id="R9e47fc89f39943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6dfa6b0434b4332" /><Relationship Type="http://schemas.openxmlformats.org/officeDocument/2006/relationships/notesMaster" Target="/ppt/notesMasters/notesMaster1.xml" Id="Rcf0143d1d183442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f962a7adc4441d" /><Relationship Type="http://schemas.openxmlformats.org/officeDocument/2006/relationships/notesMaster" Target="/ppt/notesMasters/notesMaster1.xml" Id="R0a26e831a1024c1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1c4f5ce5bc04507" /><Relationship Type="http://schemas.openxmlformats.org/officeDocument/2006/relationships/notesMaster" Target="/ppt/notesMasters/notesMaster1.xml" Id="R2f4f306046be440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921d4b0340e4643" /><Relationship Type="http://schemas.openxmlformats.org/officeDocument/2006/relationships/notesMaster" Target="/ppt/notesMasters/notesMaster1.xml" Id="R8b838ddb02f8491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105375b806046bd" /><Relationship Type="http://schemas.openxmlformats.org/officeDocument/2006/relationships/notesMaster" Target="/ppt/notesMasters/notesMaster1.xml" Id="Re2a7cc11eb8447d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213f3ff26874fe7" /><Relationship Type="http://schemas.openxmlformats.org/officeDocument/2006/relationships/notesMaster" Target="/ppt/notesMasters/notesMaster1.xml" Id="Rcf1674c937a147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humility. Do not imply the team lacks safeguards.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"I am assuming your team already has strong AI doctor, triage, escalation, and telemedicine infrastructure."</a:t>
            </a:r>
          </a:p>
          <a:p xmlns:a="http://schemas.openxmlformats.org/drawingml/2006/main">
            <a:r>
              <a:t>- "This is a layer around that: what the AI is allowed to infer, what remains unknown, and when autonomy should be capped."</a:t>
            </a:r>
          </a:p>
          <a:p xmlns:a="http://schemas.openxmlformats.org/drawingml/2006/main">
            <a:r>
              <a:t>- "The point of the deck is to orient the demo; the live app is the proof."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Goal for this slide: position yourself as additive, not adversarial.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"At this scale, even a small autonomy-boundary issue matters operationally."</a:t>
            </a:r>
          </a:p>
          <a:p xmlns:a="http://schemas.openxmlformats.org/drawingml/2006/main">
            <a:r>
              <a:t>- "If a patient minimizes because of cost, shame, fear, misunderstanding, anxiety framing, or stoic denial, the AI conversation itself becomes part of the risk."</a:t>
            </a:r>
          </a:p>
          <a:p xmlns:a="http://schemas.openxmlformats.org/drawingml/2006/main">
            <a:r>
              <a:t>- "That is where I think this layer fits: not replacing internal reasoning, but governing its action boundary."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core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am not trying to win a differential diagnosis contest."</a:t>
            </a:r>
          </a:p>
          <a:p xmlns:a="http://schemas.openxmlformats.org/drawingml/2006/main">
            <a:r>
              <a:t>- "The system should know what it knows, what it inferred, what it did not ask, and what it cannot know remotely."</a:t>
            </a:r>
          </a:p>
          <a:p xmlns:a="http://schemas.openxmlformats.org/drawingml/2006/main">
            <a:r>
              <a:t>- "That determines whether autonomy is appropriate."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a good place to say "interpretation boundary" out loud.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path:</a:t>
            </a:r>
          </a:p>
          <a:p xmlns:a="http://schemas.openxmlformats.org/drawingml/2006/main">
            <a:r>
              <a:t>1. Open https://clinsafer.fly.dev</a:t>
            </a:r>
          </a:p>
          <a:p xmlns:a="http://schemas.openxmlformats.org/drawingml/2006/main">
            <a:r>
              <a:t>2. Use "Show Cost-Fear Case" first.</a:t>
            </a:r>
          </a:p>
          <a:p xmlns:a="http://schemas.openxmlformats.org/drawingml/2006/main">
            <a:r>
              <a:t>3. Optional: click Paste Transcript and import a short real encounter.</a:t>
            </a:r>
          </a:p>
          <a:p xmlns:a="http://schemas.openxmlformats.org/drawingml/2006/main">
            <a:r>
              <a:t>4. Analyze.</a:t>
            </a:r>
          </a:p>
          <a:p xmlns:a="http://schemas.openxmlformats.org/drawingml/2006/main">
            <a:r>
              <a:t>5. Stop on Statement vs Fact and Provenance &amp; Authority.</a:t>
            </a:r>
          </a:p>
          <a:p xmlns:a="http://schemas.openxmlformats.org/drawingml/2006/main">
            <a:r>
              <a:t>6. Open Final Recommendations.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he asks for a real encounter: paste it. The app now parses Q/A and speaker-labeled transcripts, leaves turns editable, and infers concepts if blank.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practical demo safety feature.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"If you give me a small de-identified encounter fragment, I can paste it here."</a:t>
            </a:r>
          </a:p>
          <a:p xmlns:a="http://schemas.openxmlformats.org/drawingml/2006/main">
            <a:r>
              <a:t>- "The UI will show a live input parsed proof line so it is obvious that the encounter changed."</a:t>
            </a:r>
          </a:p>
          <a:p xmlns:a="http://schemas.openxmlformats.org/drawingml/2006/main">
            <a:r>
              <a:t>- "Concepts can be blank. The engine infers the likely slot from the question and answer."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Caution: ask for de-identified text only. Avoid PHI in an interview.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Technical explanation:</a:t>
            </a:r>
          </a:p>
          <a:p xmlns:a="http://schemas.openxmlformats.org/drawingml/2006/main">
            <a:r>
              <a:t>- Patient statements become observations with source confidence and trap tags.</a:t>
            </a:r>
          </a:p>
          <a:p xmlns:a="http://schemas.openxmlformats.org/drawingml/2006/main">
            <a:r>
              <a:t>- JRE evaluates readiness: missingness, distortion, contradiction, red flags, objective needs, remote boundaries.</a:t>
            </a:r>
          </a:p>
          <a:p xmlns:a="http://schemas.openxmlformats.org/drawingml/2006/main">
            <a:r>
              <a:t>- Black Swan Guard checks assumptions: identity/proxy, communication channel, envelope fit, source integrity, sentinel risk.</a:t>
            </a:r>
          </a:p>
          <a:p xmlns:a="http://schemas.openxmlformats.org/drawingml/2006/main">
            <a:r>
              <a:t>- LLM findings are advisory candidate signals. They cannot authorize or hard-stop.</a:t>
            </a:r>
          </a:p>
          <a:p xmlns:a="http://schemas.openxmlformats.org/drawingml/2006/main">
            <a:r>
              <a:t>- The final state is the most restrictive of JRE and guardrail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phrase: "The LLM proposes. Governed software disposes."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anticipates the "LLMs are unsafe" objection.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"Every visible signal has provenance and authority."</a:t>
            </a:r>
          </a:p>
          <a:p xmlns:a="http://schemas.openxmlformats.org/drawingml/2006/main">
            <a:r>
              <a:t>- "The LLM is useful, but it is not allowed to make the final autonomy decision."</a:t>
            </a:r>
          </a:p>
          <a:p xmlns:a="http://schemas.openxmlformats.org/drawingml/2006/main">
            <a:r>
              <a:t>- "Memory is also bounded. It can suggest but not authorize."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why this matters:</a:t>
            </a:r>
          </a:p>
          <a:p xmlns:a="http://schemas.openxmlformats.org/drawingml/2006/main">
            <a:r>
              <a:t>- "Without provenance, a clinician or regulator cannot tell whether a decision came from a validated rule, a model hunch, or a memory prior."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When you click Final Recommendations in the app, frame it as the conversion from analysis into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Emphasize:</a:t>
            </a:r>
          </a:p>
          <a:p xmlns:a="http://schemas.openxmlformats.org/drawingml/2006/main">
            <a:r>
              <a:t>- "This is not just explainability. It is operational instruction."</a:t>
            </a:r>
          </a:p>
          <a:p xmlns:a="http://schemas.openxmlformats.org/drawingml/2006/main">
            <a:r>
              <a:t>- "The page distinguishes patient language, clinical handoff, governance actions, and quality metrics."</a:t>
            </a:r>
          </a:p>
          <a:p xmlns:a="http://schemas.openxmlformats.org/drawingml/2006/main">
            <a:r>
              <a:t>- "This helps with safety, physician efficiency, and patient trust."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not overstate that the patient copy is final clinical guidance. Say it is a demo draft requiring product/clinical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if the technical audience is skeptical.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real piece is the governed analysis and live UI."</a:t>
            </a:r>
          </a:p>
          <a:p xmlns:a="http://schemas.openxmlformats.org/drawingml/2006/main">
            <a:r>
              <a:t>- "The memory layer is intentionally described as a prototype hook."</a:t>
            </a:r>
          </a:p>
          <a:p xmlns:a="http://schemas.openxmlformats.org/drawingml/2006/main">
            <a:r>
              <a:t>- "I would not deploy online memory without outcome governance and simulation."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honesty is a strength. It avoids sounding like you are selling magic.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Preferred first case: cost-fear minimizes alarm.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Why:</a:t>
            </a:r>
          </a:p>
          <a:p xmlns:a="http://schemas.openxmlformats.org/drawingml/2006/main">
            <a:r>
              <a:t>- It is subtle enough for a physician.</a:t>
            </a:r>
          </a:p>
          <a:p xmlns:a="http://schemas.openxmlformats.org/drawingml/2006/main">
            <a:r>
              <a:t>- It is business-relevant without sounding mercenary.</a:t>
            </a:r>
          </a:p>
          <a:p xmlns:a="http://schemas.openxmlformats.org/drawingml/2006/main">
            <a:r>
              <a:t>- It shows patient behavior shaping the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Second case if they ask about real-world subtlety: embarrassment curbs history.</a:t>
            </a:r>
          </a:p>
          <a:p xmlns:a="http://schemas.openxmlformats.org/drawingml/2006/main">
            <a:r>
              <a:t>- It shows shame, fear of a bad outcome, misconstrued medical facts, and chart anxiety distorting the history before the model reasons over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Third case if they ask what "human" means beyond embarrassment: defense pattern distortion.</a:t>
            </a:r>
          </a:p>
          <a:p xmlns:a="http://schemas.openxmlformats.org/drawingml/2006/main">
            <a:r>
              <a:t>- It bridges anxious somatic amplification/reassurance seeking and stoic minimization/denial without using stigmatizing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care about prescriptions/refills, switch to the stale ACE/CKD/NSAID refill case.</a:t>
            </a:r>
          </a:p>
          <a:p xmlns:a="http://schemas.openxmlformats.org/drawingml/2006/main">
            <a:r>
              <a:t>If they care about caregiver workflows, use caregiver conflict.</a:t>
            </a:r>
          </a:p>
          <a:p xmlns:a="http://schemas.openxmlformats.org/drawingml/2006/main">
            <a:r>
              <a:t>If they care about documentation integrity, use unasked-is-not-denied.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you connect medicine and business without making it sound like safety is secondary.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product win is safe automation."</a:t>
            </a:r>
          </a:p>
          <a:p xmlns:a="http://schemas.openxmlformats.org/drawingml/2006/main">
            <a:r>
              <a:t>- "Sometimes the right answer is route now. Sometimes the right answer is ask one better question and avoid unnecessary routing."</a:t>
            </a:r>
          </a:p>
          <a:p xmlns:a="http://schemas.openxmlformats.org/drawingml/2006/main">
            <a:r>
              <a:t>- "Both matter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challenged:</a:t>
            </a:r>
          </a:p>
          <a:p xmlns:a="http://schemas.openxmlformats.org/drawingml/2006/main">
            <a:r>
              <a:t>- "I would measure confirmation rate, false positive escalations, avoidable routing prevented, patient completion after escalation, and clinician correction rate."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not a brag slide. It is a bridge from demo to interview.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"What I wanted to show is how I think."</a:t>
            </a:r>
          </a:p>
          <a:p xmlns:a="http://schemas.openxmlformats.org/drawingml/2006/main">
            <a:r>
              <a:t>- "At healthcare AI scale, medicine, business, risk, and engineering are not separate problems."</a:t>
            </a:r>
          </a:p>
          <a:p xmlns:a="http://schemas.openxmlformats.org/drawingml/2006/main">
            <a:r>
              <a:t>- "I can work across those surfaces and still build working software."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it calm. Let the app be the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your mental checklist, not necessarily as something to present.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Important tone:</a:t>
            </a:r>
          </a:p>
          <a:p xmlns:a="http://schemas.openxmlformats.org/drawingml/2006/main">
            <a:r>
              <a:t>- Never say "you probably do not have this."</a:t>
            </a:r>
          </a:p>
          <a:p xmlns:a="http://schemas.openxmlformats.org/drawingml/2006/main">
            <a:r>
              <a:t>- Say "I do not know your internal safeguards, so I built the kind of layer I would look for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asked where you would start:</a:t>
            </a:r>
          </a:p>
          <a:p xmlns:a="http://schemas.openxmlformats.org/drawingml/2006/main">
            <a:r>
              <a:t>- "Pick one workflow with clear value and measurable risk, likely prescription renewal or low-acuity closure. Run shadow mode against historical cases first."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they ask for architecture details:</a:t>
            </a:r>
          </a:p>
          <a:p xmlns:a="http://schemas.openxmlformats.org/drawingml/2006/main">
            <a:r>
              <a:t>- Input schema: patient_context plus statements with question, answer, concept, source, metadata.</a:t>
            </a:r>
          </a:p>
          <a:p xmlns:a="http://schemas.openxmlformats.org/drawingml/2006/main">
            <a:r>
              <a:t>- Extraction: normalize, infer concept if blank, assign source confidence, apply trap priors.</a:t>
            </a:r>
          </a:p>
          <a:p xmlns:a="http://schemas.openxmlformats.org/drawingml/2006/main">
            <a:r>
              <a:t>- JRE: produces observations, findings, JRI, next questions.</a:t>
            </a:r>
          </a:p>
          <a:p xmlns:a="http://schemas.openxmlformats.org/drawingml/2006/main">
            <a:r>
              <a:t>- BSG: evaluates assumptions and max autonomy tier.</a:t>
            </a:r>
          </a:p>
          <a:p xmlns:a="http://schemas.openxmlformats.org/drawingml/2006/main">
            <a:r>
              <a:t>- Governor: most restrictive state wins.</a:t>
            </a:r>
          </a:p>
          <a:p xmlns:a="http://schemas.openxmlformats.org/drawingml/2006/main">
            <a:r>
              <a:t>- LLM: separate /demo/llm-analyze endpoint, async in UI.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about distributions:</a:t>
            </a:r>
          </a:p>
          <a:p xmlns:a="http://schemas.openxmlformats.org/drawingml/2006/main">
            <a:r>
              <a:t>- Current demo uses bounded deterministic confidence and severity, not full probabilistic distributions.</a:t>
            </a:r>
          </a:p>
          <a:p xmlns:a="http://schemas.openxmlformats.org/drawingml/2006/main">
            <a:r>
              <a:t>- Next version would have AI-proposed node ranges and distributions validated against governed templates and calibration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your anti-fragile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pattern:</a:t>
            </a:r>
          </a:p>
          <a:p xmlns:a="http://schemas.openxmlformats.org/drawingml/2006/main">
            <a:r>
              <a:t>1. Agree with the serious part of the objection.</a:t>
            </a:r>
          </a:p>
          <a:p xmlns:a="http://schemas.openxmlformats.org/drawingml/2006/main">
            <a:r>
              <a:t>2. Clarify the boundary.</a:t>
            </a:r>
          </a:p>
          <a:p xmlns:a="http://schemas.openxmlformats.org/drawingml/2006/main">
            <a:r>
              <a:t>3. Say how production would validate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Example:</a:t>
            </a:r>
          </a:p>
          <a:p xmlns:a="http://schemas.openxmlformats.org/drawingml/2006/main">
            <a:r>
              <a:t>- "Yes, a static rule system cannot cover all medicine. That is why I would not scale it by hand-writing templates. I would use AI to propose the expert-system graph, then validate and execute it with governed deterministic software."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collaborative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would love to understand where this kind of boundary layer would matter most inside your current system."</a:t>
            </a:r>
          </a:p>
          <a:p xmlns:a="http://schemas.openxmlformats.org/drawingml/2006/main">
            <a:r>
              <a:t>- "I am not asking you to accept this exact implementation. I am showing the way I think and what I can build."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 interview goes well, offer a specific next step:</a:t>
            </a:r>
          </a:p>
          <a:p xmlns:a="http://schemas.openxmlformats.org/drawingml/2006/main">
            <a:r>
              <a:t>- "Give me one de-identified failure mode or tricky workflow and I can show how I would map it into this boundary framework."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7938f2aa9c4c1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fb23b3cb89e4b8f" /><Relationship Type="http://schemas.openxmlformats.org/officeDocument/2006/relationships/slideLayout" Target="/ppt/slideLayouts/slideLayout2.xml" Id="Rc093d12b16ec42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93d12b16ec42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f5335c7ba5496a" /><Relationship Type="http://schemas.openxmlformats.org/officeDocument/2006/relationships/notesSlide" Target="/ppt/notesSlides/notesSlide1.xml" Id="Rd22c945f906b4e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4c677759eb4377" /><Relationship Type="http://schemas.openxmlformats.org/officeDocument/2006/relationships/notesSlide" Target="/ppt/notesSlides/notesSlide2.xml" Id="Re4a0b55299024f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b63e1b201e4acc" /><Relationship Type="http://schemas.openxmlformats.org/officeDocument/2006/relationships/notesSlide" Target="/ppt/notesSlides/notesSlide3.xml" Id="R53f7c26b43e44a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23a2d4e9ff4e39" /><Relationship Type="http://schemas.openxmlformats.org/officeDocument/2006/relationships/notesSlide" Target="/ppt/notesSlides/notesSlide4.xml" Id="Rad6af4836bea41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6cfa98a0f34180" /><Relationship Type="http://schemas.openxmlformats.org/officeDocument/2006/relationships/notesSlide" Target="/ppt/notesSlides/notesSlide5.xml" Id="R03d96c3fc8544e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a3c971f2694bc8" /><Relationship Type="http://schemas.openxmlformats.org/officeDocument/2006/relationships/notesSlide" Target="/ppt/notesSlides/notesSlide6.xml" Id="Rb4e705bfa7ee40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b6d284c5464a6a" /><Relationship Type="http://schemas.openxmlformats.org/officeDocument/2006/relationships/notesSlide" Target="/ppt/notesSlides/notesSlide7.xml" Id="R9220b83eacf948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0c048c548448c4" /><Relationship Type="http://schemas.openxmlformats.org/officeDocument/2006/relationships/notesSlide" Target="/ppt/notesSlides/notesSlide8.xml" Id="R89d490df4a904c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5a144c6e8e452d" /><Relationship Type="http://schemas.openxmlformats.org/officeDocument/2006/relationships/notesSlide" Target="/ppt/notesSlides/notesSlide9.xml" Id="R987bd6f7bc254f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ba49844f9c4722" /><Relationship Type="http://schemas.openxmlformats.org/officeDocument/2006/relationships/notesSlide" Target="/ppt/notesSlides/notesSlide10.xml" Id="R4b97076da64649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89445066644147" /><Relationship Type="http://schemas.openxmlformats.org/officeDocument/2006/relationships/notesSlide" Target="/ppt/notesSlides/notesSlide11.xml" Id="R1ed13de94ce9454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aa85973d8843ed" /><Relationship Type="http://schemas.openxmlformats.org/officeDocument/2006/relationships/notesSlide" Target="/ppt/notesSlides/notesSlide12.xml" Id="R54cff3543e88476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fb3c352b1d4450" /><Relationship Type="http://schemas.openxmlformats.org/officeDocument/2006/relationships/notesSlide" Target="/ppt/notesSlides/notesSlide13.xml" Id="R03a5443a93c04ad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60666945c44499" /><Relationship Type="http://schemas.openxmlformats.org/officeDocument/2006/relationships/notesSlide" Target="/ppt/notesSlides/notesSlide14.xml" Id="R0f87e6c95ce0441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7ac0aadf894398" /><Relationship Type="http://schemas.openxmlformats.org/officeDocument/2006/relationships/notesSlide" Target="/ppt/notesSlides/notesSlide15.xml" Id="R5b489f86fc814b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84a80a956442b7" /><Relationship Type="http://schemas.openxmlformats.org/officeDocument/2006/relationships/notesSlide" Target="/ppt/notesSlides/notesSlide16.xml" Id="R34398a667f72419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stage">
            <a:extLst xmlns:a="http://schemas.openxmlformats.org/drawingml/2006/main">
              <a:ext uri="{FF2B5EF4-FFF2-40B4-BE49-F238E27FC236}">
                <a16:creationId xmlns:a16="http://schemas.microsoft.com/office/drawing/2014/main" id="{F0F2CF28-888F-4725-97C1-7D479AF1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13345A-F28A-4D3E-B6FC-EA2885A2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9582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ClinSafer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11B7BA7-CCE5-472C-A79F-83DF05B8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95600"/>
            <a:ext cx="9201150" cy="316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102A43"/>
                </a:solidFill>
              </a:defRPr>
            </a:pPr>
            <a:r>
              <a:rPr sz="6900" b="1">
                <a:solidFill>
                  <a:srgbClr val="102A43"/>
                </a:solidFill>
              </a:rPr>
              <a:t>Autonomy boundaries for AI medicine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E86BE8-9D2B-477A-AF6A-3F5A6D13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2935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04D"/>
          </a:solidFill>
          <a:ln xmlns:a="http://schemas.openxmlformats.org/drawingml/2006/main" w="0">
            <a:solidFill>
              <a:srgbClr val="E260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7E7965-8C97-4668-806F-9EF8DF39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77000"/>
            <a:ext cx="8286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52677A"/>
                </a:solidFill>
              </a:defRPr>
            </a:pPr>
            <a:r>
              <a:rPr sz="2325">
                <a:solidFill>
                  <a:srgbClr val="52677A"/>
                </a:solidFill>
              </a:rPr>
              <a:t>A live interview demo for showing how messy patient language becomes governed 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8161DD-4776-4D2A-98A6-1D06A887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4193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5C140-420D-44C6-A8E0-9436EAB6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71850"/>
            <a:ext cx="2743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synthetic cases in the live library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FBC2C6-FE4D-4914-AD47-7CD9C1CE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407670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326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8452E7-7648-4EEE-81C3-11FD4265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029200"/>
            <a:ext cx="2533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passing tests after final polish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A6EFC6-9790-4CD4-89FC-F2B77F94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7340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6D4CA1-978E-4B06-86D8-BE5D6E90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6675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most-restrictive governor decides 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9FE8BE-901B-48FD-8A47-8E9A9BC6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239250"/>
            <a:ext cx="4000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77A"/>
                </a:solidFill>
              </a:defRPr>
            </a:pPr>
            <a:r>
              <a:rPr sz="1350">
                <a:solidFill>
                  <a:srgbClr val="52677A"/>
                </a:solidFill>
              </a:rPr>
              <a:t>Prepared for an AI healthcare interview conversation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EF81F-735C-4D59-9B7B-6A7956A3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467850"/>
            <a:ext cx="2038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app: 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61745579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CEFA1BC0-711B-4975-9AA1-6CB0E300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4FC462A6-B86D-48F3-8310-4245C107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WHY THIS AUDIENCE SHOULD CARE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9B637D-9820-4991-B8A9-28E3CD74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Healthcare AI scale changes the safety problem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8579BFC-2C04-4CBD-A475-29C77C15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At consumer scale, the hard failures are often not obvious triage misses. They are inference, workflow, and autonomy-boundary failures.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E81ED1-F734-4C14-B71C-C6589D9A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77914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02A43"/>
                </a:solidFill>
              </a:defRPr>
            </a:pPr>
            <a:r>
              <a:rPr sz="4050" b="1">
                <a:solidFill>
                  <a:srgbClr val="102A43"/>
                </a:solidFill>
              </a:rPr>
              <a:t>The product question is not just diagnosis.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C3BCA8-D691-4357-B6C5-C8F5B537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10350"/>
            <a:ext cx="82296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52677A"/>
                </a:solidFill>
              </a:defRPr>
            </a:pPr>
            <a:r>
              <a:rPr sz="2400">
                <a:solidFill>
                  <a:srgbClr val="52677A"/>
                </a:solidFill>
              </a:rPr>
              <a:t>It is whether the system has enough reliable evidence to act, reassure, refill, route, or stop.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1DF28F-AD37-4F9B-A89D-01DBDDF8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9243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Scale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21EE0-ED80-46DF-8DB4-A5815D00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876800"/>
            <a:ext cx="30861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high-volume patient-facing AI 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CA8687-B2E3-4306-A686-977B6B90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565785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FFC6D0-0578-44D5-9230-EB209B73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610350"/>
            <a:ext cx="2609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low-friction clinician escalation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D783C-D828-4CEC-B544-8803C2D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71628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725AC1"/>
                </a:solidFill>
              </a:defRPr>
            </a:pPr>
            <a:r>
              <a:rPr sz="5850" b="1">
                <a:solidFill>
                  <a:srgbClr val="725AC1"/>
                </a:solidFill>
              </a:rPr>
              <a:t>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5F5B4A-55B1-4E92-BCE3-834AE2EE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8096250"/>
            <a:ext cx="2990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governed permission to act or stop</a:t>
            </a:r>
          </a:p>
        </p:txBody>
      </p:sp>
      <p:sp>
        <p:nvSpPr>
          <p:cNvPr id="1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77F142D-9FFB-49F2-BA78-0E9EF4E2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582150"/>
            <a:ext cx="4419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Sources: live ClinSafer app, local test suite, and generated demo artifacts.</a:t>
            </a:r>
          </a:p>
        </p:txBody>
      </p:sp>
      <p:sp>
        <p:nvSpPr>
          <p:cNvPr id="1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934E18D3-1735-4D90-AF96-028C628F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30619293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8FAFBA5B-531C-4115-9055-EC8E76CB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CC3BD30-6EC8-45AC-BAB1-A61BC117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ONE SENTENCE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03112F-C798-4C7E-9057-3C5D4BCE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thesis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0427942-DFF1-4E69-9CFB-5E043769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Messy language needs an autonomy governor, not just a smarter answer generator.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DEE35D-DC0D-4511-BF2A-CE91437F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BC514C-0A3E-4A23-886B-EAA047C0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What was said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9461A1-3D6F-414E-ABFB-AC8ED8AC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statements, denials, goals, barriers, source, freshness.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D9EF56-F25C-440C-BACC-092F398C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B73CF5-9A06-4DB2-934C-CE5CBB6C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What can be inferred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82C652-8C75-42DA-87CD-932DCAB5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Only bounded interpretations with confidence, provenance, and close-boundary questions.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AB85E1-5941-4A4F-80D6-8F822586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75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9A3E59-CAB8-43C5-8BF8-EB902AE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What cannot be assumed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353410-A95D-44CB-AC69-6336CBA0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Unasked symptoms, stale data, remote-unknowable findings, coercion, contradiction.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62A340-0601-45A8-AAA5-E296F9E2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The demo is about safe permission to act, not diagnosis prediction.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EE0B692-907D-43D8-8DFA-BF42BBA6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959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5E66C8E6-539D-4158-9002-8E41F672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4483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323438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2E7897A9-AC62-47FF-8CD9-31B25131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95FB6EC-008E-43B5-9F0B-686538024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HOW TO RUN IT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D92A884-1AA2-4508-A7EC-C0A85371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Seven-minute live demo path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39C6B31-ED6C-454B-8567-92AE7CF3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Keep the interview on the product idea. Do not wander through the whole case library.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45091-09C4-4132-BC88-07AD72691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08756F"/>
                </a:solidFill>
              </a:defRPr>
            </a:pPr>
            <a:r>
              <a:rPr sz="5550" b="1">
                <a:solidFill>
                  <a:srgbClr val="08756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E5C7A1-8D66-46BB-8A40-FE1E7EC6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Pick or paste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395582-CB9A-4DAC-8999-C42330F62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Use cost-fear case or real encounter 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0C786-39FC-43F2-8667-F5B86230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2364AA"/>
                </a:solidFill>
              </a:defRPr>
            </a:pPr>
            <a:r>
              <a:rPr sz="5550" b="1">
                <a:solidFill>
                  <a:srgbClr val="2364AA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2EC856-255A-4E13-8ACE-635E8CC6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Analyze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F143A1-5134-4CC2-A03D-6B56FBA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JRE and Black Swan Guard run deterministically.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41CE2-FA6B-4514-A4FE-875DD777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725AC1"/>
                </a:solidFill>
              </a:defRPr>
            </a:pPr>
            <a:r>
              <a:rPr sz="5550" b="1">
                <a:solidFill>
                  <a:srgbClr val="725AC1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6D39D0-5A32-4E77-86BB-D425E34B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Inspect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3AB0F6-1D58-4A09-B61B-4E466D88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Statement vs Fact and Provenance show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1875CE-12BC-4E21-8194-2B08A06D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E2604D"/>
                </a:solidFill>
              </a:defRPr>
            </a:pPr>
            <a:r>
              <a:rPr sz="5550" b="1">
                <a:solidFill>
                  <a:srgbClr val="E2604D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72B7C-57E8-4AD0-8940-40AD0E0D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Decide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AEF67-5F89-4B84-BAB6-2EC17333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 restrictive governor caps autonomy.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7D7E86-BFC3-4D60-9521-6A36C03F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3A9D6B"/>
                </a:solidFill>
              </a:defRPr>
            </a:pPr>
            <a:r>
              <a:rPr sz="5550" b="1">
                <a:solidFill>
                  <a:srgbClr val="3A9D6B"/>
                </a:solidFill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E8945F-1834-4498-897B-E0F116F2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Recommend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B61E54-F16E-4441-BC7F-753EAB80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Final page gives action, handoff, and metrics.</a:t>
            </a:r>
          </a:p>
        </p:txBody>
      </p:sp>
      <p:sp>
        <p:nvSpPr>
          <p:cNvPr id="2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949957A-12DE-43AF-82E3-E3423568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D5D088AF-BD94-43DC-BA4D-BE6D59F3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3638579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E572865C-1CC4-42DE-905B-BBE3FAD5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753E503-0FCC-487F-BF07-FEBB2E2B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INPUT PROOF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630166E-5B76-4E5B-8A4C-36C36E5F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If they ask for real dialogue, use paste import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36C253F-672A-4F8D-888F-3E01AA9F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is not locked to fixed cases. Pasted encounter text becomes editable, inferred, and analyzed.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B0FEAF-31AD-4CB5-BABF-9686C461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937308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AE7514-E6B6-4966-AECE-E6606753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84391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Do you have chest pain?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No, just tight indigestion when I walk.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Any shortness of breath?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Not really. I slow down so it does not get bad.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BD0CD8-3A98-44ED-A859-C0CAD717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458533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53F57B-22E0-4700-B5E2-FC4B40E6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7625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Parsed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01D14C-3E6F-469F-9B04-E9F09ECD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1054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Q/A, clinician/patient labels, and alternating turns.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8E49C-8D89-4902-A7BC-27E860C8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571309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340B01-2510-423D-87A9-6C9EEB38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88645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Editable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C1EBB3-6796-42FD-B7E7-A184E535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622935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Question, answer, source, and concept can be changed before analysis.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8223EF-5CE0-47AA-9991-7031FF77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684085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FBBE58-2610-4DAF-9EDD-F2985115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0104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Inferred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3C2C64-1829-49E8-ADF8-60AB3CBF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3533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Blank concept fields are inferred from question plus answer text.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BD4DE80-5246-45D2-9F57-7C544E04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64D7FEC-4969-4AC8-8B41-4B6D4736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207598549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18D8C37B-6260-43E9-A7E3-FAD89528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0881C5C-751E-452E-BEEF-ECB04A22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TECHNICAL BACKBONE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17968F-D135-4FB4-B7D3-5F0557E0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method is ensemble governance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4746815-E8F0-4BC8-9513-84A4CECA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LLM candidates help find signals, but deterministic validators and guardrails decide autonomy.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0EE8A-F3C6-401E-9AC7-08915F2C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62F1D8-8FD6-44B6-B2C4-D40DD485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9E5F6-88CF-4757-96D5-672C2006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Dialogue, source, patient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8B339E-833B-44D3-BBCB-3C3AE50C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ABB6C-7FED-4D1C-A185-A7B3052F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D97689-1822-4415-BFF3-4DD8C8F9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Extractor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9B84B6-CB12-46E0-95FA-660E199A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Normalize observations and confidence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A01EDE-AB28-436B-A1E8-C0C67E93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63704-118B-433C-B920-D8F589BB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AEB343-81FE-4044-BC2B-A7330A16B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JRE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EBDF4C-CD7A-4954-B885-DC5EA1B6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Missing, uncertain, distorted, contradictory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A42BCE-F266-4A20-A827-A32718422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00C5E2-2303-4D96-B36E-C9EA0CD9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848556-4901-41C1-9C5F-3714BF0D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BSG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73A446-D952-404C-8E13-AA8DEB8D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Operating envelope and autonomy cap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4B11EA-D780-4840-8BD3-2051D5C9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FE2A40-DD7A-4577-9B4B-BCCE7B36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801961-57B2-4C83-808C-8738E27E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Governor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6D0BF5-2D2A-4B81-806E-D6B07CED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Most restrictive state wins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3B3551-B9E6-466B-9A59-00008E5E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F96073-B7EB-40C6-A918-7CC01D38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7E0E02-825F-4DB7-AD4C-BE5EB6CB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C29502-A985-4AD3-A5FF-FFA19FCF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Questions, handoff, recommendations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F098B0-B51A-4C18-B3D9-DE4B11B4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439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Autonomy is capped by authority, not by model confidence alone.</a:t>
            </a:r>
          </a:p>
        </p:txBody>
      </p:sp>
      <p:sp>
        <p:nvSpPr>
          <p:cNvPr id="2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F42E7DB-1DB3-49A0-92B4-4BCC296F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30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F010858-0B8D-4448-A931-6AE3157C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70995906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3A97C73C-2A5E-4DBB-9AE7-2E3497F8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F7872AA-5E6C-439D-BD47-22661431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WHAT TO POINT AT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A521E4-2AB2-4B21-B6E6-EA7F5576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Provenance is the safety interface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3C78758-B8D6-4C9F-B911-37DEB5D9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separates signal source from action authority.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C0655F-BBB3-4850-9CC9-D4773388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Curated rules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24EC3-5FC3-4E4E-8A33-C79E6E18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19659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645925-1DC7-4010-B3BD-EE6F46ED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Enforced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8CA39A-F775-42A7-A896-20C67BDE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ask, route, block, or cap.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D82BD8-1411-4960-8DA9-36D45351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LLM candidates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8FF9DC-C512-4281-BB7E-93A5A256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69570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4941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2146D8-9C5E-41A2-BDD5-1EBC0CD3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7909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4941E"/>
                </a:solidFill>
              </a:defRPr>
            </a:pPr>
            <a:r>
              <a:rPr sz="1275" b="1">
                <a:solidFill>
                  <a:srgbClr val="D4941E"/>
                </a:solidFill>
              </a:rPr>
              <a:t>Advisory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F58E8-0DEA-4FA7-A2AE-EEC23D55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957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suggest review targets only.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1E1A42-2B22-4243-A327-9BC2B17F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Learned priors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08B602-A3BB-4324-AEF0-2F52C916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19481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2E31E8-CF81-4F02-969D-08FFD606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862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Bounded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FC762F-42BD-4518-9E44-F214E39B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1910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Tune confidence and question priority.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325A62-3326-47F8-8B79-8E9EF1FA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Memory hooks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7295AF-E49C-4869-A5B2-7D4DAAC8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69392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637AB9-6290-4DF9-9608-5A4B7D0D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815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Advisory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34EFD6-DDF7-4B6C-A370-6221ECC3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6863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Suggest missing nodes and falsifiers.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E38062-A2F0-4CDA-9CE6-D6FBA826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Ensemble governor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35EAD2-2CBF-4EAF-BE8A-24422B51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519303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2604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D7CB45-573F-48DF-A5AF-89A2D22F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768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2604D"/>
                </a:solidFill>
              </a:defRPr>
            </a:pPr>
            <a:r>
              <a:rPr sz="1275" b="1">
                <a:solidFill>
                  <a:srgbClr val="E2604D"/>
                </a:solidFill>
              </a:rPr>
              <a:t>Enforced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B87813-F6FE-4225-A9CD-F2898248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20065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Most restrictive final state wins.</a:t>
            </a:r>
          </a:p>
        </p:txBody>
      </p:sp>
      <p:sp>
        <p:nvSpPr>
          <p:cNvPr id="2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6F84BB9-2049-4CA6-AFDB-2328E9C5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DAC44826-AD5C-458D-A496-EAC92A6E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68162801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5A3DEFAD-0C1F-4591-9951-C326151B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9C93D37-FD5C-4B11-B4EB-081A4402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FINAL RECOMMENDATIONS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F29F39E-39B8-4B44-ADD2-AAE06547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final page must be actionable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33F3427-046B-4D62-A08B-4AA99B59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 polished analysis is not enough. The output has to tell a human and the system what to do next.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09B9F9-C14D-4326-B0E4-362BE40A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44E821-20EE-411E-A7D7-8FC3036C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Disposition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815E9-B313-48A6-A522-9A477BF8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ESCALATE, HOLD, NEED_OBJECTIVE_DATA, ROUTE_CLINICIAN, or narrow audited 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3945C9-82F7-4BE8-96D2-C333A1F4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150DF1-6FE4-48FE-8675-5919EDBC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Immediate 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DE4534-B536-4F06-A90D-9D9503CD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What is allowed now, what is blocked, and what restores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FE7A4-3AEF-4D41-AF51-95904085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43875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2A06AA-1FD5-4052-950E-2E4100B4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Patient message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E9B975-8FB7-4199-9199-733CA3CC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Safety language that addresses cost, fear, embarrassment, stigma, work, or delay without downgrading risk.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B9EFBE-5365-4E56-B288-A11F8E2E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32435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0D2222-EBEF-42BE-92E4-3E4FF9E6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Clinician handoff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717607-9744-488E-B6AB-2D3420BB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Boundary map and top blockers instead of raw transcript only.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3AC9DB2-DAB3-4B01-8705-94F3CFBD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340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91A30CF9-CBF0-47DF-B44A-D908CABA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8864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206571223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06F7253E-FA2C-4E3A-8EE4-E8DEA18C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C951426C-D3FF-4466-AA31-56EDF559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CREDIBILITY CHECK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72BE5C-8F29-4D21-8F70-E9EDF0E4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Be precise about what is real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15F00C5-2267-41F7-8FFF-F41EE270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This slide prevents the demo from sounding like vaporware or overclaiming.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9C3B81-D2F2-4A38-AD4D-30F62B629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Implemented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A3BA4-38F6-448D-9F5F-78BE1E6A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004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Deterministic JRE, Black Swan Guard, live edit/paste, LLM extractor, final recommendations, tests.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F9F6F2-2D64-41B8-9B21-AADCA27D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364AA"/>
                </a:solidFill>
              </a:defRPr>
            </a:pPr>
            <a:r>
              <a:rPr sz="2250" b="1">
                <a:solidFill>
                  <a:srgbClr val="2364AA"/>
                </a:solidFill>
              </a:rPr>
              <a:t>Prototype hooks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629908-AC76-4139-B72E-3D6AACB9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In-memory learning, trace regions, VAMS-style near-miss recall, governed template promotion.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07B4F5-0202-48A5-AE87-9CF4B1B3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4191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2604D"/>
                </a:solidFill>
              </a:defRPr>
            </a:pPr>
            <a:r>
              <a:rPr sz="2250" b="1">
                <a:solidFill>
                  <a:srgbClr val="E2604D"/>
                </a:solidFill>
              </a:rPr>
              <a:t>Not claimed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D89FAF-34C8-4E4D-A794-BA069DED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343400"/>
            <a:ext cx="12192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Production clinical validation, persistent memory, autonomous prescription approval, medical device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AFE96A-7CB4-42C5-A79B-7B759B7A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0"/>
            <a:ext cx="1641443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57E012-BA1B-4AB8-9557-F186D635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667750"/>
            <a:ext cx="1295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326 tests passed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572BE6-09F5-4102-B50A-DCDD2DE1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193" y="8572500"/>
            <a:ext cx="1878044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33B1F2-BE0A-4C38-B138-BE31528C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8667750"/>
            <a:ext cx="1543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Live Fly deployment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DF0E7A-56CE-450E-9271-A1DF0D42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3937" y="8572500"/>
            <a:ext cx="2822162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D5510C-BE75-4452-A005-7A43C249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866775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OpenRouter model configurable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CEAA19F-D09E-4ABF-9575-AAC47696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0D02E303-6AD2-4458-8C8B-605C8DC1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55459791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5143A39B-E714-490B-9EFA-7581FC95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EE38496F-B6B1-4C8B-B2AF-D2BB5375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DEMO CHOICES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B887D9B-A47D-4989-BF1E-5000F08A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Cases to run if the conversation shifts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6D0C9CE-6A7C-45C0-9081-655CDAC5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one case at a time. Each one demonstrates a different boundary failure.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4F571-395F-49A2-A684-30434F43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010B1B-1247-4D40-A515-AE3FA8A5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Cost fear minimizes alarm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82E08E-6B18-47C1-8859-74F20048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asks the system to approve delay while describing exertional tightness.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C5877D-8291-4A51-BD32-1EA31065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B8548B-C6CA-4150-B9B6-5C79C8EB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Embarrassment curbs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A1D0B-8F4F-4779-B834-339DAC0A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walks back alarm details because of shame, internet fear, and chart anxiety.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6DFB29-F11C-4366-8E22-B4C255E42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3F22B6-6BB2-40A7-BDF5-EAC624CF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Defense pattern distortion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C92153-E04C-4B98-B18A-9D0E0A4A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labels exertional pressure as anxiety while also trying to tough it out.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586CEC-0D68-48AC-B5B3-1ECC3F6A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53CACE-BEE7-4159-A22C-5387582C4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Caregiver conflict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96BB69-EF55-4E64-9C91-E847D88D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says fine; caregiver reports confusion. Source conflict caps autonomy.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1A9245B-FE53-43CD-9781-7BDF276B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7D79F20-7081-4D73-B283-42576E51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6769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70954959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FE8960AC-BB9B-496C-8ACD-19DF5933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39E155A-0667-43F6-A817-5BF71583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OPERATING LEVERAGE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30417FB-CC56-461C-AF6E-8131D561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value is safer automation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766EB9F-4916-4F1A-BCE9-5B13532E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same boundary layer can reduce unsafe automation and avoidable human routing.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D4077-A60B-4133-BF3C-D3E449BA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Safety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4DD208-27AE-45B4-B922-6F74E30E0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3162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Blocks action when assumptions fail.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60599-C520-4752-9F2F-92A78C5E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Margin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7207D3-49BF-4851-B798-D4FC1FAF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529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Closes fixable evidence gaps before routing.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FED429-17A3-482D-AD64-5F77E382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87222A-2D70-43E9-8091-424A89EC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52900"/>
            <a:ext cx="3676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Explains uncertainty without dismissing the patient.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019856-694A-4F93-A112-61A11336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C54B9C-6A97-4038-9690-4AA4FC39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152900"/>
            <a:ext cx="3581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Hands clinicians a boundary map, not just transcript.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4AF55C-F714-4137-9A95-413B6A93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96300"/>
            <a:ext cx="13468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Metric to track: percent of routed cases where one clarification changes disposition or prevents avoidable physician review.</a:t>
            </a:r>
          </a:p>
        </p:txBody>
      </p:sp>
      <p:sp>
        <p:nvSpPr>
          <p:cNvPr id="1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4E8BB2E-9254-4915-AD1A-7CD516F3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A485179E-D32E-4D4D-953E-A4BCF1D9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20296150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EA3D8C77-63AC-48EF-9E2C-C844E124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04AFB4B-702F-4FFD-BF46-C955DE73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YOUR STORY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D2A955-F944-4B66-9C90-F4B32C12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What I bring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B70474D-21B3-4AC3-8F27-7CBEF86C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differentiator is cross-domain judgment, not just code output.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364BA3-533E-4ACE-A9A1-0E0860F8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23C48A-E9A7-465D-B256-750EB5DF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Medicine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74E07-07E5-4F53-BD61-843F1356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Clinical risk, patient language, remote limits, physician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8ADC3B-35D9-40F5-AEB5-E27E5E43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A781F-D0F4-488A-AC0B-EB7BD5E4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AI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B677EC-766D-4F68-A146-7535A05F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LLM extraction, expert-system shells, ensemble governance, memory boundaries.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02C581-11CF-4BD6-A21E-2783C90A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35C03-E903-4FA3-B9ED-48F864CB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Operations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C56F93-6490-449D-AF42-74002FD2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Routing, churn, escalation rationale, clinician efficiency, auditability.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A34909-4580-4DEC-A76E-43E1EEFD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152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E42E8F-3335-4A9D-ADE7-C6BB2BE4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43FF2A-2931-4F91-BAE2-2C82F245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Fail-closed thinking, provenance, governed promotion, no uncontrolled online learning.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86BD71-4D54-426A-A11A-2B7C2F1C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2BE156-92F6-47E2-A571-108CFF64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Product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C47501-F151-41DC-BDB7-8EAC4919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Demoable UX that makes invisible safety reasoning visible.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286EF0-C5C9-4813-A621-F36110E0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331C7B-907D-4628-806E-306D1644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Execution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A13B76-B172-4977-8129-891B4059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Built, tested, pushed, deployed, and iterated from feedback.</a:t>
            </a:r>
          </a:p>
        </p:txBody>
      </p:sp>
      <p:sp>
        <p:nvSpPr>
          <p:cNvPr id="2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BDDF1E4-0370-4ECB-85F0-9D35CB26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626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881A0B2-00AB-4003-A02C-8CF81A1F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150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04915523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F662B98C-07FF-499C-AF5D-E2503FC1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98DD1A8-7AE9-4FA9-8832-F7C8817F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EXECUTIVE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2EA0D9-D62C-4CAC-9C26-5F4A1C5D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executive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1CB6F49-3922-4E2E-A70D-C0C9CB16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Answer directly, then point back to the live app.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875DDF-24C1-4EBD-A910-0603C3AC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Are you saying we lack this?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8904C9-62D2-48C2-B3DF-26509F08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I assume you have strong safeguards. This is how I think about the next boundary layer.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414DA-1BE6-4445-AA59-421D4863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How does it help the business?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D23149-E9B9-4011-8C69-2ECF0ED2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Safer automation, less avoidable review, clearer escalation rationale, lower abandonment.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D01C1F-951C-4779-8385-2D7AC641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would you measure?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92F12F-BD27-42B2-BE60-60136583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Clinician confirmation, correction rate, avoidable routing, patient completion, evidence-gap closure.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C55ABF-0827-4DAB-BE4A-168BA63B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Where would it fit?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518626-F152-46C4-B21F-6F7E587D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Before autonomous action, refill renewal, low-acuity closure, or physician handoff.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A67071-873E-4E91-90A3-E552DADF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is production path?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BD8D35-DED2-43D6-B03A-43B4A842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Persistent memory, outcome labels, simulation suite, governance promotion, clinical review.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A701B02-EF0D-4923-833A-D90EF20B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0EBE7F0B-C41E-4857-8C74-CA2B6C89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71850399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4DF3C3F8-DD4E-4683-B56B-8D60D57F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B022ECF-CBF8-41C3-9A6A-F99A42D1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DEV TEAM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DBBEC3-72A6-4F70-9AFF-C4FE4AC0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technical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392D302-0452-4426-8010-A13A1FA4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Be crisp: deterministic core, advisory model, governed learning.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B9E86-E8BE-4336-A3F4-BF07DA93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Is this rules or AI?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DBA68B-19A1-4B14-A1B2-E9E23A19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Both. AI proposes candidates; deterministic systems validate, score, and cap 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704E3A-61DC-4E87-9B6C-279394A8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are nodes selected?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6688CA-3DBE-42A2-9F83-78B932E8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Domain templates now; next version lets AI propose case-specific graph nodes for governed validation.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6C7B3E-4FF8-4CC2-BD48-9ECE4311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Can LLM override rules?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AB03F1-FCCF-4CE1-8560-16B6877F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LLM-only findings are advisory and cannot authorize or hard-stop.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20469-751B-430E-B20E-02AB179B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What about latency?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9BF6A0-7B13-43D2-8EAD-71FB8AFB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Core analysis is fast and deterministic. LLM runs async with timeout and retry.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A12681-BBAA-47D6-98EC-E3935C8B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prevent memory drift?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1803C-4695-4146-B215-EB736779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Memory proposes missing nodes/falsifiers only. Promotion requires review and simulation.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8843130-0E2C-4043-A574-CD5D8283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B048FBD0-9C75-4BEC-A312-A222B31F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21161971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4FC2C2C2-5316-431A-BF3C-6B722F1B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D79489A-C554-4AC2-8033-BAD6EAF6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INTERVIEW DEFENSE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E6D0B7-0BF3-4A99-8A42-2A791054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How to handle hard objections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E7A123E-FE2C-40D7-BCF0-84CDAD1D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Do not defend everything. Separate what is implemented from what is future architecture.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199349-DA2F-412C-BDA2-05D67437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6C233E-FC91-4FF4-8993-A3319D9A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This is too static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56ED7F-AA95-4855-B1C9-4F6447FD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The demo is inspectable. The next version uses AI-proposed graphs with deterministic validation.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9960C7-D5C9-4D9B-A49B-886FB87A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4920AB-F99B-463E-8B6E-49D9037D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This may over-route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7EC91D-E1F9-4C40-9C15-546D874C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 that calibration matters. Track false positives, avoided routing, clinician confirmation, and patient completion.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7388F5-7C87-43FA-9AF5-99373C68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962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90E7E4-BA61-4942-BD75-AE063E03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Memory is dangerous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FAB574-3331-4DFD-8255-49DFEE38E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863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Memory cannot authorize action. It only suggests questions, falsifiers, and review targets.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A9FA3E-6BB6-49C9-B38E-4EE2E416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79620"/>
            <a:ext cx="813435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421F54-D8CD-4AA7-BE49-67780846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We already have triage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5ADEA0-E326-437B-86BF-E428EBAB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08635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Good. This layer governs what triage is allowed to infer and do under uncertainty.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EA3DF0E-AABC-4506-A076-BFAE5267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00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7AA84CEF-7609-4D72-A411-CEC7BEE7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53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98216634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3EBE45DA-D6CB-4D1A-8C0E-08D88304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89FF46CB-0D57-4CA9-BFBB-6FAD80CD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CLOSE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7AAFFC-F47E-4009-941C-F3FFAE6C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ask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1CE086F-1B9A-4104-BA13-632F4228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the demo to start a working conversation, not to claim finished production software.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A4AFE0-1A5E-4737-87B1-FA997AC0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630555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43"/>
                </a:solidFill>
              </a:defRPr>
            </a:pPr>
            <a:r>
              <a:rPr sz="3750" b="1">
                <a:solidFill>
                  <a:srgbClr val="102A43"/>
                </a:solidFill>
              </a:rPr>
              <a:t>Where would this boundary layer plug into your highest-leverage workflow?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5FFFC3-6FFB-40AE-8148-10F72B0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05650"/>
            <a:ext cx="64008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2677A"/>
                </a:solidFill>
              </a:defRPr>
            </a:pPr>
            <a:r>
              <a:rPr sz="1950">
                <a:solidFill>
                  <a:srgbClr val="52677A"/>
                </a:solidFill>
              </a:rPr>
              <a:t>Refills, low-acuity closure, physician handoff, or post-chat escalation persistence.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DEBB5E-960C-4FE4-81B5-5B94EA4F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460438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1D4945-71B6-4C1D-B79A-2132493D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815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First 30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5A38E-4404-4688-874C-1C3CE5D7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1244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Shadow-mode one workflow, map failure modes, define metrics, and run historical replay.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FAEAC7-0EA6-4AD7-92D6-A8742F1C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571309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83BE4-17DD-4BF1-BE57-9E3BDA2A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8864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First 60 days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183CC6-0855-4D62-BF3A-02A662282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2293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Integrate with one intake surface and clinician feedback loop.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0CB241-BA97-4C69-9FD3-3CAD0125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682180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76C395-0E16-474D-9061-4F0B9948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9913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First 90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00A91D-616D-4FD0-A09D-2DD30D83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73342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Governed promotion process for new nodes, rules, and memory recalls.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BB4E2CE-5EC0-4790-9677-BFEB68DF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Deck sources: app verification, local tests, Fly deployment, and generated demo artifacts.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441DFA8B-5087-45AB-9E20-4E946096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2263073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2026-04-28T11:28:38.8990000Z</dcterms:created>
  <dcterms:modified xsi:type="dcterms:W3CDTF">2026-04-28T11:28:38.8990000Z</dcterms:modified>
</coreProperties>
</file>