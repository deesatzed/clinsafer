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d54020850f4648" /><Relationship Type="http://schemas.openxmlformats.org/officeDocument/2006/relationships/extended-properties" Target="/docProps/app.xml" Id="R55f24bab99ac4b57" /><Relationship Type="http://schemas.openxmlformats.org/officeDocument/2006/relationships/officeDocument" Target="/ppt/presentation.xml" Id="R4d397d04403f44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c0d80cb12f407e"/>
  </p:sldMasterIdLst>
  <p:notesMasterIdLst>
    <p:notesMasterId xmlns:r="http://schemas.openxmlformats.org/officeDocument/2006/relationships" r:id="Re9fd2d61b1ad4eb5"/>
  </p:notesMasterIdLst>
  <p:sldIdLst>
    <p:sldId xmlns:r="http://schemas.openxmlformats.org/officeDocument/2006/relationships" id="256" r:id="R864d73f3b3b04e81"/>
    <p:sldId xmlns:r="http://schemas.openxmlformats.org/officeDocument/2006/relationships" id="257" r:id="R5c17f7115e92445a"/>
    <p:sldId xmlns:r="http://schemas.openxmlformats.org/officeDocument/2006/relationships" id="258" r:id="Rb465c99fb8a64103"/>
    <p:sldId xmlns:r="http://schemas.openxmlformats.org/officeDocument/2006/relationships" id="259" r:id="R17508ffef5534ece"/>
    <p:sldId xmlns:r="http://schemas.openxmlformats.org/officeDocument/2006/relationships" id="260" r:id="Rd27adc1ed37c4b0e"/>
    <p:sldId xmlns:r="http://schemas.openxmlformats.org/officeDocument/2006/relationships" id="261" r:id="Ra357d4c002e242ec"/>
    <p:sldId xmlns:r="http://schemas.openxmlformats.org/officeDocument/2006/relationships" id="262" r:id="R5aed199cd2d1483c"/>
    <p:sldId xmlns:r="http://schemas.openxmlformats.org/officeDocument/2006/relationships" id="263" r:id="R7d5b51cfe8c84bae"/>
    <p:sldId xmlns:r="http://schemas.openxmlformats.org/officeDocument/2006/relationships" id="264" r:id="Rc7c5416cb9db4d3c"/>
    <p:sldId xmlns:r="http://schemas.openxmlformats.org/officeDocument/2006/relationships" id="265" r:id="Rd65e4e58bac84074"/>
    <p:sldId xmlns:r="http://schemas.openxmlformats.org/officeDocument/2006/relationships" id="266" r:id="R0c84b703c7d84283"/>
    <p:sldId xmlns:r="http://schemas.openxmlformats.org/officeDocument/2006/relationships" id="267" r:id="R3288b4c480774dbd"/>
    <p:sldId xmlns:r="http://schemas.openxmlformats.org/officeDocument/2006/relationships" id="268" r:id="R1343664df8bd4bbb"/>
    <p:sldId xmlns:r="http://schemas.openxmlformats.org/officeDocument/2006/relationships" id="269" r:id="R6815e50017954395"/>
    <p:sldId xmlns:r="http://schemas.openxmlformats.org/officeDocument/2006/relationships" id="270" r:id="R3aa043a5716b4416"/>
    <p:sldId xmlns:r="http://schemas.openxmlformats.org/officeDocument/2006/relationships" id="271" r:id="R06d9d7e45c5541b8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c0d80cb12f407e" /><Relationship Type="http://schemas.openxmlformats.org/officeDocument/2006/relationships/theme" Target="/ppt/theme/theme1.xml" Id="R631db7a7d7a841ce" /><Relationship Type="http://schemas.openxmlformats.org/officeDocument/2006/relationships/notesMaster" Target="/ppt/notesMasters/notesMaster1.xml" Id="Re9fd2d61b1ad4eb5" /><Relationship Type="http://schemas.openxmlformats.org/officeDocument/2006/relationships/presProps" Target="/ppt/presProps.xml" Id="R9af20dee2e6a4ff3" /><Relationship Type="http://schemas.openxmlformats.org/officeDocument/2006/relationships/viewProps" Target="/ppt/viewProps.xml" Id="R7cecaf5a6b404bf2" /><Relationship Type="http://schemas.openxmlformats.org/officeDocument/2006/relationships/tableStyles" Target="/ppt/tableStyles.xml" Id="Rf58ce68c49b24f1a" /><Relationship Type="http://schemas.openxmlformats.org/officeDocument/2006/relationships/slide" Target="/ppt/slides/slide1.xml" Id="R864d73f3b3b04e81" /><Relationship Type="http://schemas.openxmlformats.org/officeDocument/2006/relationships/slide" Target="/ppt/slides/slide2.xml" Id="R5c17f7115e92445a" /><Relationship Type="http://schemas.openxmlformats.org/officeDocument/2006/relationships/slide" Target="/ppt/slides/slide3.xml" Id="Rb465c99fb8a64103" /><Relationship Type="http://schemas.openxmlformats.org/officeDocument/2006/relationships/slide" Target="/ppt/slides/slide4.xml" Id="R17508ffef5534ece" /><Relationship Type="http://schemas.openxmlformats.org/officeDocument/2006/relationships/slide" Target="/ppt/slides/slide5.xml" Id="Rd27adc1ed37c4b0e" /><Relationship Type="http://schemas.openxmlformats.org/officeDocument/2006/relationships/slide" Target="/ppt/slides/slide6.xml" Id="Ra357d4c002e242ec" /><Relationship Type="http://schemas.openxmlformats.org/officeDocument/2006/relationships/slide" Target="/ppt/slides/slide7.xml" Id="R5aed199cd2d1483c" /><Relationship Type="http://schemas.openxmlformats.org/officeDocument/2006/relationships/slide" Target="/ppt/slides/slide8.xml" Id="R7d5b51cfe8c84bae" /><Relationship Type="http://schemas.openxmlformats.org/officeDocument/2006/relationships/slide" Target="/ppt/slides/slide9.xml" Id="Rc7c5416cb9db4d3c" /><Relationship Type="http://schemas.openxmlformats.org/officeDocument/2006/relationships/slide" Target="/ppt/slides/slide10.xml" Id="Rd65e4e58bac84074" /><Relationship Type="http://schemas.openxmlformats.org/officeDocument/2006/relationships/slide" Target="/ppt/slides/slide11.xml" Id="R0c84b703c7d84283" /><Relationship Type="http://schemas.openxmlformats.org/officeDocument/2006/relationships/slide" Target="/ppt/slides/slide12.xml" Id="R3288b4c480774dbd" /><Relationship Type="http://schemas.openxmlformats.org/officeDocument/2006/relationships/slide" Target="/ppt/slides/slide13.xml" Id="R1343664df8bd4bbb" /><Relationship Type="http://schemas.openxmlformats.org/officeDocument/2006/relationships/slide" Target="/ppt/slides/slide14.xml" Id="R6815e50017954395" /><Relationship Type="http://schemas.openxmlformats.org/officeDocument/2006/relationships/slide" Target="/ppt/slides/slide15.xml" Id="R3aa043a5716b4416" /><Relationship Type="http://schemas.openxmlformats.org/officeDocument/2006/relationships/slide" Target="/ppt/slides/slide16.xml" Id="R06d9d7e45c5541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4a3d545d88841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06f06b131d429c" /><Relationship Type="http://schemas.openxmlformats.org/officeDocument/2006/relationships/notesMaster" Target="/ppt/notesMasters/notesMaster1.xml" Id="R70187451545944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b08b64aa5f4f4d" /><Relationship Type="http://schemas.openxmlformats.org/officeDocument/2006/relationships/notesMaster" Target="/ppt/notesMasters/notesMaster1.xml" Id="R5276444e7b1348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cd0bbf1d9a4810" /><Relationship Type="http://schemas.openxmlformats.org/officeDocument/2006/relationships/notesMaster" Target="/ppt/notesMasters/notesMaster1.xml" Id="Rf57f0662539345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9679d1892849cb" /><Relationship Type="http://schemas.openxmlformats.org/officeDocument/2006/relationships/notesMaster" Target="/ppt/notesMasters/notesMaster1.xml" Id="Rb99adf81e9ab40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568e2ea6c94a35" /><Relationship Type="http://schemas.openxmlformats.org/officeDocument/2006/relationships/notesMaster" Target="/ppt/notesMasters/notesMaster1.xml" Id="Rea10d82bdd054c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4024375b7a4ed0" /><Relationship Type="http://schemas.openxmlformats.org/officeDocument/2006/relationships/notesMaster" Target="/ppt/notesMasters/notesMaster1.xml" Id="Rb4428ca7117540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1ff93d1d324ddb" /><Relationship Type="http://schemas.openxmlformats.org/officeDocument/2006/relationships/notesMaster" Target="/ppt/notesMasters/notesMaster1.xml" Id="R9958f20fc20346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e9306a909e4fb8" /><Relationship Type="http://schemas.openxmlformats.org/officeDocument/2006/relationships/notesMaster" Target="/ppt/notesMasters/notesMaster1.xml" Id="R449d56d7513e4a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171aed51954b4b" /><Relationship Type="http://schemas.openxmlformats.org/officeDocument/2006/relationships/notesMaster" Target="/ppt/notesMasters/notesMaster1.xml" Id="R40a6ce61d4a94b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a434f773f144c9" /><Relationship Type="http://schemas.openxmlformats.org/officeDocument/2006/relationships/notesMaster" Target="/ppt/notesMasters/notesMaster1.xml" Id="Rf73be3d1ea37463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3a95b384cec4290" /><Relationship Type="http://schemas.openxmlformats.org/officeDocument/2006/relationships/notesMaster" Target="/ppt/notesMasters/notesMaster1.xml" Id="Rb202ccb2bc5e49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d0193d3169d4b20" /><Relationship Type="http://schemas.openxmlformats.org/officeDocument/2006/relationships/notesMaster" Target="/ppt/notesMasters/notesMaster1.xml" Id="R23b22fb84eda460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949367a48949e7" /><Relationship Type="http://schemas.openxmlformats.org/officeDocument/2006/relationships/notesMaster" Target="/ppt/notesMasters/notesMaster1.xml" Id="R0340bea6874b4c9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ee5e59ed8443cf" /><Relationship Type="http://schemas.openxmlformats.org/officeDocument/2006/relationships/notesMaster" Target="/ppt/notesMasters/notesMaster1.xml" Id="R30ae904761084f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d3900b8fe6406e" /><Relationship Type="http://schemas.openxmlformats.org/officeDocument/2006/relationships/notesMaster" Target="/ppt/notesMasters/notesMaster1.xml" Id="Rcb11d5e2be5d47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5b09616bab24a3c" /><Relationship Type="http://schemas.openxmlformats.org/officeDocument/2006/relationships/notesMaster" Target="/ppt/notesMasters/notesMaster1.xml" Id="Rdeedd5daa22a44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humility. Do not imply the team lacks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"I am assuming your team already has strong AI doctor, triage, escalation, and telemedicine infrastructure."</a:t>
            </a:r>
          </a:p>
          <a:p xmlns:a="http://schemas.openxmlformats.org/drawingml/2006/main">
            <a:r>
              <a:t>- "This is a layer around that: what the AI is allowed to infer, what remains unknown, and when autonomy should be capped."</a:t>
            </a:r>
          </a:p>
          <a:p xmlns:a="http://schemas.openxmlformats.org/drawingml/2006/main">
            <a:r>
              <a:t>- "The point of the deck is to orient the demo; the live app is the proof."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for this slide: position yourself as additive, not adversarial.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"At this scale, even a small autonomy-boundary issue matters operationally."</a:t>
            </a:r>
          </a:p>
          <a:p xmlns:a="http://schemas.openxmlformats.org/drawingml/2006/main">
            <a:r>
              <a:t>- "If a patient minimizes because of cost, shame, fear, misunderstanding, anxiety framing, or stoic denial, the AI conversation itself becomes part of the risk."</a:t>
            </a:r>
          </a:p>
          <a:p xmlns:a="http://schemas.openxmlformats.org/drawingml/2006/main">
            <a:r>
              <a:t>- "That is where I think this layer fits: not replacing internal reasoning, but governing its action boundary."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core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am not trying to win a differential diagnosis contest."</a:t>
            </a:r>
          </a:p>
          <a:p xmlns:a="http://schemas.openxmlformats.org/drawingml/2006/main">
            <a:r>
              <a:t>- "The system should know what it knows, what it inferred, what it did not ask, and what it cannot know remotely."</a:t>
            </a:r>
          </a:p>
          <a:p xmlns:a="http://schemas.openxmlformats.org/drawingml/2006/main">
            <a:r>
              <a:t>- "That determines whether autonomy is appropriate."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good place to say "interpretation boundary" out 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path:</a:t>
            </a:r>
          </a:p>
          <a:p xmlns:a="http://schemas.openxmlformats.org/drawingml/2006/main">
            <a:r>
              <a:t>1. Open https://clinsafer.fly.dev</a:t>
            </a:r>
          </a:p>
          <a:p xmlns:a="http://schemas.openxmlformats.org/drawingml/2006/main">
            <a:r>
              <a:t>2. Use "Show Cost-Fear Case" first.</a:t>
            </a:r>
          </a:p>
          <a:p xmlns:a="http://schemas.openxmlformats.org/drawingml/2006/main">
            <a:r>
              <a:t>3. Optional: click Paste Transcript and import a short real encounter.</a:t>
            </a:r>
          </a:p>
          <a:p xmlns:a="http://schemas.openxmlformats.org/drawingml/2006/main">
            <a:r>
              <a:t>4. Analyze.</a:t>
            </a:r>
          </a:p>
          <a:p xmlns:a="http://schemas.openxmlformats.org/drawingml/2006/main">
            <a:r>
              <a:t>5. Stop on Statement vs Fact and Provenance &amp; Authority.</a:t>
            </a:r>
          </a:p>
          <a:p xmlns:a="http://schemas.openxmlformats.org/drawingml/2006/main">
            <a:r>
              <a:t>6. Open Final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he asks for a real encounter: paste it. The app now parses Q/A and speaker-labeled transcripts, leaves turns editable, and infers concepts if blank.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practical demo safety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"If you give me a small de-identified encounter fragment, I can paste it here."</a:t>
            </a:r>
          </a:p>
          <a:p xmlns:a="http://schemas.openxmlformats.org/drawingml/2006/main">
            <a:r>
              <a:t>- "The UI will show a live input parsed proof line so it is obvious that the encounter changed."</a:t>
            </a:r>
          </a:p>
          <a:p xmlns:a="http://schemas.openxmlformats.org/drawingml/2006/main">
            <a:r>
              <a:t>- "Concepts can be blank. The engine infers the likely slot from the question and answer."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Caution: ask for de-identified text only. Avoid PHI in an interview.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explanation:</a:t>
            </a:r>
          </a:p>
          <a:p xmlns:a="http://schemas.openxmlformats.org/drawingml/2006/main">
            <a:r>
              <a:t>- Patient statements become observations with source confidence and trap tags.</a:t>
            </a:r>
          </a:p>
          <a:p xmlns:a="http://schemas.openxmlformats.org/drawingml/2006/main">
            <a:r>
              <a:t>- JRE evaluates readiness: missingness, distortion, contradiction, red flags, objective needs, remote boundaries.</a:t>
            </a:r>
          </a:p>
          <a:p xmlns:a="http://schemas.openxmlformats.org/drawingml/2006/main">
            <a:r>
              <a:t>- Black Swan Guard checks assumptions: identity/proxy, communication channel, envelope fit, source integrity, sentinel risk.</a:t>
            </a:r>
          </a:p>
          <a:p xmlns:a="http://schemas.openxmlformats.org/drawingml/2006/main">
            <a:r>
              <a:t>- LLM findings are advisory candidate signals. They cannot authorize or hard-stop.</a:t>
            </a:r>
          </a:p>
          <a:p xmlns:a="http://schemas.openxmlformats.org/drawingml/2006/main">
            <a:r>
              <a:t>- The final state is the most restrictive of JRE and guardrail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phrase: "The LLM proposes. Governed software disposes."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anticipates the "LLMs are unsafe" objection.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"Every visible signal has provenance and authority."</a:t>
            </a:r>
          </a:p>
          <a:p xmlns:a="http://schemas.openxmlformats.org/drawingml/2006/main">
            <a:r>
              <a:t>- "The LLM is useful, but it is not allowed to make the final autonomy decision."</a:t>
            </a:r>
          </a:p>
          <a:p xmlns:a="http://schemas.openxmlformats.org/drawingml/2006/main">
            <a:r>
              <a:t>- "Memory is also bounded. It can suggest but not authorize."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why this matters:</a:t>
            </a:r>
          </a:p>
          <a:p xmlns:a="http://schemas.openxmlformats.org/drawingml/2006/main">
            <a:r>
              <a:t>- "Without provenance, a clinician or regulator cannot tell whether a decision came from a validated rule, a model hunch, or a memory prior."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When you click Final Recommendations in the app, frame it as the conversion from analysis into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Emphasize:</a:t>
            </a:r>
          </a:p>
          <a:p xmlns:a="http://schemas.openxmlformats.org/drawingml/2006/main">
            <a:r>
              <a:t>- "This is not just explainability. It is operational instruction."</a:t>
            </a:r>
          </a:p>
          <a:p xmlns:a="http://schemas.openxmlformats.org/drawingml/2006/main">
            <a:r>
              <a:t>- "The page distinguishes patient language, human defense patterns, clinical handoff, governance actions, and quality metrics."</a:t>
            </a:r>
          </a:p>
          <a:p xmlns:a="http://schemas.openxmlformats.org/drawingml/2006/main">
            <a:r>
              <a:t>- "This helps with safety, physician efficiency, and patient trust."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not overstate that the patient copy is final clinical guidance. Say it is a demo draft requiring product/clinical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technical audience is skeptical.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real piece is the governed analysis and live UI."</a:t>
            </a:r>
          </a:p>
          <a:p xmlns:a="http://schemas.openxmlformats.org/drawingml/2006/main">
            <a:r>
              <a:t>- "The memory layer is intentionally described as a prototype hook."</a:t>
            </a:r>
          </a:p>
          <a:p xmlns:a="http://schemas.openxmlformats.org/drawingml/2006/main">
            <a:r>
              <a:t>- "I would not deploy online memory without outcome governance and simulation."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honesty is a strength. It avoids sounding like you are selling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first case: cost-fear minimizes alarm.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Why:</a:t>
            </a:r>
          </a:p>
          <a:p xmlns:a="http://schemas.openxmlformats.org/drawingml/2006/main">
            <a:r>
              <a:t>- It is subtle enough for a physician.</a:t>
            </a:r>
          </a:p>
          <a:p xmlns:a="http://schemas.openxmlformats.org/drawingml/2006/main">
            <a:r>
              <a:t>- It is business-relevant without sounding mercenary.</a:t>
            </a:r>
          </a:p>
          <a:p xmlns:a="http://schemas.openxmlformats.org/drawingml/2006/main">
            <a:r>
              <a:t>- It shows patient behavior shaping the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 case if they ask about real-world subtlety: embarrassment curbs history.</a:t>
            </a:r>
          </a:p>
          <a:p xmlns:a="http://schemas.openxmlformats.org/drawingml/2006/main">
            <a:r>
              <a:t>- It shows shame, fear of a bad outcome, misconstrued medical facts, and chart anxiety distorting the history before the model reasons over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 case if they ask what "human" means beyond embarrassment: defense pattern distortion.</a:t>
            </a:r>
          </a:p>
          <a:p xmlns:a="http://schemas.openxmlformats.org/drawingml/2006/main">
            <a:r>
              <a:t>- It bridges anxious somatic amplification/reassurance seeking and stoic minimization/denial without using stigmatizing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care about prescriptions/refills, switch to the stale ACE/CKD/NSAID refill case.</a:t>
            </a:r>
          </a:p>
          <a:p xmlns:a="http://schemas.openxmlformats.org/drawingml/2006/main">
            <a:r>
              <a:t>If they care about caregiver workflows, use caregiver conflict.</a:t>
            </a:r>
          </a:p>
          <a:p xmlns:a="http://schemas.openxmlformats.org/drawingml/2006/main">
            <a:r>
              <a:t>If they care about documentation integrity, use unasked-is-not-denied.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connect medicine and business without making it sound like safety is secondary.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product win is safe automation."</a:t>
            </a:r>
          </a:p>
          <a:p xmlns:a="http://schemas.openxmlformats.org/drawingml/2006/main">
            <a:r>
              <a:t>- "Sometimes the right answer is route now. Sometimes the right answer is ask one better question and avoid unnecessary routing."</a:t>
            </a:r>
          </a:p>
          <a:p xmlns:a="http://schemas.openxmlformats.org/drawingml/2006/main">
            <a:r>
              <a:t>- "Both matter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challenged:</a:t>
            </a:r>
          </a:p>
          <a:p xmlns:a="http://schemas.openxmlformats.org/drawingml/2006/main">
            <a:r>
              <a:t>- "I would measure confirmation rate, false positive escalations, avoidable routing prevented, patient completion after escalation, and clinician correction rate."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brag slide. It is a bridge from demo to interview.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"What I wanted to show is how I think."</a:t>
            </a:r>
          </a:p>
          <a:p xmlns:a="http://schemas.openxmlformats.org/drawingml/2006/main">
            <a:r>
              <a:t>- "At healthcare AI scale, medicine, business, risk, and engineering are not separate problems."</a:t>
            </a:r>
          </a:p>
          <a:p xmlns:a="http://schemas.openxmlformats.org/drawingml/2006/main">
            <a:r>
              <a:t>- "I can work across those surfaces and still build working software."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it calm. Let the app be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your mental checklist, not necessarily as something to present.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Important tone:</a:t>
            </a:r>
          </a:p>
          <a:p xmlns:a="http://schemas.openxmlformats.org/drawingml/2006/main">
            <a:r>
              <a:t>- Never say "you probably do not have this."</a:t>
            </a:r>
          </a:p>
          <a:p xmlns:a="http://schemas.openxmlformats.org/drawingml/2006/main">
            <a:r>
              <a:t>- Say "I do not know your internal safeguards, so I built the kind of layer I would look for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asked where you would start:</a:t>
            </a:r>
          </a:p>
          <a:p xmlns:a="http://schemas.openxmlformats.org/drawingml/2006/main">
            <a:r>
              <a:t>- "Pick one workflow with clear value and measurable risk, likely prescription renewal or low-acuity closure. Run shadow mode against historical cases first."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they ask for architecture details:</a:t>
            </a:r>
          </a:p>
          <a:p xmlns:a="http://schemas.openxmlformats.org/drawingml/2006/main">
            <a:r>
              <a:t>- Input schema: patient_context plus statements with question, answer, concept, source, metadata.</a:t>
            </a:r>
          </a:p>
          <a:p xmlns:a="http://schemas.openxmlformats.org/drawingml/2006/main">
            <a:r>
              <a:t>- Extraction: normalize, infer concept if blank, assign source confidence, apply trap priors.</a:t>
            </a:r>
          </a:p>
          <a:p xmlns:a="http://schemas.openxmlformats.org/drawingml/2006/main">
            <a:r>
              <a:t>- JRE: produces observations, findings, JRI, next questions.</a:t>
            </a:r>
          </a:p>
          <a:p xmlns:a="http://schemas.openxmlformats.org/drawingml/2006/main">
            <a:r>
              <a:t>- BSG: evaluates assumptions and max autonomy tier.</a:t>
            </a:r>
          </a:p>
          <a:p xmlns:a="http://schemas.openxmlformats.org/drawingml/2006/main">
            <a:r>
              <a:t>- Governor: most restrictive state wins.</a:t>
            </a:r>
          </a:p>
          <a:p xmlns:a="http://schemas.openxmlformats.org/drawingml/2006/main">
            <a:r>
              <a:t>- LLM: separate /demo/llm-analyze endpoint, async in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about distributions:</a:t>
            </a:r>
          </a:p>
          <a:p xmlns:a="http://schemas.openxmlformats.org/drawingml/2006/main">
            <a:r>
              <a:t>- Current demo uses bounded deterministic confidence and severity, not full probabilistic distributions.</a:t>
            </a:r>
          </a:p>
          <a:p xmlns:a="http://schemas.openxmlformats.org/drawingml/2006/main">
            <a:r>
              <a:t>- Next version would have AI-proposed node ranges and distributions validated against governed templates and calibration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anti-fragile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pattern:</a:t>
            </a:r>
          </a:p>
          <a:p xmlns:a="http://schemas.openxmlformats.org/drawingml/2006/main">
            <a:r>
              <a:t>1. Agree with the serious part of the objection.</a:t>
            </a:r>
          </a:p>
          <a:p xmlns:a="http://schemas.openxmlformats.org/drawingml/2006/main">
            <a:r>
              <a:t>2. Clarify the boundary.</a:t>
            </a:r>
          </a:p>
          <a:p xmlns:a="http://schemas.openxmlformats.org/drawingml/2006/main">
            <a:r>
              <a:t>3. Say how production would validate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Example:</a:t>
            </a:r>
          </a:p>
          <a:p xmlns:a="http://schemas.openxmlformats.org/drawingml/2006/main">
            <a:r>
              <a:t>- "Yes, a static rule system cannot cover all medicine. That is why I would not scale it by hand-writing templates. I would use AI to propose the expert-system graph, then validate and execute it with governed deterministic software."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collaborative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would love to understand where this kind of boundary layer would matter most inside your current system."</a:t>
            </a:r>
          </a:p>
          <a:p xmlns:a="http://schemas.openxmlformats.org/drawingml/2006/main">
            <a:r>
              <a:t>- "I am not asking you to accept this exact implementation. I am showing the way I think and what I can build."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 interview goes well, offer a specific next step:</a:t>
            </a:r>
          </a:p>
          <a:p xmlns:a="http://schemas.openxmlformats.org/drawingml/2006/main">
            <a:r>
              <a:t>- "Give me one de-identified failure mode or tricky workflow and I can show how I would map it into this boundary framework."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03919d2cff4fd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2945bec6b2a4e96" /><Relationship Type="http://schemas.openxmlformats.org/officeDocument/2006/relationships/slideLayout" Target="/ppt/slideLayouts/slideLayout2.xml" Id="Rcb0da33817ee41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0da33817ee41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13e18ae6a84f2e" /><Relationship Type="http://schemas.openxmlformats.org/officeDocument/2006/relationships/notesSlide" Target="/ppt/notesSlides/notesSlide1.xml" Id="R9024786dd8f64e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b4420a9b054be6" /><Relationship Type="http://schemas.openxmlformats.org/officeDocument/2006/relationships/notesSlide" Target="/ppt/notesSlides/notesSlide2.xml" Id="Rf476030977804e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c32f6366824693" /><Relationship Type="http://schemas.openxmlformats.org/officeDocument/2006/relationships/notesSlide" Target="/ppt/notesSlides/notesSlide3.xml" Id="Rf5b39bb1347447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7fc6cc04b44ada" /><Relationship Type="http://schemas.openxmlformats.org/officeDocument/2006/relationships/notesSlide" Target="/ppt/notesSlides/notesSlide4.xml" Id="Rd4b8b4d2cdbd43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63aa8845974c7b" /><Relationship Type="http://schemas.openxmlformats.org/officeDocument/2006/relationships/notesSlide" Target="/ppt/notesSlides/notesSlide5.xml" Id="Rafe1186a1bba41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e78ecdf2724d0e" /><Relationship Type="http://schemas.openxmlformats.org/officeDocument/2006/relationships/notesSlide" Target="/ppt/notesSlides/notesSlide6.xml" Id="Re0b1b7cf5bef44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45bb96a29f4bb6" /><Relationship Type="http://schemas.openxmlformats.org/officeDocument/2006/relationships/notesSlide" Target="/ppt/notesSlides/notesSlide7.xml" Id="R7c120216bebb45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91932a182943c2" /><Relationship Type="http://schemas.openxmlformats.org/officeDocument/2006/relationships/notesSlide" Target="/ppt/notesSlides/notesSlide8.xml" Id="Ra7b96d42332c4e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6fcc388906487c" /><Relationship Type="http://schemas.openxmlformats.org/officeDocument/2006/relationships/notesSlide" Target="/ppt/notesSlides/notesSlide9.xml" Id="R6d9c916fa279420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a7e5f8f9a64b1d" /><Relationship Type="http://schemas.openxmlformats.org/officeDocument/2006/relationships/notesSlide" Target="/ppt/notesSlides/notesSlide10.xml" Id="R3e872f648f3c4b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824d17b3d84119" /><Relationship Type="http://schemas.openxmlformats.org/officeDocument/2006/relationships/notesSlide" Target="/ppt/notesSlides/notesSlide11.xml" Id="R99acdeca73d24a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c2e06cc67f4633" /><Relationship Type="http://schemas.openxmlformats.org/officeDocument/2006/relationships/notesSlide" Target="/ppt/notesSlides/notesSlide12.xml" Id="Ra2dac0353e134b3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b159555328435b" /><Relationship Type="http://schemas.openxmlformats.org/officeDocument/2006/relationships/notesSlide" Target="/ppt/notesSlides/notesSlide13.xml" Id="R976a56763d1d4b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6697a29f0442fb" /><Relationship Type="http://schemas.openxmlformats.org/officeDocument/2006/relationships/notesSlide" Target="/ppt/notesSlides/notesSlide14.xml" Id="R65c080976e79474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07451e631745d2" /><Relationship Type="http://schemas.openxmlformats.org/officeDocument/2006/relationships/notesSlide" Target="/ppt/notesSlides/notesSlide15.xml" Id="Rb641739387494ba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337856e5454bea" /><Relationship Type="http://schemas.openxmlformats.org/officeDocument/2006/relationships/notesSlide" Target="/ppt/notesSlides/notesSlide16.xml" Id="R716fc5aad32842b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stage">
            <a:extLst xmlns:a="http://schemas.openxmlformats.org/drawingml/2006/main">
              <a:ext uri="{FF2B5EF4-FFF2-40B4-BE49-F238E27FC236}">
                <a16:creationId xmlns:a16="http://schemas.microsoft.com/office/drawing/2014/main" id="{14AC8EB7-3850-40E5-B901-E1255E58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DAA26F-56DD-4F64-AC8C-D353C46E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9582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ClinSafer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F1F026E-968E-49AB-87B7-74348B53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92011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102A43"/>
                </a:solidFill>
              </a:defRPr>
            </a:pPr>
            <a:r>
              <a:rPr sz="6900" b="1">
                <a:solidFill>
                  <a:srgbClr val="102A43"/>
                </a:solidFill>
              </a:rPr>
              <a:t>Autonomy boundaries for AI medicine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0B925-442A-4E7B-858E-AD7D392C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293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04D"/>
          </a:solidFill>
          <a:ln xmlns:a="http://schemas.openxmlformats.org/drawingml/2006/main" w="0">
            <a:solidFill>
              <a:srgbClr val="E260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59118-C184-4212-BBE8-56A9A4D0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8286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2677A"/>
                </a:solidFill>
              </a:defRPr>
            </a:pPr>
            <a:r>
              <a:rPr sz="2325">
                <a:solidFill>
                  <a:srgbClr val="52677A"/>
                </a:solidFill>
              </a:rPr>
              <a:t>A live interview demo for showing how messy patient language becomes governed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ACF7D-3B76-41A7-8AB3-529A0BFB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4193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F46C1-4597-41AC-A0B1-50559F40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71850"/>
            <a:ext cx="2743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synthetic cases in the live library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0620B-0527-4EBD-A193-D3A8E655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07670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327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A50761-CAEC-4681-8544-245682E5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29200"/>
            <a:ext cx="2533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passing tests after final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4EDD0-C415-4E88-809A-D253EE08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7340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B9358-96AF-4E96-83A4-8603DE9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6675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most-restrictive governor decides 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D6D34-3B96-4F29-85FF-A4E81E8C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2392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77A"/>
                </a:solidFill>
              </a:defRPr>
            </a:pPr>
            <a:r>
              <a:rPr sz="1350">
                <a:solidFill>
                  <a:srgbClr val="52677A"/>
                </a:solidFill>
              </a:rPr>
              <a:t>Prepared for an AI healthcare interview conversation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90BFF-A044-4BB6-80EE-CE3962B9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467850"/>
            <a:ext cx="2038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app: 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8245333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B1ECF297-6D87-4ECC-9421-1354EEF7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94D63EB-3B70-47F0-ABF1-BE8F2F52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WHY THIS AUDIENCE SHOULD CARE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60A3A7-E248-4C8A-9701-00FB9FCA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Healthcare AI scale changes the safety problem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82B431D-CC41-4768-B1F8-CEBA1683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At consumer scale, the hard failures are often not obvious triage misses. They are inference, workflow, and autonomy-boundary failures.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03157-B7A6-495C-8A0B-D155EC5E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77914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2A43"/>
                </a:solidFill>
              </a:defRPr>
            </a:pPr>
            <a:r>
              <a:rPr sz="4050" b="1">
                <a:solidFill>
                  <a:srgbClr val="102A43"/>
                </a:solidFill>
              </a:rPr>
              <a:t>The product question is not just diagnosis.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F1CD9-F08B-408F-BB7C-8F31A85D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10350"/>
            <a:ext cx="8229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52677A"/>
                </a:solidFill>
              </a:defRPr>
            </a:pPr>
            <a:r>
              <a:rPr sz="2400">
                <a:solidFill>
                  <a:srgbClr val="52677A"/>
                </a:solidFill>
              </a:rPr>
              <a:t>It is whether the system has enough reliable evidence to act, reassure, refill, route, or stop.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57F6A-2E9D-46FE-ADF1-B6B0B7C1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9243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80754-8F4C-42F1-BC5E-321BDBA1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76800"/>
            <a:ext cx="3086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high-volume patient-facing AI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8774C-0AEF-49D3-9A07-09460487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65785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EE3FB1-63E0-42FC-9EF4-AD3967F6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6103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low-friction clinician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DC2E2-F6A5-4FBC-9BE6-E5C7BB6F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71628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725AC1"/>
                </a:solidFill>
              </a:defRPr>
            </a:pPr>
            <a:r>
              <a:rPr sz="5850" b="1">
                <a:solidFill>
                  <a:srgbClr val="725AC1"/>
                </a:solidFill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C440-CEC5-48F3-83AA-6DBE1BE6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8096250"/>
            <a:ext cx="2990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governed permission to act or stop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1CABDC2-E87E-4E8D-928E-2F0E6841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82150"/>
            <a:ext cx="4419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Sources: live ClinSafer app, local test suite, and generated demo artifacts.</a:t>
            </a:r>
          </a:p>
        </p:txBody>
      </p:sp>
      <p:sp>
        <p:nvSpPr>
          <p:cNvPr id="1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2A757F42-83B7-4E2F-9E88-607FD7D6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5683075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730BA58-FC39-4E2D-91B8-A47C0CE3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F672D72-A4F8-41B5-A297-0077583D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ONE SENTENCE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2D3F60-77D7-4FE1-8C2C-B9863A6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thesis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7B35CD0-62A5-4767-9BB6-1CEABA92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Messy language needs an autonomy governor, not just a smarter answer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04CE4-9A47-49BA-96DA-E9CE0085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F6296-2E63-4DAD-BEAA-4F50B87D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What was said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154A4-D549-45D2-BE1F-6BF6CE3F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statements, denials, goals, barriers, source, freshness.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42A2C-24BA-4273-9CD9-0EC65197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35F835-4173-483A-945D-4CB201DE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What can be inferred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10A51-1F3B-49B5-B5E7-48C0CC1E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Only bounded interpretations with confidence, provenance, and close-boundary questions.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2AD97-64AE-4FE0-82E7-D40A7B6E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75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A0C6D-6358-450D-8372-B0498A1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What cannot be assumed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425CB-4B03-4E81-8D3D-C5D9DFB6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Unasked symptoms, stale data, remote-unknowable findings, coercion, contradiction.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62A5A2-447F-43D0-B8A8-88C245CF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The demo is about safe permission to act, not diagnosis prediction.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9B95968-DA8F-4546-A69C-0B575D5A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429BEB1-22CC-429B-A6C7-E01413F7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4483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07663920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B06BCDC1-134D-4B46-9C4F-CA257950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76219E3-47D8-4038-9A56-893A3B31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HOW TO RUN IT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1D6DD2-597E-476B-9E39-B8590E06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Seven-minute live demo path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1934E26-EE9A-46D2-AF11-92EC17CD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Keep the interview on the product idea. Do not wander through the whole case library.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27B528-A3CD-4D0A-9316-9600800E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08756F"/>
                </a:solidFill>
              </a:defRPr>
            </a:pPr>
            <a:r>
              <a:rPr sz="5550" b="1">
                <a:solidFill>
                  <a:srgbClr val="0875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DC28D-234B-4ED6-907F-AC195156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Pick or paste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C26C9-D355-4113-9769-DA69684F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Use cost-fear case or real encounter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1F719-7399-43CB-8563-37DAC654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2364AA"/>
                </a:solidFill>
              </a:defRPr>
            </a:pPr>
            <a:r>
              <a:rPr sz="5550" b="1">
                <a:solidFill>
                  <a:srgbClr val="2364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069CC-ADF7-4C7D-A3F5-3DEA507E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Analyze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8665F-07D4-477E-B850-8D1E5791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JRE and Black Swan Guard run deterministically.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BCB71-F404-4061-96FB-AA689487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725AC1"/>
                </a:solidFill>
              </a:defRPr>
            </a:pPr>
            <a:r>
              <a:rPr sz="5550" b="1">
                <a:solidFill>
                  <a:srgbClr val="725AC1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390838-6867-4035-93DE-E560CFD4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Inspect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9AA07E-8F0E-47F9-B837-8416FC0E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Statement vs Fact and Provenance show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B5491-D534-4C2B-9950-EF16F45C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E2604D"/>
                </a:solidFill>
              </a:defRPr>
            </a:pPr>
            <a:r>
              <a:rPr sz="5550" b="1">
                <a:solidFill>
                  <a:srgbClr val="E2604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3392C-E4D7-47BF-93E2-0F984CE9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BCE12D-3A2A-4133-93B0-1E9FD5FA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 restrictive governor caps autonomy.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C5EF2A-D00B-446C-ABE7-E2EE5680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3A9D6B"/>
                </a:solidFill>
              </a:defRPr>
            </a:pPr>
            <a:r>
              <a:rPr sz="5550" b="1">
                <a:solidFill>
                  <a:srgbClr val="3A9D6B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A9549-89F1-49CF-98DA-02BC70FC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A9AD49-083A-49EB-A571-EE046E3F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Final page gives action, handoff, and metrics.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4A4DA1A-1196-4334-A1B8-C32DA240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863413C-6A64-4701-8890-2EC4BAA4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1067400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621E0E8-C3A6-4F53-8C1C-EBEE94E4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D8D1312-3D37-499D-B7C4-E10CD23B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INPUT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474294-B5F6-4AC9-85ED-F13555CA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If they ask for real dialogue, use paste import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189E2E3-8C86-4469-B7B9-D74F1A5B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is not locked to fixed cases. Pasted encounter text becomes editable, inferred, and analyzed.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D95CF-0AA6-4821-B6F9-4F650ACD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937308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956F84-F7C5-41DC-9917-7A27012C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84391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Do you have chest pain?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No, just tight indigestion when I walk.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Any shortness of breath?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Not really. I slow down so it does not get 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151E7-2489-4556-A16B-CFC054FE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458533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62C8C-9845-44B6-8F6E-5215701D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7625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Parsed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F55C38-228C-44AD-A7D3-8BC4A1C8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1054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Q/A, clinician/patient labels, and alternating 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DCE04-CE7C-4209-88A6-D58C694A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571309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87071-CD29-406E-98B3-213EC85F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8864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Editable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F045B-9F2D-46F8-9D47-E6E90D0D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22935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Question, answer, source, and concept can be changed before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FD94EF-2621-451D-A4C6-62C5C5CE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684085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061D1-2F26-4C6B-948D-98A616F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0104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Inferred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F36C02-C195-4140-B38F-E88DCC9C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3533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Blank concept fields are inferred from question plus answer text.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A643003-C601-4E3E-A47E-C1E82F93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59D553C-006F-4265-886E-2C74A941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76049948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10E65C01-4729-4EF0-9DEA-99492C8B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AF0D725-393F-4E06-A647-CE9390A0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TECHNICAL BACKBONE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814EB2-AFB2-4A90-9F88-87F77E0E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method is ensemble governance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3E2C068-1D74-4C02-9D9C-D9785FFE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LLM candidates help find signals, but deterministic validators and guardrails decide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8A71A-656C-479C-88B1-F4050BC4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B55405-FD63-4C00-AF66-26A746C7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C425F-3B56-4A73-AC70-4ED95E2B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Dialogue, source, patient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049A5-F865-4BE9-86FF-F8B1E87A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F9137-D48A-4B4F-85F6-092F6409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CF533E-C7DF-45C3-B6C9-A1286CDA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Extractor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549C7D-2F37-4512-85B2-21390575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Normalize observations and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E827D-F34B-49B8-B9B2-C983B834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BFFA6A-501E-440A-9782-0EBB87D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E70075-02D3-4B10-AA3F-71AADA5B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JRE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B4ADC-5F56-42E9-B3DD-26E6ED6E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Missing, uncertain, distorted, contradictory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F178D-A596-4C21-B369-15F251C0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EF7B5-067C-476D-A23C-19A38AFB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3B7C46-4E21-4679-BABD-FCCE6764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BSG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BB1FDB-4C27-4AEB-B109-811C9556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Operating envelope and autonomy cap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0AD0A0-DDC7-498E-AA09-0AB48C91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14123D-9A35-4C55-8C6C-8BC74B81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62300C-5BD2-4B08-B2EB-E3D0170C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Governor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05A7F1-3708-4F97-8890-35AE5EA1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Most restrictive state wins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6F3458-7B4E-43B3-96CD-563C5046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1482D4-B43A-4C08-A15F-CD15E4F2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600937-5934-4122-997E-98CCB706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C33E90-BB5A-4008-B8A6-17D2D376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Questions, handoff, recommendations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CB35D9-E6FC-4F62-83F3-8A639FF9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439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Autonomy is capped by authority, not by model confidence alone.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31E3BEA-E909-4917-84A8-61DD8189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2DC2385-C01E-4E0F-AD2F-CFD0D2FA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583548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CDD7FA8-360F-4FDB-9AB0-0CE680B1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4EB9B470-A996-4697-A4D0-F58BA291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WHAT TO POINT AT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6FEE5A-A410-4473-BE0B-192AF6E5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Provenance is the safety interface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A47F8C3-2C68-4402-92E5-A896B3A9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separates signal source from action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FDD026-EF51-412A-B334-03E7C193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Curated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B9FE9-1265-4668-9033-62922A93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19659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D21D9-FF15-4D22-AE60-15EF918E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Enforced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09B56-4DC9-4E9C-B00D-EB1457C5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ask, route, block, or cap.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CE56F-5D2D-4724-86DB-54DF860A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LLM candidates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149CA-CC17-4CC1-9AC4-A5B34572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69570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494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B35756-302B-4B15-9750-098752D1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909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41E"/>
                </a:solidFill>
              </a:defRPr>
            </a:pPr>
            <a:r>
              <a:rPr sz="1275" b="1">
                <a:solidFill>
                  <a:srgbClr val="D4941E"/>
                </a:solidFill>
              </a:rPr>
              <a:t>Advisory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A9CED3-61F7-4DC6-B81C-4284B3FC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957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suggest review targets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6A5B6-74B6-48B3-9FFD-45C80183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Learned priors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392A34-A8AC-4961-8A5F-7A8AE622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19481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4BB3B6-7358-4259-ABE1-69250AD7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862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Bounded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178A79-8A0E-4A92-A1AE-9A7E4682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910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Tune confidence and question priority.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BC58E-80B8-4D98-8E2B-0721F76B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Memory hooks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175B3F-8BCC-4F67-B388-45A33FCB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69392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3CCAA8-0CE5-463F-AE8C-77C7548F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Advisory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A760BC-F9A8-426B-9549-6A06B0B0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863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Suggest missing nodes and falsifiers.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5FD54C-038E-4613-88C2-201D24E0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Ensemble governor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9CE8BE-6CB3-490C-9FD1-5D20738B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519303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260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80C1EB-04A6-43EB-9903-2E5F2D98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2604D"/>
                </a:solidFill>
              </a:defRPr>
            </a:pPr>
            <a:r>
              <a:rPr sz="1275" b="1">
                <a:solidFill>
                  <a:srgbClr val="E2604D"/>
                </a:solidFill>
              </a:rPr>
              <a:t>Enforced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5FCCAF-50B7-430D-98B6-E21D87F9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65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Most restrictive final state wins.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C278BB4-F8D3-4150-9886-7108685C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5027CB2-9F4A-4633-B688-7045BC92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5958652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545C30B7-5297-4D99-8FE7-CE258632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4CF184E-8FF0-4929-B4C3-AA3EBF30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FINAL RECOMMENDATIONS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A410B2-F410-43CD-9793-13291A22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final page must be actionable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1F2B85-9087-4BF1-ACB9-12829767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 polished analysis is not enough. The output has to tell a human and the system what to do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D3969-99FB-4BD8-8FFF-7BC83A0A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F1E0C6-5B77-4AA3-9F64-60FDD5BD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Disposition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6FAA1-81BE-4EE8-AB93-D873FB3E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ESCALATE, HOLD, NEED_OBJECTIVE_DATA, ROUTE_CLINICIAN, or narrow audited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177FD9-A539-4095-B49A-00E2245A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94284-C081-46C0-A782-3DFAD986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Immediate 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13642-3DD1-48FF-B906-88D5B702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What is allowed now, what is blocked, and what restores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C1FC5D-265A-4DE0-B0F4-56D118B2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DA49C-2F0D-4E81-BCF9-BFB9B9FD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Human factors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82FE9-500A-4BD0-9BE0-F052188A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Defense/disclosure cues become inference limits and next-question strategy, not patient labels.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C0463-C5AB-453E-82D1-4FD04497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65D07-5227-4A57-87DC-4C60A7BB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Clinician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06090C-FD9D-4ACF-BB73-961BFC7D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Boundary map and top blockers instead of raw transcript only.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A4C2D9F-333D-4858-938F-8A9C2B3F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D387E88-3E69-4B72-B149-6E278A35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439883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5D6FFE3D-8CC8-4DA9-9ADB-2956ACA2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912F1D7-FBF9-42B0-9C01-7648A29E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CREDIBILITY CHECK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15F550-0B7E-4417-A7E4-FFDC57B5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Be precise about what is real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66776EF-CA8E-40DF-8F15-89594B37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This slide prevents the demo from sounding like vaporware or overclaiming.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AB9CE9-AE29-4ABA-83D5-2BD922DB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Implemented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C5225-6CC0-4B54-B659-BCDBEFFA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Deterministic JRE, Black Swan Guard, live edit/paste, LLM extractor, final recommendations, tests.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92CD5-ED17-4A84-9972-C1821519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64AA"/>
                </a:solidFill>
              </a:defRPr>
            </a:pPr>
            <a:r>
              <a:rPr sz="2250" b="1">
                <a:solidFill>
                  <a:srgbClr val="2364AA"/>
                </a:solidFill>
              </a:rPr>
              <a:t>Prototype 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5C7A7-3703-4EE8-A3D1-233A945C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In-memory learning, trace regions, VAMS-style near-miss recall, governed template promotion.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5FC6E-C602-4D87-9ABD-4D47811A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191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2604D"/>
                </a:solidFill>
              </a:defRPr>
            </a:pPr>
            <a:r>
              <a:rPr sz="2250" b="1">
                <a:solidFill>
                  <a:srgbClr val="E2604D"/>
                </a:solidFill>
              </a:rPr>
              <a:t>Not claimed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D6EAA-FEF6-45C4-9A98-D0D61D18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43400"/>
            <a:ext cx="12192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Production clinical validation, persistent memory, autonomous prescription approval, medical device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6035CC-CD1A-4B85-835E-17111B9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0"/>
            <a:ext cx="1641443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AC4B58-6B82-4B3E-9C73-CE44DED4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67750"/>
            <a:ext cx="1295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327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0A483E-AA61-4707-BE61-1F12949E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193" y="8572500"/>
            <a:ext cx="1878044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0D142E-6111-4E40-8504-20252862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6677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Live Fly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55A9F7-1CCB-485A-875B-DE21F6E9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937" y="8572500"/>
            <a:ext cx="2822162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4E29EE-6CBE-4DB8-B7F6-9C0D7D14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86677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OpenRouter model configurable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C728029-14E5-4879-A875-80DF1F88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56D10E4-48BB-4EFB-87F4-CC40BD4C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56522454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F7899F1-9090-4373-A0DC-3BA43250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730A4F5-8A14-402D-B609-A3378C9E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DEMO CHOICES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12A5C2-54D8-4B8C-A388-30FCF1BC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Cases to run if the conversation shifts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AABA4B1-ACE6-4095-B451-A3DDC47D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one case at a time. Each one demonstrates a different boundary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EA0AF-EE65-49E7-9918-19E87CD4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6AE12-285F-489F-8F1A-F8D62372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Cost fear minimizes alarm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25132-C49B-4DAF-AC84-2E337668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asks the system to approve delay while describing exertional tightness.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1F6A7-A81B-4F45-9180-55860C44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67F9F-8AB9-455D-8CF1-C11FE0AA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Embarrassment curbs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C71A61-0F88-4346-A8E1-61A9D51B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walks back alarm details because of shame, internet fear, and chart anxiety.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30778C-0EC7-4339-8C0E-CBEC4165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E4827-5BDD-45A2-9402-F0611773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Defense pattern distortion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D42C6-0267-415C-8B73-75ABEA95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labels exertional pressure as anxiety while also trying to tough it out.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EB992-C641-46FA-833D-922277D8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9438A-6FD4-418A-9595-B8640EA8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Caregiver conflict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3BDEC3-F964-4BC4-95DC-745E6D2B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says fine; caregiver reports confusion. Source conflict caps autonomy.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D6157EB-575D-4753-B108-B0E269F6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AC8606A-CAAD-4ED9-B31E-D00FD2F0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4307539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951ED921-1849-4B87-A38A-2D500BC4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2C239C7-0907-443F-A21D-34F0078B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OPERATING LEVERAGE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46F0A3-799E-4EB5-AF4A-E8940FF1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value is safer automation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E0132ED-9873-4D3B-8727-3EBCC6D5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same boundary layer can reduce unsafe automation and avoidable human routing.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3D69AB-D649-4435-92C5-5D898CBB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75CEBC-27D5-46A0-8464-C7E8C536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3162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Blocks action when assumptions fail.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30071D-8F85-4040-AF87-587CD2F8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197D33-DC6C-4B4C-981F-9C3A838A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529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Closes fixable evidence gaps before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EF847D-DF28-4B8B-AA7E-95C81E7E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64D895-8377-4C04-B65A-CE48910B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3676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Explains uncertainty without dismissing the patient.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7C10E-F5AD-4EF5-B148-19D9E379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CFC6E9-DCBD-464D-817D-C870449A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529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Hands clinicians a boundary map, not just transcript.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883A39-61AF-435C-A776-A7709103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96300"/>
            <a:ext cx="1346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Metric to track: percent of routed cases where one clarification changes disposition or prevents avoidable physician review.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F91FA6A-3021-4946-9A54-B9911453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2747D4EB-ED86-40E4-81EB-D7948A62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24579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0761F2D3-CD15-4484-B850-E09EA59D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008484E-792B-4229-AD7F-E8AB5A84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YOUR STORY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8029E6-E22C-401F-91D5-318E4257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What I bring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5E57701-3C60-4997-A49E-13B978CD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differentiator is cross-domain judgment, not just code output.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6C773-E3F6-4EB2-96A1-381CC725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9E8370-65D1-4985-A541-279660AE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Medicine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23317-A717-4DB0-AAD8-303D9590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Clinical risk, patient language, remote limits, physician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C68BF0-B7A5-410B-94E4-89A8CA85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1F48E-1E60-40ED-94A1-EE653FF4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AI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897F9A-327A-42CB-809F-AA51D9C9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LLM extraction, expert-system shells, ensemble governance, memory boundaries.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76D6AE-B4D2-4D83-803C-2D17F38E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5C5E69-F911-47C9-8423-DFEB80EF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Operations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F4CDF-CCE3-43E2-966F-0C392D44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Routing, churn, escalation rationale, clinician efficiency, auditability.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04F23-2347-4999-88DF-F90393BA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152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9C634-F967-4635-BA3C-DC337609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EEB3C-117A-4188-A146-19139F6A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Fail-closed thinking, provenance, governed promotion, no uncontrolled online learning.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755EDB-8F5B-49D4-9ED3-BC8B125E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35ED81-2A7A-4101-8F6A-AA1FB7FD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15D670-3BAD-47B4-B59B-4AE2EE33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Demoable UX that makes invisible safety reasoning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E83A74-5714-41ED-BAB0-7EE2D0E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C8B2DE-CD06-4D04-8C24-8ADC8092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FF4919-6D22-4864-9D33-FD4F5804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Built, tested, pushed, deployed, and iterated from feedback.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F5683A2-1DAE-45EE-8C8E-80512406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9CD4296-6952-4963-B7FC-A5796CE6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150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3172594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AE9DEACF-CD77-4FFF-ABB1-F1A8E7F4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70BF2EFD-E38F-41AF-B88C-BFDFD3ED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EXECUTIVE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A6BD49-0234-44C2-B400-84EABD89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executive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83F226B-3FEA-41FD-8544-896B7CC1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Answer directly, then point back to the live app.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E71D4-D9ED-4579-BF56-5F718A9C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Are you saying we lack this?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A22D9-1416-4E6C-B0A3-26259766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I assume you have strong safeguards. This is how I think about the next boundary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0C32B-5329-4D64-AD9E-BB62381D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How does it help the business?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D794AA-4A1F-4260-9B85-1BD0A9CB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Safer automation, less avoidable review, clearer escalation rationale, lower abandonment.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0324F-0F43-4A73-9BC9-AD2A94EC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would you measure?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D7F7D-E637-487E-8113-2C6376BD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Clinician confirmation, correction rate, avoidable routing, patient completion, evidence-gap closure.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68B00-7FF8-4A1F-A474-0061DEDC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Where would it 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50992-8AAA-4A97-8BA4-15C20780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Before autonomous action, refill renewal, low-acuity closure, or physician handoff.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C670FF-FC77-48FF-86EE-8D7333E3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is production path?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73721-6D1A-41D6-8ABE-A52EA498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Persistent memory, outcome labels, simulation suite, governance promotion, clinical review.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4629BC8-534D-417B-98D2-7B1A5E47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C14490F0-47D7-4B89-BD71-854020B3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417247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A08BC11D-4B66-4127-8975-09D58FEC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6A4BDB8-8A51-4F44-9071-2A146371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DEV TEAM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AA2CEC-40BB-4A1C-AEC1-FC94B093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technical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9379D81-64A9-40A0-A536-58DC8093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Be crisp: deterministic core, advisory model, governed learning.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60C56-2163-4F10-A393-B9185276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Is this rules or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11C0B-48E3-40F6-A7EC-7ED486A7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Both. AI proposes candidates; deterministic systems validate, score, and cap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DE225F-9D08-409C-91CB-9999537C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are nodes selected?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C461A-4811-44FC-8CE3-DEEFC9C3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Domain templates now; next version lets AI propose case-specific graph nodes for governed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802E4-0373-4A55-8F11-904A0616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Can LLM override rules?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80D8F4-559A-4439-9EEA-CF7C886C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LLM-only findings are advisory and cannot authorize or hard-stop.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AC83C-6352-472A-95DE-313B5E72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What about latency?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700DD6-936A-46F2-A2B5-07035B90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Core analysis is fast and deterministic. LLM runs async with timeout and retry.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020B4D-271E-4F07-8BF4-DBBEA193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prevent memory drift?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89BBA-9D29-492D-9001-CDDD9C97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Memory proposes missing nodes/falsifiers only. Promotion requires review and simulation.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B659C3B-9056-46B1-A310-7CA0BC0C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97FBC2E-AE3F-4BDA-B8AB-1D20E60D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73453936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07C4852A-A0AC-4897-929B-AEECC7FB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71CD0B19-4C44-4D2C-A729-8C1AC39B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INTERVIEW DEFENSE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93A1F0-643F-40FC-AFEB-154D82D3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How to handle hard objections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0F2878D-3204-4204-8A2C-91889AD7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Do not defend everything. Separate what is implemented from what is future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5091C-145A-4D79-BE87-E8DD5332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DE10D-C756-4A22-839E-174E057F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This is too static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0DCA9-C6A2-4A7E-B571-49B26115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The demo is inspectable. The next version uses AI-proposed graphs with deterministic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CF38EE-6989-49A6-8408-7EE591DF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8BA254-A3E9-4A73-AA9C-4ECB291E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This may over-route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3279D-A44E-4E73-8DBE-8B60B41A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 that calibration matters. Track false positives, avoided routing, clinician confirmation, and patient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603C3-2716-4BB8-89C3-772620A0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962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146CA-9CF9-4817-9555-5CAFC244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Memory is dangerous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49976C-DA0A-4FF7-AE6B-ED721538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Memory cannot authorize action. It only suggests questions, falsifiers, and review targets.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5A763-9BEE-477A-A0B1-1FCD40F3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9620"/>
            <a:ext cx="813435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E3992-4188-4A18-B993-FF18A5BD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We already have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2E69D4-E1A3-48BB-BAA9-15373ED1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Good. This layer governs what triage is allowed to infer and do under uncertainty.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37471FF-62A9-4577-B9C5-03794B00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08EB5DA-21A8-4C68-99C9-C8767B81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53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8728150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ED48E2A-0548-49D8-AAAB-A788632B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DD2F755-0379-4C63-B0DE-8838401E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CLOSE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89D6AF-236F-4D61-995E-FD279B0D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ask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612BED5-B807-4ECF-8062-E908F0F9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the demo to start a working conversation, not to claim finished production software.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7AEF15-693C-430A-BBED-8D12CC29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63055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43"/>
                </a:solidFill>
              </a:defRPr>
            </a:pPr>
            <a:r>
              <a:rPr sz="3750" b="1">
                <a:solidFill>
                  <a:srgbClr val="102A43"/>
                </a:solidFill>
              </a:rPr>
              <a:t>Where would this boundary layer plug into your highest-leverage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2CC6A-74E1-45F3-8F88-867FF1FF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05650"/>
            <a:ext cx="6400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77A"/>
                </a:solidFill>
              </a:defRPr>
            </a:pPr>
            <a:r>
              <a:rPr sz="1950">
                <a:solidFill>
                  <a:srgbClr val="52677A"/>
                </a:solidFill>
              </a:rPr>
              <a:t>Refills, low-acuity closure, physician handoff, or post-chat escalation persistence.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A0F58-1ED2-4874-AC8A-19CB3D92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460438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24678-7D9A-484D-B7F6-8E5C33ED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First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E5195E-CC08-4983-8AEA-21730B39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244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Shadow-mode one workflow, map failure modes, define metrics, and run historical replay.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87260-50CF-4171-AB2C-1397B907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571309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75F2B-03FE-47B6-AB2C-1FAF7D3F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864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First 60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39CE0-CE25-4D3D-884D-27D286A8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2293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Integrate with one intake surface and clinician feedback loop.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82206-396F-435D-8220-8F2AB5C1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682180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FE4D89-8889-4F97-907A-2B7AF936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9913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First 90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3CD118-E011-4081-9D02-8781D91F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3342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Governed promotion process for new nodes, rules, and memory recalls.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1A33223-2F0A-45EB-A917-DF6BCDAF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Deck sources: app verification, local tests, Fly deployment, and generated demo artifacts.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0E4B461-1D68-486F-A9DF-5EE5DDD5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1074102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2026-04-28T11:41:55.8440000Z</dcterms:created>
  <dcterms:modified xsi:type="dcterms:W3CDTF">2026-04-28T11:41:55.8440000Z</dcterms:modified>
</coreProperties>
</file>