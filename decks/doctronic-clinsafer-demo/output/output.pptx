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360fad1e64d33" /><Relationship Type="http://schemas.openxmlformats.org/officeDocument/2006/relationships/extended-properties" Target="/docProps/app.xml" Id="Re3fc97d7d23e4af6" /><Relationship Type="http://schemas.openxmlformats.org/officeDocument/2006/relationships/officeDocument" Target="/ppt/presentation.xml" Id="R728dcb1050c943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d93fcedc764cc2"/>
  </p:sldMasterIdLst>
  <p:notesMasterIdLst>
    <p:notesMasterId xmlns:r="http://schemas.openxmlformats.org/officeDocument/2006/relationships" r:id="R02f650b0d92a40a5"/>
  </p:notesMasterIdLst>
  <p:sldIdLst>
    <p:sldId xmlns:r="http://schemas.openxmlformats.org/officeDocument/2006/relationships" id="256" r:id="R131201b70b3643e8"/>
    <p:sldId xmlns:r="http://schemas.openxmlformats.org/officeDocument/2006/relationships" id="257" r:id="R06c88e1880144fef"/>
    <p:sldId xmlns:r="http://schemas.openxmlformats.org/officeDocument/2006/relationships" id="258" r:id="R6eebf69a84fd4dce"/>
    <p:sldId xmlns:r="http://schemas.openxmlformats.org/officeDocument/2006/relationships" id="259" r:id="Rbc4a5fe14b4e4462"/>
    <p:sldId xmlns:r="http://schemas.openxmlformats.org/officeDocument/2006/relationships" id="260" r:id="Rd31851c6226d40e6"/>
    <p:sldId xmlns:r="http://schemas.openxmlformats.org/officeDocument/2006/relationships" id="261" r:id="R7e6e5f81011d4870"/>
    <p:sldId xmlns:r="http://schemas.openxmlformats.org/officeDocument/2006/relationships" id="262" r:id="R111d67f5d4ae4e27"/>
    <p:sldId xmlns:r="http://schemas.openxmlformats.org/officeDocument/2006/relationships" id="263" r:id="R0451f3cebe3b4960"/>
    <p:sldId xmlns:r="http://schemas.openxmlformats.org/officeDocument/2006/relationships" id="264" r:id="Rc38566f55d474b56"/>
    <p:sldId xmlns:r="http://schemas.openxmlformats.org/officeDocument/2006/relationships" id="265" r:id="R4bc23ccba1194ae4"/>
    <p:sldId xmlns:r="http://schemas.openxmlformats.org/officeDocument/2006/relationships" id="266" r:id="R73e225db04ce4876"/>
    <p:sldId xmlns:r="http://schemas.openxmlformats.org/officeDocument/2006/relationships" id="267" r:id="R5b53127481ac48fd"/>
    <p:sldId xmlns:r="http://schemas.openxmlformats.org/officeDocument/2006/relationships" id="268" r:id="Rac43311c2d50450b"/>
    <p:sldId xmlns:r="http://schemas.openxmlformats.org/officeDocument/2006/relationships" id="269" r:id="R143379533fde419b"/>
    <p:sldId xmlns:r="http://schemas.openxmlformats.org/officeDocument/2006/relationships" id="270" r:id="R3edc004d89be44f9"/>
    <p:sldId xmlns:r="http://schemas.openxmlformats.org/officeDocument/2006/relationships" id="271" r:id="R45d9987236514a0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93fcedc764cc2" /><Relationship Type="http://schemas.openxmlformats.org/officeDocument/2006/relationships/theme" Target="/ppt/theme/theme1.xml" Id="Re93460b9d1c04ecd" /><Relationship Type="http://schemas.openxmlformats.org/officeDocument/2006/relationships/notesMaster" Target="/ppt/notesMasters/notesMaster1.xml" Id="R02f650b0d92a40a5" /><Relationship Type="http://schemas.openxmlformats.org/officeDocument/2006/relationships/presProps" Target="/ppt/presProps.xml" Id="R4ceb7f8167c94d02" /><Relationship Type="http://schemas.openxmlformats.org/officeDocument/2006/relationships/viewProps" Target="/ppt/viewProps.xml" Id="R51f4cffcb2b54ff7" /><Relationship Type="http://schemas.openxmlformats.org/officeDocument/2006/relationships/tableStyles" Target="/ppt/tableStyles.xml" Id="R00350ac0912a4863" /><Relationship Type="http://schemas.openxmlformats.org/officeDocument/2006/relationships/slide" Target="/ppt/slides/slide1.xml" Id="R131201b70b3643e8" /><Relationship Type="http://schemas.openxmlformats.org/officeDocument/2006/relationships/slide" Target="/ppt/slides/slide2.xml" Id="R06c88e1880144fef" /><Relationship Type="http://schemas.openxmlformats.org/officeDocument/2006/relationships/slide" Target="/ppt/slides/slide3.xml" Id="R6eebf69a84fd4dce" /><Relationship Type="http://schemas.openxmlformats.org/officeDocument/2006/relationships/slide" Target="/ppt/slides/slide4.xml" Id="Rbc4a5fe14b4e4462" /><Relationship Type="http://schemas.openxmlformats.org/officeDocument/2006/relationships/slide" Target="/ppt/slides/slide5.xml" Id="Rd31851c6226d40e6" /><Relationship Type="http://schemas.openxmlformats.org/officeDocument/2006/relationships/slide" Target="/ppt/slides/slide6.xml" Id="R7e6e5f81011d4870" /><Relationship Type="http://schemas.openxmlformats.org/officeDocument/2006/relationships/slide" Target="/ppt/slides/slide7.xml" Id="R111d67f5d4ae4e27" /><Relationship Type="http://schemas.openxmlformats.org/officeDocument/2006/relationships/slide" Target="/ppt/slides/slide8.xml" Id="R0451f3cebe3b4960" /><Relationship Type="http://schemas.openxmlformats.org/officeDocument/2006/relationships/slide" Target="/ppt/slides/slide9.xml" Id="Rc38566f55d474b56" /><Relationship Type="http://schemas.openxmlformats.org/officeDocument/2006/relationships/slide" Target="/ppt/slides/slide10.xml" Id="R4bc23ccba1194ae4" /><Relationship Type="http://schemas.openxmlformats.org/officeDocument/2006/relationships/slide" Target="/ppt/slides/slide11.xml" Id="R73e225db04ce4876" /><Relationship Type="http://schemas.openxmlformats.org/officeDocument/2006/relationships/slide" Target="/ppt/slides/slide12.xml" Id="R5b53127481ac48fd" /><Relationship Type="http://schemas.openxmlformats.org/officeDocument/2006/relationships/slide" Target="/ppt/slides/slide13.xml" Id="Rac43311c2d50450b" /><Relationship Type="http://schemas.openxmlformats.org/officeDocument/2006/relationships/slide" Target="/ppt/slides/slide14.xml" Id="R143379533fde419b" /><Relationship Type="http://schemas.openxmlformats.org/officeDocument/2006/relationships/slide" Target="/ppt/slides/slide15.xml" Id="R3edc004d89be44f9" /><Relationship Type="http://schemas.openxmlformats.org/officeDocument/2006/relationships/slide" Target="/ppt/slides/slide16.xml" Id="R45d9987236514a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2589038499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a0f63274647e1" /><Relationship Type="http://schemas.openxmlformats.org/officeDocument/2006/relationships/notesMaster" Target="/ppt/notesMasters/notesMaster1.xml" Id="R36d53d1848a14b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f3fcaf3a1465f" /><Relationship Type="http://schemas.openxmlformats.org/officeDocument/2006/relationships/notesMaster" Target="/ppt/notesMasters/notesMaster1.xml" Id="R45bf05b1a4254d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2420c61904d29" /><Relationship Type="http://schemas.openxmlformats.org/officeDocument/2006/relationships/notesMaster" Target="/ppt/notesMasters/notesMaster1.xml" Id="Ref2913b6496245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3374d8472f4894" /><Relationship Type="http://schemas.openxmlformats.org/officeDocument/2006/relationships/notesMaster" Target="/ppt/notesMasters/notesMaster1.xml" Id="R4c592541580847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6c7745e4794869" /><Relationship Type="http://schemas.openxmlformats.org/officeDocument/2006/relationships/notesMaster" Target="/ppt/notesMasters/notesMaster1.xml" Id="R8048e0fd314841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8a8d3d75243dc" /><Relationship Type="http://schemas.openxmlformats.org/officeDocument/2006/relationships/notesMaster" Target="/ppt/notesMasters/notesMaster1.xml" Id="Rc6f41af8ec4048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14f52e3d924c1c" /><Relationship Type="http://schemas.openxmlformats.org/officeDocument/2006/relationships/notesMaster" Target="/ppt/notesMasters/notesMaster1.xml" Id="Rbc0af1069938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c289c941ad4f55" /><Relationship Type="http://schemas.openxmlformats.org/officeDocument/2006/relationships/notesMaster" Target="/ppt/notesMasters/notesMaster1.xml" Id="R1dfa56dfbbc648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3bf7167da4192" /><Relationship Type="http://schemas.openxmlformats.org/officeDocument/2006/relationships/notesMaster" Target="/ppt/notesMasters/notesMaster1.xml" Id="Rd330f0dd7d0147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6b304e9d6549e4" /><Relationship Type="http://schemas.openxmlformats.org/officeDocument/2006/relationships/notesMaster" Target="/ppt/notesMasters/notesMaster1.xml" Id="R60ae3197f3e640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a39848db9b41eb" /><Relationship Type="http://schemas.openxmlformats.org/officeDocument/2006/relationships/notesMaster" Target="/ppt/notesMasters/notesMaster1.xml" Id="Rb171e96736324e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8897105e7f4df7" /><Relationship Type="http://schemas.openxmlformats.org/officeDocument/2006/relationships/notesMaster" Target="/ppt/notesMasters/notesMaster1.xml" Id="R61b069ae0b0c49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67a3f8ef2c4e18" /><Relationship Type="http://schemas.openxmlformats.org/officeDocument/2006/relationships/notesMaster" Target="/ppt/notesMasters/notesMaster1.xml" Id="R12c2a8c1c47947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bd5c11ea264904" /><Relationship Type="http://schemas.openxmlformats.org/officeDocument/2006/relationships/notesMaster" Target="/ppt/notesMasters/notesMaster1.xml" Id="Rc37609bf765f4e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666263d60047c2" /><Relationship Type="http://schemas.openxmlformats.org/officeDocument/2006/relationships/notesMaster" Target="/ppt/notesMasters/notesMaster1.xml" Id="R00700d67d0c64a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e49b176b494c66" /><Relationship Type="http://schemas.openxmlformats.org/officeDocument/2006/relationships/notesMaster" Target="/ppt/notesMasters/notesMaster1.xml" Id="R4a9269e32eb6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humility. Do not imply Doctronic lacks safeguards.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</a:t>
            </a:r>
          </a:p>
          <a:p xmlns:a="http://schemas.openxmlformats.org/drawingml/2006/main">
            <a:r>
              <a:t>- "I am assuming Doctronic already has strong AI doctor, triage, escalation, and telemedicine infrastructure."</a:t>
            </a:r>
          </a:p>
          <a:p xmlns:a="http://schemas.openxmlformats.org/drawingml/2006/main">
            <a:r>
              <a:t>- "This is a layer around that: what the AI is allowed to infer, what remains unknown, and when autonomy should be capped."</a:t>
            </a:r>
          </a:p>
          <a:p xmlns:a="http://schemas.openxmlformats.org/drawingml/2006/main">
            <a:r>
              <a:t>- "The point of the deck is to orient the demo; the live app is the proof."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Goal for this slide: position yourself as additive, not adversarial.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over-litigate the public numbers. They are only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</a:t>
            </a:r>
          </a:p>
          <a:p xmlns:a="http://schemas.openxmlformats.org/drawingml/2006/main">
            <a:r>
              <a:t>- "At this scale, even a small autonomy-boundary issue matters operationally."</a:t>
            </a:r>
          </a:p>
          <a:p xmlns:a="http://schemas.openxmlformats.org/drawingml/2006/main">
            <a:r>
              <a:t>- "If a patient minimizes cost or fear, the AI conversation itself becomes part of the risk."</a:t>
            </a:r>
          </a:p>
          <a:p xmlns:a="http://schemas.openxmlformats.org/drawingml/2006/main">
            <a:r>
              <a:t>- "That is where I think this layer fits: not replacing Doctronic's reasoning, but governing its action boundary."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challenged on sources:</a:t>
            </a:r>
          </a:p>
          <a:p xmlns:a="http://schemas.openxmlformats.org/drawingml/2006/main">
            <a:r>
              <a:t>- Say these are public positioning signals, not assumptions about their internal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core framing.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"I am not trying to win a differential diagnosis contest."</a:t>
            </a:r>
          </a:p>
          <a:p xmlns:a="http://schemas.openxmlformats.org/drawingml/2006/main">
            <a:r>
              <a:t>- "The system should know what it knows, what it inferred, what it did not ask, and what it cannot know remotely."</a:t>
            </a:r>
          </a:p>
          <a:p xmlns:a="http://schemas.openxmlformats.org/drawingml/2006/main">
            <a:r>
              <a:t>- "That determines whether autonomy is appropriate."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good place to say "interpretation boundary" out 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path:</a:t>
            </a:r>
          </a:p>
          <a:p xmlns:a="http://schemas.openxmlformats.org/drawingml/2006/main">
            <a:r>
              <a:t>1. Open https://clinsafer.fly.dev</a:t>
            </a:r>
          </a:p>
          <a:p xmlns:a="http://schemas.openxmlformats.org/drawingml/2006/main">
            <a:r>
              <a:t>2. Use "Show Cost-Fear Case" first.</a:t>
            </a:r>
          </a:p>
          <a:p xmlns:a="http://schemas.openxmlformats.org/drawingml/2006/main">
            <a:r>
              <a:t>3. Optional: click Paste Transcript and import a short real encounter.</a:t>
            </a:r>
          </a:p>
          <a:p xmlns:a="http://schemas.openxmlformats.org/drawingml/2006/main">
            <a:r>
              <a:t>4. Analyze.</a:t>
            </a:r>
          </a:p>
          <a:p xmlns:a="http://schemas.openxmlformats.org/drawingml/2006/main">
            <a:r>
              <a:t>5. Stop on Statement vs Fact and Provenance &amp; Authority.</a:t>
            </a:r>
          </a:p>
          <a:p xmlns:a="http://schemas.openxmlformats.org/drawingml/2006/main">
            <a:r>
              <a:t>6. Open Final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he asks for a real encounter: paste it. The app now parses Q/A and speaker-labeled transcripts, leaves turns editable, and infers concepts if blank.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practical demo safety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"If you give me a small de-identified encounter fragment, I can paste it here."</a:t>
            </a:r>
          </a:p>
          <a:p xmlns:a="http://schemas.openxmlformats.org/drawingml/2006/main">
            <a:r>
              <a:t>- "The UI will show a live input parsed proof line so it is obvious that the encounter changed."</a:t>
            </a:r>
          </a:p>
          <a:p xmlns:a="http://schemas.openxmlformats.org/drawingml/2006/main">
            <a:r>
              <a:t>- "Concepts can be blank. The engine infers the likely slot from the question and answer."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Caution: ask for de-identified text only. Avoid PHI in an interview.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explanation:</a:t>
            </a:r>
          </a:p>
          <a:p xmlns:a="http://schemas.openxmlformats.org/drawingml/2006/main">
            <a:r>
              <a:t>- Patient statements become observations with source confidence and trap tags.</a:t>
            </a:r>
          </a:p>
          <a:p xmlns:a="http://schemas.openxmlformats.org/drawingml/2006/main">
            <a:r>
              <a:t>- JRE evaluates readiness: missingness, distortion, contradiction, red flags, objective needs, remote boundaries.</a:t>
            </a:r>
          </a:p>
          <a:p xmlns:a="http://schemas.openxmlformats.org/drawingml/2006/main">
            <a:r>
              <a:t>- Black Swan Guard checks assumptions: identity/proxy, communication channel, envelope fit, source integrity, sentinel risk.</a:t>
            </a:r>
          </a:p>
          <a:p xmlns:a="http://schemas.openxmlformats.org/drawingml/2006/main">
            <a:r>
              <a:t>- LLM findings are advisory candidate signals. They cannot authorize or hard-stop.</a:t>
            </a:r>
          </a:p>
          <a:p xmlns:a="http://schemas.openxmlformats.org/drawingml/2006/main">
            <a:r>
              <a:t>- The final state is the most restrictive of JRE and guardrail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phrase: "The LLM proposes. Governed software disposes."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anticipates the "LLMs are unsafe" objection.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"Every visible signal has provenance and authority."</a:t>
            </a:r>
          </a:p>
          <a:p xmlns:a="http://schemas.openxmlformats.org/drawingml/2006/main">
            <a:r>
              <a:t>- "The LLM is useful, but it is not allowed to make the final autonomy decision."</a:t>
            </a:r>
          </a:p>
          <a:p xmlns:a="http://schemas.openxmlformats.org/drawingml/2006/main">
            <a:r>
              <a:t>- "Memory is also bounded. It can suggest but not authorize."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they ask why this matters:</a:t>
            </a:r>
          </a:p>
          <a:p xmlns:a="http://schemas.openxmlformats.org/drawingml/2006/main">
            <a:r>
              <a:t>- "Without provenance, a clinician or regulator cannot tell whether a decision came from a validated rule, a model hunch, or a memory prior."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When you click Final Recommendations in the app, frame it as the conversion from analysis into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Emphasize:</a:t>
            </a:r>
          </a:p>
          <a:p xmlns:a="http://schemas.openxmlformats.org/drawingml/2006/main">
            <a:r>
              <a:t>- "This is not just explainability. It is operational instruction."</a:t>
            </a:r>
          </a:p>
          <a:p xmlns:a="http://schemas.openxmlformats.org/drawingml/2006/main">
            <a:r>
              <a:t>- "The page distinguishes patient language, clinical handoff, governance actions, and quality metrics."</a:t>
            </a:r>
          </a:p>
          <a:p xmlns:a="http://schemas.openxmlformats.org/drawingml/2006/main">
            <a:r>
              <a:t>- "This helps with safety, physician efficiency, and patient trust."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overstate that the patient copy is final clinical guidance. Say it is a demo draft requiring product/clinical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if the technical audience is skeptical.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"The real piece is the governed analysis and live UI."</a:t>
            </a:r>
          </a:p>
          <a:p xmlns:a="http://schemas.openxmlformats.org/drawingml/2006/main">
            <a:r>
              <a:t>- "The memory layer is intentionally described as a prototype hook."</a:t>
            </a:r>
          </a:p>
          <a:p xmlns:a="http://schemas.openxmlformats.org/drawingml/2006/main">
            <a:r>
              <a:t>- "I would not deploy online memory without outcome governance and simulation."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honesty is a strength. It avoids sounding like you are selling magic.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first case: cost-fear minimizes alarm.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- It is subtle enough for a physician.</a:t>
            </a:r>
          </a:p>
          <a:p xmlns:a="http://schemas.openxmlformats.org/drawingml/2006/main">
            <a:r>
              <a:t>- It is business-relevant without sounding mercenary.</a:t>
            </a:r>
          </a:p>
          <a:p xmlns:a="http://schemas.openxmlformats.org/drawingml/2006/main">
            <a:r>
              <a:t>- It shows patient behavior shaping the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they care about prescriptions/refills, switch to the stale ACE/CKD/NSAID refill case.</a:t>
            </a:r>
          </a:p>
          <a:p xmlns:a="http://schemas.openxmlformats.org/drawingml/2006/main">
            <a:r>
              <a:t>If they care about caregiver workflows, use caregiver conflict.</a:t>
            </a:r>
          </a:p>
          <a:p xmlns:a="http://schemas.openxmlformats.org/drawingml/2006/main">
            <a:r>
              <a:t>If they care about documentation integrity, use unasked-is-not-denied.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connect medicine and business without making it sound like safety is secondary.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"The product win is safe automation."</a:t>
            </a:r>
          </a:p>
          <a:p xmlns:a="http://schemas.openxmlformats.org/drawingml/2006/main">
            <a:r>
              <a:t>- "Sometimes the right answer is route now. Sometimes the right answer is ask one better question and avoid unnecessary routing."</a:t>
            </a:r>
          </a:p>
          <a:p xmlns:a="http://schemas.openxmlformats.org/drawingml/2006/main">
            <a:r>
              <a:t>- "Both matter at scale."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challenged:</a:t>
            </a:r>
          </a:p>
          <a:p xmlns:a="http://schemas.openxmlformats.org/drawingml/2006/main">
            <a:r>
              <a:t>- "I would measure confirmation rate, false positive escalations, avoidable routing prevented, patient completion after escalation, and clinician correction rate."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brag slide. It is a bridge from demo to interview.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"What I wanted to show is how I think."</a:t>
            </a:r>
          </a:p>
          <a:p xmlns:a="http://schemas.openxmlformats.org/drawingml/2006/main">
            <a:r>
              <a:t>- "At healthcare AI scale, medicine, business, risk, and engineering are not separate problems."</a:t>
            </a:r>
          </a:p>
          <a:p xmlns:a="http://schemas.openxmlformats.org/drawingml/2006/main">
            <a:r>
              <a:t>- "I can work across those surfaces and still build working software."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it calm. Let the app be the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your mental checklist, not necessarily as something to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tone:</a:t>
            </a:r>
          </a:p>
          <a:p xmlns:a="http://schemas.openxmlformats.org/drawingml/2006/main">
            <a:r>
              <a:t>- Never say "you probably do not have this."</a:t>
            </a:r>
          </a:p>
          <a:p xmlns:a="http://schemas.openxmlformats.org/drawingml/2006/main">
            <a:r>
              <a:t>- Say "I do not know your internal safeguards, so I built the kind of layer I would look for at scale."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asked where you would start:</a:t>
            </a:r>
          </a:p>
          <a:p xmlns:a="http://schemas.openxmlformats.org/drawingml/2006/main">
            <a:r>
              <a:t>- "Pick one workflow with clear value and measurable risk, likely prescription renewal or low-acuity closure. Run shadow mode against historical cases first."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they ask for architecture details:</a:t>
            </a:r>
          </a:p>
          <a:p xmlns:a="http://schemas.openxmlformats.org/drawingml/2006/main">
            <a:r>
              <a:t>- Input schema: patient_context plus statements with question, answer, concept, source, metadata.</a:t>
            </a:r>
          </a:p>
          <a:p xmlns:a="http://schemas.openxmlformats.org/drawingml/2006/main">
            <a:r>
              <a:t>- Extraction: normalize, infer concept if blank, assign source confidence, apply trap priors.</a:t>
            </a:r>
          </a:p>
          <a:p xmlns:a="http://schemas.openxmlformats.org/drawingml/2006/main">
            <a:r>
              <a:t>- JRE: produces observations, findings, JRI, next questions.</a:t>
            </a:r>
          </a:p>
          <a:p xmlns:a="http://schemas.openxmlformats.org/drawingml/2006/main">
            <a:r>
              <a:t>- BSG: evaluates assumptions and max autonomy tier.</a:t>
            </a:r>
          </a:p>
          <a:p xmlns:a="http://schemas.openxmlformats.org/drawingml/2006/main">
            <a:r>
              <a:t>- Governor: most restrictive state wins.</a:t>
            </a:r>
          </a:p>
          <a:p xmlns:a="http://schemas.openxmlformats.org/drawingml/2006/main">
            <a:r>
              <a:t>- LLM: separate /demo/llm-analyze endpoint, async in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they ask about distributions:</a:t>
            </a:r>
          </a:p>
          <a:p xmlns:a="http://schemas.openxmlformats.org/drawingml/2006/main">
            <a:r>
              <a:t>- Current demo uses bounded deterministic confidence and severity, not full probabilistic distributions.</a:t>
            </a:r>
          </a:p>
          <a:p xmlns:a="http://schemas.openxmlformats.org/drawingml/2006/main">
            <a:r>
              <a:t>- Next version would have AI-proposed node ranges and distributions validated against governed templates and calibration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your anti-fragile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pattern:</a:t>
            </a:r>
          </a:p>
          <a:p xmlns:a="http://schemas.openxmlformats.org/drawingml/2006/main">
            <a:r>
              <a:t>1. Agree with the serious part of the objection.</a:t>
            </a:r>
          </a:p>
          <a:p xmlns:a="http://schemas.openxmlformats.org/drawingml/2006/main">
            <a:r>
              <a:t>2. Clarify the boundary.</a:t>
            </a:r>
          </a:p>
          <a:p xmlns:a="http://schemas.openxmlformats.org/drawingml/2006/main">
            <a:r>
              <a:t>3. Say how production would validate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Example:</a:t>
            </a:r>
          </a:p>
          <a:p xmlns:a="http://schemas.openxmlformats.org/drawingml/2006/main">
            <a:r>
              <a:t>- "Yes, a static rule system cannot cover all medicine. That is why I would not scale it by hand-writing templates. I would use AI to propose the expert-system graph, then validate and execute it with governed deterministic software."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collaborative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- "I would love to understand where this kind of boundary layer would matter most inside your current system."</a:t>
            </a:r>
          </a:p>
          <a:p xmlns:a="http://schemas.openxmlformats.org/drawingml/2006/main">
            <a:r>
              <a:t>- "I am not asking you to accept this exact implementation. I am showing the way I think and what I can build."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interview goes well, offer a specific next step:</a:t>
            </a:r>
          </a:p>
          <a:p xmlns:a="http://schemas.openxmlformats.org/drawingml/2006/main">
            <a:r>
              <a:t>- "Give me one de-identified failure mode or tricky workflow and I can show how I would map it into this boundary framework."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2d17e9a7845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588819106441ed" /><Relationship Type="http://schemas.openxmlformats.org/officeDocument/2006/relationships/slideLayout" Target="/ppt/slideLayouts/slideLayout2.xml" Id="R67caccdd78a141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caccdd78a141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4a224a510545b6" /><Relationship Type="http://schemas.openxmlformats.org/officeDocument/2006/relationships/notesSlide" Target="/ppt/notesSlides/notesSlide1.xml" Id="R490ffaf80158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bd5c282084fae" /><Relationship Type="http://schemas.openxmlformats.org/officeDocument/2006/relationships/notesSlide" Target="/ppt/notesSlides/notesSlide2.xml" Id="Rfb3a542c6de5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711233fb94647" /><Relationship Type="http://schemas.openxmlformats.org/officeDocument/2006/relationships/notesSlide" Target="/ppt/notesSlides/notesSlide3.xml" Id="R7c8f0e4ebe36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c336fafc2b44bb" /><Relationship Type="http://schemas.openxmlformats.org/officeDocument/2006/relationships/notesSlide" Target="/ppt/notesSlides/notesSlide4.xml" Id="R77074045646549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f8091991bf48f7" /><Relationship Type="http://schemas.openxmlformats.org/officeDocument/2006/relationships/notesSlide" Target="/ppt/notesSlides/notesSlide5.xml" Id="Rb5e4a02be14d47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1927d7fdf4fd8" /><Relationship Type="http://schemas.openxmlformats.org/officeDocument/2006/relationships/notesSlide" Target="/ppt/notesSlides/notesSlide6.xml" Id="Rb7eee51f064744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c7ba3b697c452c" /><Relationship Type="http://schemas.openxmlformats.org/officeDocument/2006/relationships/notesSlide" Target="/ppt/notesSlides/notesSlide7.xml" Id="R1e14b4480345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5ed12fbad419e" /><Relationship Type="http://schemas.openxmlformats.org/officeDocument/2006/relationships/notesSlide" Target="/ppt/notesSlides/notesSlide8.xml" Id="R98372002ab894a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49419c9c14c96" /><Relationship Type="http://schemas.openxmlformats.org/officeDocument/2006/relationships/notesSlide" Target="/ppt/notesSlides/notesSlide9.xml" Id="R3be11ef68dc54f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bc1e9023b45a5" /><Relationship Type="http://schemas.openxmlformats.org/officeDocument/2006/relationships/notesSlide" Target="/ppt/notesSlides/notesSlide10.xml" Id="Rfc42ee4dbb8d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276c4859c4b2f" /><Relationship Type="http://schemas.openxmlformats.org/officeDocument/2006/relationships/notesSlide" Target="/ppt/notesSlides/notesSlide11.xml" Id="Re7203d0b28e745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58d79179f4ea9" /><Relationship Type="http://schemas.openxmlformats.org/officeDocument/2006/relationships/notesSlide" Target="/ppt/notesSlides/notesSlide12.xml" Id="R2f367132d9ef41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ee558c7b604c93" /><Relationship Type="http://schemas.openxmlformats.org/officeDocument/2006/relationships/notesSlide" Target="/ppt/notesSlides/notesSlide13.xml" Id="R6107d2cbb67b40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f86320bde4922" /><Relationship Type="http://schemas.openxmlformats.org/officeDocument/2006/relationships/notesSlide" Target="/ppt/notesSlides/notesSlide14.xml" Id="Rdba8f95a4b2040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0ca5563cde437c" /><Relationship Type="http://schemas.openxmlformats.org/officeDocument/2006/relationships/notesSlide" Target="/ppt/notesSlides/notesSlide15.xml" Id="R3710edc55f6b45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cef01825e476e" /><Relationship Type="http://schemas.openxmlformats.org/officeDocument/2006/relationships/notesSlide" Target="/ppt/notesSlides/notesSlide16.xml" Id="Re0348aef46e345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stage">
            <a:extLst xmlns:a="http://schemas.openxmlformats.org/drawingml/2006/main">
              <a:ext uri="{FF2B5EF4-FFF2-40B4-BE49-F238E27FC236}">
                <a16:creationId xmlns:a16="http://schemas.microsoft.com/office/drawing/2014/main" id="{6B0F0F14-239B-4F3B-984B-6C46D45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E066B-2710-43F1-83BF-5ADA567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582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56F"/>
                </a:solidFill>
              </a:defRPr>
            </a:pPr>
            <a:r>
              <a:rPr sz="2250" b="1">
                <a:solidFill>
                  <a:srgbClr val="08756F"/>
                </a:solidFill>
              </a:rPr>
              <a:t>ClinSafer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324CF2C-CDA3-46F4-A6A8-D32EB06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920115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02A43"/>
                </a:solidFill>
              </a:defRPr>
            </a:pPr>
            <a:r>
              <a:rPr sz="6900" b="1">
                <a:solidFill>
                  <a:srgbClr val="102A43"/>
                </a:solidFill>
              </a:rPr>
              <a:t>Autonomy boundaries for AI medicine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31FE-FD6A-4503-A840-D105F36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36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4D"/>
          </a:solidFill>
          <a:ln xmlns:a="http://schemas.openxmlformats.org/drawingml/2006/main" w="0">
            <a:solidFill>
              <a:srgbClr val="E260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22A96-7CFD-4C67-B569-C58FA3E7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8286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2677A"/>
                </a:solidFill>
              </a:defRPr>
            </a:pPr>
            <a:r>
              <a:rPr sz="2325">
                <a:solidFill>
                  <a:srgbClr val="52677A"/>
                </a:solidFill>
              </a:rPr>
              <a:t>A live interview demo for showing how messy patient language becomes governed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CBFFD-D766-4912-BE6E-98DEC4AF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514600"/>
            <a:ext cx="6400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756F"/>
                </a:solidFill>
              </a:defRPr>
            </a:pPr>
            <a:r>
              <a:rPr sz="5850" b="1">
                <a:solidFill>
                  <a:srgbClr val="08756F"/>
                </a:solidFill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469BD-5B1E-41F6-B216-F7B0B16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467100"/>
            <a:ext cx="2743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synthetic cases in the live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2A676-F46A-4D82-91D4-7BBB35ED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71950"/>
            <a:ext cx="6400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364AA"/>
                </a:solidFill>
              </a:defRPr>
            </a:pPr>
            <a:r>
              <a:rPr sz="5850" b="1">
                <a:solidFill>
                  <a:srgbClr val="2364AA"/>
                </a:solidFill>
              </a:rPr>
              <a:t>324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2AB74-D8C4-4467-BE2B-566C813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24450"/>
            <a:ext cx="2533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passing tests after final polish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47C22-5DDE-4D83-AB7E-16526CE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829300"/>
            <a:ext cx="6400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2604D"/>
                </a:solidFill>
              </a:defRPr>
            </a:pPr>
            <a:r>
              <a:rPr sz="5850" b="1">
                <a:solidFill>
                  <a:srgbClr val="E2604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89F51-C572-4C25-8981-EC16169C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81800"/>
            <a:ext cx="377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most-restrictive governor decides 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8FA9E-522B-4FC0-9CC4-227495D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67850"/>
            <a:ext cx="363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</a:defRPr>
            </a:pPr>
            <a:r>
              <a:rPr sz="1350">
                <a:solidFill>
                  <a:srgbClr val="52677A"/>
                </a:solidFill>
              </a:rPr>
              <a:t>Prepared for a Doctronic interview 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E47A0-F49C-4BBC-AF2E-50D4206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4678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Live app: 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952751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AA88C257-D9C1-4F59-9AD9-00CA3255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2EBB5BC-096B-4705-AE11-D3D62FE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WHY THIS AUDIENCE SHOULD CARE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EEBD5-B0DE-4311-A44C-B3DC8539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Doctronic scale changes the safety problem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C48722-0ECE-4897-98B0-A0EF9D4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At consumer scale, the hard failures are often not obvious triage misses. They are inference, workflow, and autonomy-boundary failures.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96E04-71C7-48E3-A518-5E84C0F6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7791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</a:defRPr>
            </a:pPr>
            <a:r>
              <a:rPr sz="4050" b="1">
                <a:solidFill>
                  <a:srgbClr val="102A43"/>
                </a:solidFill>
              </a:rPr>
              <a:t>The product question is not just diagnosis.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D7DF-C432-4460-8ACB-2BF8A25E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10350"/>
            <a:ext cx="8229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2677A"/>
                </a:solidFill>
              </a:defRPr>
            </a:pPr>
            <a:r>
              <a:rPr sz="2400">
                <a:solidFill>
                  <a:srgbClr val="52677A"/>
                </a:solidFill>
              </a:rPr>
              <a:t>It is whether the system has enough reliable evidence to act, reassure, refill, route, or stop.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12CD9-719E-4A77-AB9D-ED2CA382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92430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756F"/>
                </a:solidFill>
              </a:defRPr>
            </a:pPr>
            <a:r>
              <a:rPr sz="5850" b="1">
                <a:solidFill>
                  <a:srgbClr val="08756F"/>
                </a:solidFill>
              </a:rPr>
              <a:t>25M+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C13C1-E2D7-4923-AA06-7806555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76800"/>
            <a:ext cx="278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publicly claimed AI consult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71C44-497A-472D-B555-5988E3EE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2925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A9D6B"/>
                </a:solidFill>
              </a:defRPr>
            </a:pPr>
            <a:r>
              <a:rPr sz="5850" b="1">
                <a:solidFill>
                  <a:srgbClr val="3A9D6B"/>
                </a:solidFill>
              </a:rPr>
              <a:t>$39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05B56-76EB-49D5-B65F-C3241164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81750"/>
            <a:ext cx="4038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human doctor visit offer on Doctronic telehealth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39FB3-F49D-4636-8E9B-0493E6C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7162800"/>
            <a:ext cx="6877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725AC1"/>
                </a:solidFill>
              </a:defRPr>
            </a:pPr>
            <a:r>
              <a:rPr sz="5850" b="1">
                <a:solidFill>
                  <a:srgbClr val="725AC1"/>
                </a:solidFill>
              </a:rPr>
              <a:t>Utah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F5C1B-1CA0-4A85-A1E7-9CD1A8D9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8096250"/>
            <a:ext cx="3409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public reporting on prescription-renewal autonomy work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0ABA4DE-29A1-422C-A637-856F3F9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82150"/>
            <a:ext cx="438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Sources: Doctronic.ai; Doctronic telehealth page; TBPN Digest, Jan 2026.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AB49D5-6A6D-42F1-80DC-539F7378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6088748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85DBD9BC-A94A-4B13-85B7-637B5071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9352807-F6E3-40C6-905E-DEDD984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ONE SENTENCE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9E018F-0E02-443E-BBAA-313AEF3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thesis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F49C46-1A2D-4806-9BC1-08F234A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Messy language needs an autonomy governor, not just a smarter answer generator.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C933F-45A1-4894-9AC9-E7F87AEB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53594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4C046-29F6-4F0E-B811-E92DD6D1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What was said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21AE2-BA73-4C04-88C4-D121A352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statements, denials, goals, barriers, source, freshness.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ED00D-C38A-4566-A863-140162D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196590"/>
            <a:ext cx="53594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5A914-2F69-43A8-A6BE-437CB2B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What can be inferred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38338-E779-418A-B926-25B78897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Only bounded interpretations with confidence, provenance, and close-boundary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1DAC7-B899-4AD1-ACC3-F35AF6F7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550" y="3196590"/>
            <a:ext cx="53594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D2DE5-C7B1-499C-9BBA-9BE5AC8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What cannot be assumed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7BA10-8F86-40E2-B219-B64DCDF1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Unasked symptoms, stale data, remote-unknowable findings, coercion, contradiction.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1722E-796D-44E2-924B-8538DDBE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672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demo is about safe permission to act, not diagnosis prediction.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2E57DF-91C8-4890-B0B8-42A3C2DE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A7F354-7833-47B8-BD40-4AB292C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4483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8730575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085BB309-C0DF-439E-869B-CC4DCA77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15BF485-12F0-48A0-B858-D8BCE12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HOW TO RUN 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5EDC55-B893-476F-9FAB-EB7B9D25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Seven-minute live demo path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7390F3-7D5D-48C9-B396-F866C2D7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Keep the interview on the product idea. Do not wander through the whole case library.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63E40-8D70-4CB6-8D1D-2FD8D72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56F"/>
                </a:solidFill>
              </a:defRPr>
            </a:pPr>
            <a:r>
              <a:rPr sz="5550" b="1">
                <a:solidFill>
                  <a:srgbClr val="08756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56EE2-69BD-4D7C-804F-501A7B3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Pick or paste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A6BA-50D1-4C3E-814C-A657ADC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Use cost-fear case or real encounter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6D598-ADEF-4D2D-B8CB-6DF02E6B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2364AA"/>
                </a:solidFill>
              </a:defRPr>
            </a:pPr>
            <a:r>
              <a:rPr sz="5550" b="1">
                <a:solidFill>
                  <a:srgbClr val="2364A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843B9-205A-42DB-81FC-9F0A265E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Analyze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CE498-8DCA-481F-9F9B-489A486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JRE and Black Swan Guard run deterministically.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CBD10-B4A5-421F-9F88-BCB33E4B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725AC1"/>
                </a:solidFill>
              </a:defRPr>
            </a:pPr>
            <a:r>
              <a:rPr sz="5550" b="1">
                <a:solidFill>
                  <a:srgbClr val="725AC1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D5D41-2B0F-4E10-A2AF-DDF66B1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0D85C-BF0B-4200-82BA-3DE98CEF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Statement vs Fact and Provenance show authority.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EACD1-F835-4423-9B52-484AE005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E2604D"/>
                </a:solidFill>
              </a:defRPr>
            </a:pPr>
            <a:r>
              <a:rPr sz="5550" b="1">
                <a:solidFill>
                  <a:srgbClr val="E2604D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20AF9-49A3-4BC5-A5DB-844BF5E3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30F10-7559-4AB3-A333-5D258B1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Most restrictive governor caps autonomy.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70ED9-F317-42AB-975C-57B21737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200650"/>
            <a:ext cx="3200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3A9D6B"/>
                </a:solidFill>
              </a:defRPr>
            </a:pPr>
            <a:r>
              <a:rPr sz="5550" b="1">
                <a:solidFill>
                  <a:srgbClr val="3A9D6B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1C826-BA48-461C-84CE-3D15D3E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191250"/>
            <a:ext cx="320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Recommend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633BA-1C48-4200-9FD0-2D55D5AD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667500"/>
            <a:ext cx="320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Final page gives action, handoff, and metrics.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616BFC-4299-46FB-A5CE-33929595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FCEDD75-5A1B-4D10-BB52-A56F5048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6814544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0D069F23-0F8E-4959-B4B7-0C41479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ACAB627-4466-4499-A0F8-BFEC720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LIVE INPUT PROOF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3B8506-D3D1-431B-922C-A7006D1F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If they ask for real dialogue, use paste import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6EB2EA-3E0E-4609-8221-DF0CE5D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demo is not locked to fixed cases. Pasted encounter text becomes editable, inferred, and analyzed.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408EA-1AA2-46C7-9E6E-AAA5F82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937308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983CB-C46F-4453-9B00-992E969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8439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Clinician: Do you have chest pain?</a:t>
            </a:r>
          </a:p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Patient: No, just tight indigestion when I walk.</a:t>
            </a:r>
          </a:p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Clinician: Any shortness of breath?</a:t>
            </a:r>
          </a:p>
          <a:p xmlns:a="http://schemas.openxmlformats.org/drawingml/2006/main">
            <a:pPr>
              <a:defRPr sz="2025">
                <a:solidFill>
                  <a:srgbClr val="102A43"/>
                </a:solidFill>
              </a:defRPr>
            </a:pPr>
            <a:r>
              <a:rPr sz="2025">
                <a:solidFill>
                  <a:srgbClr val="102A43"/>
                </a:solidFill>
              </a:rPr>
              <a:t>Patient: Not really. I slow down so it does not get bad.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4BD75-0B85-4F49-96B1-E2CC6CE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4585335"/>
            <a:ext cx="7312343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4876E-321E-4768-A1D4-36B243B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6250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Parsed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C4048-996D-491F-96A1-E7147FAD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054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Q/A, clinician/patient labels, and alternating turns.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2332D-6BF4-4345-8579-04DD11E8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5713095"/>
            <a:ext cx="7312343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33E46-22D9-4E5D-A670-13246A7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88645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Editable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A3D0F-F888-4B8A-A5FC-F34CB14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Question, answer, source, and concept can be changed before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A58C4-D91B-4B42-966C-BCA8E1D7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6840855"/>
            <a:ext cx="7312343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A608A-3CFE-4786-82D4-09B9DE8A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10400"/>
            <a:ext cx="689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Inferred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19601-8F35-47B0-B552-2F10B1A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3533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Blank concept fields are inferred from question plus answer text.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86571A-8AA2-4485-8690-CC2218F7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1B5BBB0-F7AB-4F72-956A-E839ADBD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7479898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E1BB56D2-9255-47A0-ACEB-6ED81486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0E340D1-44D6-4E3A-BEC4-C438D44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TECHNICAL BACKBONE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468AEA-A01A-4DBE-8556-169E414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method is ensemble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18FA1B-8EE2-4CBF-93D1-C5DF8B14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LLM candidates help find signals, but deterministic validators and guardrails decide autonomy.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51E7D-8698-4832-89F6-6863A7E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7FFE4-ADFE-47AD-902C-B5E352F6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533A0-E50B-4DEA-B953-5BB88B14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Dialogue, source, patient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E9892-9DDD-404A-B934-3BD0E824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D6225-7DAE-4DD4-9164-6BC49278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CD631-10DC-4D46-80AB-CCC7586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Extractor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9362E-DF4A-4CFC-B984-335A1A9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Normalize observations and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64AA8-62D7-4D9E-BD08-CA58A744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0A684-9660-4DA6-A59C-1811F33A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1EC0A-52C5-44B2-A45E-91ED504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JRE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A41EF-79DF-41BD-A7E2-6B94722E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Missing, uncertain, distorted, contradictory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8CA9-674C-429F-97B6-2843F66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693C0-1717-4C21-BAA8-8396C0B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01CC4-C428-4812-93B0-5478BD2B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BSG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3E3C5-D4F1-4037-B329-78EA6557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Operating envelope and autonomy cap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4664B-3A15-44A6-96D1-5D004BC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D3482-107D-4673-9F4F-D1955F2A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B2D81-A785-4001-8C22-B3B9F0AA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4941E"/>
                </a:solidFill>
              </a:defRPr>
            </a:pPr>
            <a:r>
              <a:rPr sz="1725" b="1">
                <a:solidFill>
                  <a:srgbClr val="D4941E"/>
                </a:solidFill>
              </a:rPr>
              <a:t>Governor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2656F-27FA-445B-98BF-F7D61A8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Most restrictive state wins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CB667-0861-40EC-8F88-5CD7DB53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6959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77A"/>
                </a:solidFill>
              </a:defRPr>
            </a:pPr>
            <a:r>
              <a:rPr sz="1800" b="1">
                <a:solidFill>
                  <a:srgbClr val="52677A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3EAF7-4292-4430-A4BF-D179C17E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314950"/>
            <a:ext cx="2152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BFB5E-E350-4D5A-B773-09857A2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4673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0EFD8-D8E5-4693-9F62-09A8D6A3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810250"/>
            <a:ext cx="1885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77A"/>
                </a:solidFill>
              </a:defRPr>
            </a:pPr>
            <a:r>
              <a:rPr sz="1275">
                <a:solidFill>
                  <a:srgbClr val="52677A"/>
                </a:solidFill>
              </a:rPr>
              <a:t>Questions, handoff, recommendations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30443-00A3-4E29-B6EE-E883ED8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43950"/>
            <a:ext cx="1672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Autonomy is capped by authority, not by model confidence alone.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E0F8989-D0EE-4723-A916-16B90CB1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3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2AEE8C-E8ED-4388-820A-878EECE3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969593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ECA2C200-EFC7-4BD7-B45C-79E2C5B3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EE3BD61-334B-4EA3-BABB-BD0A0B64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WHAT TO POINT AT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C20123-87AE-4E48-8B85-4F91D7F4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Provenance is the safety interface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FBDBFAB-D3A9-4DDA-B8EF-7DE0C354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demo separates signal source from action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9AF07-390E-40A5-8A27-F68E7CB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Curated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82E17-CA54-4649-A392-6BFADF9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19659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6FF88-F715-44AB-8ADD-2E1AA566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Enforced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98A8E-21D8-4D59-A956-CD016EE1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Can ask, route, block, or cap.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935D5-B87A-4180-9C1D-91623EC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LLM 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EBB82-F91C-4F06-ACCF-5BF46AE8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69570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941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97D4A-07CE-4874-8C58-7618BB8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41E"/>
                </a:solidFill>
              </a:defRPr>
            </a:pPr>
            <a:r>
              <a:rPr sz="1275" b="1">
                <a:solidFill>
                  <a:srgbClr val="D4941E"/>
                </a:solidFill>
              </a:rPr>
              <a:t>Advisory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9B419-49E6-4565-BA8E-5381124A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957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Can suggest review targets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B1077-112B-4519-9495-25C5D50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Learned priors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580D4-4461-4A63-AA1B-C4E5947E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19481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64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CA754-A26B-4950-A255-D1714AB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862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4AA"/>
                </a:solidFill>
              </a:defRPr>
            </a:pPr>
            <a:r>
              <a:rPr sz="1275" b="1">
                <a:solidFill>
                  <a:srgbClr val="2364AA"/>
                </a:solidFill>
              </a:rPr>
              <a:t>Bounded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1CB7E-ED05-4B56-9D53-7F3BC9C3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Tune confidence and question priority.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1ACB8-C79E-4BC1-87E9-AAED925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Memory hooks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D1D2E-37E3-4C0E-AE97-0A1C04A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69392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5A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CDF14-6A83-4741-A4C1-FBE0B306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815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25AC1"/>
                </a:solidFill>
              </a:defRPr>
            </a:pPr>
            <a:r>
              <a:rPr sz="1275" b="1">
                <a:solidFill>
                  <a:srgbClr val="725AC1"/>
                </a:solidFill>
              </a:rPr>
              <a:t>Advisory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3FD4A-AFDD-40A4-84C1-058F1C6A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8630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Suggest missing nodes and falsifiers.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3FE24-CE8F-4CD7-A2D5-FB044A8E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Ensemble governor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A877E-D53A-4FDC-A04E-90B09734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5193030"/>
            <a:ext cx="1571625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60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66AB8-497F-4F61-B939-F0F6CDB9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2604D"/>
                </a:solidFill>
              </a:defRPr>
            </a:pPr>
            <a:r>
              <a:rPr sz="1275" b="1">
                <a:solidFill>
                  <a:srgbClr val="E2604D"/>
                </a:solidFill>
              </a:rPr>
              <a:t>Enforced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A30CE-E727-40C4-A6FB-B9892EEF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00650"/>
            <a:ext cx="813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A"/>
                </a:solidFill>
              </a:defRPr>
            </a:pPr>
            <a:r>
              <a:rPr sz="1875">
                <a:solidFill>
                  <a:srgbClr val="52677A"/>
                </a:solidFill>
              </a:rPr>
              <a:t>Most restrictive final state wins.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1B0BB0-6D4E-4C7E-B595-AF2FAE2D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1C1EFF2-3C56-4FB1-A32E-A5AD234A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2649080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B03BFE66-5976-415C-AC18-521540C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84DDD68-AB90-4E69-9BCB-9BB9D38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FINAL RECOMMENDATIONS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2C5277-E98D-43A4-93EE-29B577CA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final page must be actionable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7992E0-CC51-4702-BD10-B87143B7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A polished analysis is not enough. The output has to tell a human and the system what to do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A73B1-A581-4872-9964-F446245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6E238-9721-4D08-8856-DC98F4B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Disposition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1491D-70E9-4F23-8D7F-B26101B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ESCALATE, HOLD, NEED_OBJECTIVE_DATA, ROUTE_CLINICIAN, or narrow audited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C20D7-35DF-4EBF-ADA6-51A7E86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9659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70F17-7C83-49C3-93C6-14834F5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Immediate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47615-264D-4905-AE06-37C067B1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What is allowed now, what is blocked, and what restores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C8241-DB4E-46E0-B473-AA491688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4709F-B13E-4473-AAA6-E0BA6CCF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Patient message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A7BC0-22B5-4065-B695-99099D7C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Safety language that addresses cost, fear, work, or delay without downgrading risk.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4F4F-D920-4C61-9B9A-7576651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24350"/>
            <a:ext cx="8143875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7E2CC-6BDD-4FEA-81BF-C542178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Clinician 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2202B-C344-47C4-87F5-117393BB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Boundary map and top blockers instead of raw transcript only.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491991-212B-4001-BA1D-B77E443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438F031-ECF3-4099-BBA1-2E310A6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6769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274403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A1942AC0-7C3E-4160-8690-56A18B92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BECA7E5-A1C5-4D7B-9637-3CBFB230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CREDIBILITY CHECK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1C884-AAB0-4C77-9176-7A530647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Be precise about what is real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0F4584-4A75-4793-83D7-17D60E4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This slide prevents the demo from sounding like vaporware or overclaiming.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28EAF-7221-4674-B2B2-627B562E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56F"/>
                </a:solidFill>
              </a:defRPr>
            </a:pPr>
            <a:r>
              <a:rPr sz="2250" b="1">
                <a:solidFill>
                  <a:srgbClr val="08756F"/>
                </a:solidFill>
              </a:rPr>
              <a:t>Implemented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F2632-2521-4C01-B608-E67057F7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040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rPr sz="1950">
                <a:solidFill>
                  <a:srgbClr val="102A43"/>
                </a:solidFill>
              </a:rPr>
              <a:t>Deterministic JRE, Black Swan Guard, live edit/paste, LLM extractor, final recommendations,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E6EEE-D22C-4018-9338-3120D070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64AA"/>
                </a:solidFill>
              </a:defRPr>
            </a:pPr>
            <a:r>
              <a:rPr sz="2250" b="1">
                <a:solidFill>
                  <a:srgbClr val="2364AA"/>
                </a:solidFill>
              </a:rPr>
              <a:t>Prototype 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674E6-2F42-4066-A673-4287266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rPr sz="1950">
                <a:solidFill>
                  <a:srgbClr val="102A43"/>
                </a:solidFill>
              </a:rPr>
              <a:t>In-memory learning, trace regions, VAMS-style near-miss recall, governed template promotion.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81BEC-09A3-452B-892F-C6317E8A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191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2604D"/>
                </a:solidFill>
              </a:defRPr>
            </a:pPr>
            <a:r>
              <a:rPr sz="2250" b="1">
                <a:solidFill>
                  <a:srgbClr val="E2604D"/>
                </a:solidFill>
              </a:rPr>
              <a:t>Not claimed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F5D50-551C-4DCE-A9E5-BC829C76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43400"/>
            <a:ext cx="12192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2A43"/>
                </a:solidFill>
              </a:defRPr>
            </a:pPr>
            <a:r>
              <a:rPr sz="1950">
                <a:solidFill>
                  <a:srgbClr val="102A43"/>
                </a:solidFill>
              </a:rPr>
              <a:t>Production clinical validation, persistent memory, autonomous prescription approval, medical device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1D2AC-351A-476F-886C-FA24ADDA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0"/>
            <a:ext cx="1641443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5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FE6AD-0F04-4115-BE45-686E4DE7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677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324 tests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EB680-C605-4C25-9C34-9C86606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193" y="8572500"/>
            <a:ext cx="1878044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64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09387-E932-4C22-B2B4-85EC9ECC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667750"/>
            <a:ext cx="1543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4AA"/>
                </a:solidFill>
              </a:defRPr>
            </a:pPr>
            <a:r>
              <a:rPr sz="1275" b="1">
                <a:solidFill>
                  <a:srgbClr val="2364AA"/>
                </a:solidFill>
              </a:rPr>
              <a:t>Live Fly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45AA9-6EAD-4425-BCB3-8A7904AA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37" y="8572500"/>
            <a:ext cx="2822162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5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CEFC0-1695-4FBA-8F28-C5B37E75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6677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25AC1"/>
                </a:solidFill>
              </a:defRPr>
            </a:pPr>
            <a:r>
              <a:rPr sz="1275" b="1">
                <a:solidFill>
                  <a:srgbClr val="725AC1"/>
                </a:solidFill>
              </a:rPr>
              <a:t>OpenRouter model configurable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A91360-65A6-426B-B71E-77F4B1A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561221-18B7-4E9F-9EB3-AE48C7E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35804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904650D7-BBAA-4ECC-91C4-C2D8B6FE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1CC13F1-8423-41FB-B2BF-7AA2A62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DEMO CHOICES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369F6A-D070-4C0E-8CB8-6B4D7C09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Cases to run if the conversation shifts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657389-B0F0-4795-99DE-404F1237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Use one case at a time. Each one demonstrates a different boundary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3882B-9346-43EA-96EB-B07215DC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79D5A-8FAE-4741-8C8F-FF98C0A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Cost fear minimizes alarm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A8CB4-992C-4FA0-8AB1-718E7E97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asks the system to approve delay while describing exertional tightness.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AAA3F-ACCA-4D5A-9C20-B5B10B08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9659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98113-0D83-4059-B372-B4B79EAF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Routine refill with stale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57036-4670-4873-B761-250FBDF8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Looks operationally routine until safety evidence freshness matters.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5B49C-BE95-42B3-AD4B-A01327A6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DE332-1BCF-420D-A7A0-30822F9A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Caregiver conflict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950C7-A148-4435-9CF7-669D84A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Patient says fine; caregiver reports confusion. Source conflict caps autonomy.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51E36-6B3E-4B30-8800-F71981B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24350"/>
            <a:ext cx="81534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BE3A3-C808-4C42-A470-096E78B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958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Unasked is not denied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77D9C-97F1-4567-8986-8A5D925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3870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The system refuses to treat missing safety variables as negative evidence.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6812A9-49D7-4326-9CD9-DD2A4FB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F20D4D-87FF-473A-AC73-5566E700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6769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1979803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BD3343D4-DCE2-48F2-9EBA-CDE81969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6A044B4-2AA8-49A4-A303-2A7B118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OPERATING LEVERAGE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30234D-511A-4269-AF98-854D8BA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value is safer automation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95D9E4-5F0B-4076-8B1F-05E6BDA4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same boundary layer can reduce unsafe automation and avoidable human routing.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2A6C2-F0B7-4B3C-B86C-45356BF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2604D"/>
                </a:solidFill>
              </a:defRPr>
            </a:pPr>
            <a:r>
              <a:rPr sz="5850" b="1">
                <a:solidFill>
                  <a:srgbClr val="E2604D"/>
                </a:solidFill>
              </a:rPr>
              <a:t>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EBD1A-739A-467F-869C-A5568C0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Blocks action when assumptions fail.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37F1D-B551-4378-85CE-CE9AB66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A9D6B"/>
                </a:solidFill>
              </a:defRPr>
            </a:pPr>
            <a:r>
              <a:rPr sz="5850" b="1">
                <a:solidFill>
                  <a:srgbClr val="3A9D6B"/>
                </a:solidFill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21833-2CE7-4C1B-8913-5986774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52900"/>
            <a:ext cx="377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Closes fixable evidence gaps before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BC7EC-5658-45DC-94B6-30DE1131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756F"/>
                </a:solidFill>
              </a:defRPr>
            </a:pPr>
            <a:r>
              <a:rPr sz="5850" b="1">
                <a:solidFill>
                  <a:srgbClr val="08756F"/>
                </a:solidFill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370E1-2521-4F27-9D88-8329712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367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Explains uncertainty without dismissing the patient.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6B861-E0A1-4097-A387-2C3DDE8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00400"/>
            <a:ext cx="3981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364AA"/>
                </a:solidFill>
              </a:defRPr>
            </a:pPr>
            <a:r>
              <a:rPr sz="5850" b="1">
                <a:solidFill>
                  <a:srgbClr val="2364AA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CD42A-E3CF-4257-B4D8-091491A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52900"/>
            <a:ext cx="358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A"/>
                </a:solidFill>
              </a:defRPr>
            </a:pPr>
            <a:r>
              <a:rPr sz="1500">
                <a:solidFill>
                  <a:srgbClr val="52677A"/>
                </a:solidFill>
              </a:rPr>
              <a:t>Hands clinicians a boundary map, not just transcript.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25EE6-D743-4300-A0C6-DF254338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13468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Metric to track: percent of routed cases where one clarification changes disposition or prevents avoidable physician review.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68F696-2F4B-438E-8866-1577816D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F1F4239-0EC4-4847-AD11-0A23846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5350711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D8118CD1-C8D7-4A99-8325-AB1035D8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C9BED48-EDD2-4F0A-8A38-786D76A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YOUR STORY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A2A5F2-5798-4C60-9964-9BA7A184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What I bring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1973CB-A92E-483C-86B4-9E8ACACB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The differentiator is cross-domain judgment, not just code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31366-778A-4EA1-9943-1C4F0707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EE0B4-A35B-4F93-A6BA-108CC4A6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Medicine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F3B1F-A62D-4F5A-8D9E-23B9FA67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Clinical risk, patient language, remote limits, physician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07969-3FCF-4B65-B56C-0A2BFAC5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319659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89458-A54E-4E48-9548-EBF37C3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AI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E3E9-286F-436D-B5CD-3F6E8104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LLM extraction, expert-system shells, ensemble governance, memory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096F6-3067-40A2-B70F-0DB26A0A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250" y="319659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FA334-F6DE-4596-A6EE-8063AF60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3718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40320-3F6B-4760-B9DE-6D6FB91E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Routing, churn, escalation rationale, clinician efficiency, auditability.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43C3D-32A3-4A14-A4CF-1E129066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1520"/>
            <a:ext cx="534670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9B291-2A80-4363-BD17-56CD9CE4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1E660-8D5B-4DDD-8D3A-73B5486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Fail-closed thinking, provenance, governed promotion, no uncontrolled online learning.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80C53-67C7-4FF8-939A-6B2D12B1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4541520"/>
            <a:ext cx="53467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47AC3-E32A-45DD-999A-1EBE40F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5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D353E-5601-46D9-8E42-C4522CE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8250"/>
            <a:ext cx="493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Demoable UX that makes invisible safety reasoning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7077D-749B-4F9F-BBF7-9BCB314E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250" y="4541520"/>
            <a:ext cx="534670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37F1B-F18B-409E-8887-C418ECF1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705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4941E"/>
                </a:solidFill>
              </a:defRPr>
            </a:pPr>
            <a:r>
              <a:rPr sz="1725" b="1">
                <a:solidFill>
                  <a:srgbClr val="D4941E"/>
                </a:solidFill>
              </a:rPr>
              <a:t>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3B3CB-FFA5-4B5F-BEE3-855300F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048250"/>
            <a:ext cx="493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Built, tested, pushed, deployed, and iterated from feedback.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09CCBE5-7E10-4AB2-A45C-1759ADD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FB8A094-8E16-40A7-A814-68F0D541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1150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21464461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C806C41E-00F9-40BF-BED0-5BB4131C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94B6FF2-AAF3-437C-8225-AC367307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EXECUTIVE CONVERSATION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14C10E-9B96-49D8-8F37-02D636A2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Likely executive questions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B99ABE-47F8-4933-A5BD-978213D3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Answer directly, then point back to the live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84E22-380B-4818-9245-DDE3776E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Are you saying we lack this?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526FC-997B-4341-AF4C-83630FF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No. I assume you have strong safeguards. This is how I think about the next boundary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1B6F6-1456-490E-9456-A27C7B22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How does it help the business?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99E84-36BF-42B8-8B53-41E4DAD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Safer automation, less avoidable review, clearer escalation rationale, lower abandonment.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0CFB0-4E97-4AFB-B964-0DCDD4C3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What would you measure?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E5498-3CB7-4C82-AB58-6092020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Clinician confirmation, correction rate, avoidable routing, patient completion, evidence-gap closure.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B93ED-6740-4A61-A601-837CA476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Where would it fit?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1E45B-F7D4-4592-BAFF-9BE4B63F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Before autonomous action, refill renewal, low-acuity closure, or physician handoff.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1057F-1845-49F9-A32F-5E67DC7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What is production path?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51D17-F669-42F9-811B-1CF0CC38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Persistent memory, outcome labels, simulation suite, governance promotion, clinical review.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76F012-0815-4A6E-9662-94339A07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6AE4C18-21BC-4D3B-A13D-56EDEA41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6952650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4A3A2FDF-1E7F-492F-ABE8-71903FA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8CE456D-EDDE-45D4-A0BF-4417BB2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DEV TEAM CONVERSATION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B7BED7-3B10-4682-8CB4-EF7FD856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Likely technical questions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FA0BA4-1DAE-4F09-8F2B-8DFC83A0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Be crisp: deterministic core, advisory model, governed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DECA5-E772-4C38-905E-999D4CC2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Is this rules or AI?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8D4F7-0418-4FA3-9DAA-0387FBD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Both. AI proposes candidates; deterministic systems validate, score, and cap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2AF6B-C1AD-4017-8008-B7987F18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How are nodes selected?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4BDC8-D232-46FF-BAD4-2C6C8029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Domain templates now; next version lets AI propose case-specific graph nodes for governed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A9975-743F-4E5E-BD6F-2340BA8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Can LLM override rules?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37E7A-4993-4B6A-9177-ADBEE209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No. LLM-only findings are advisory and cannot authorize or hard-stop.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894DD-EB33-4A9A-82D4-312B4DE5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What about latency?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71A56-6D1F-4D71-8444-4E2AEBB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Core analysis is fast and deterministic. LLM runs async with timeout and retry.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943A2-F239-48A1-8D6E-C9622B1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617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4AA"/>
                </a:solidFill>
              </a:defRPr>
            </a:pPr>
            <a:r>
              <a:rPr sz="1575" b="1">
                <a:solidFill>
                  <a:srgbClr val="2364AA"/>
                </a:solidFill>
              </a:rPr>
              <a:t>How prevent memory drift?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00D87-144C-4D10-9B6F-3BA39091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1030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</a:defRPr>
            </a:pPr>
            <a:r>
              <a:rPr sz="1500">
                <a:solidFill>
                  <a:srgbClr val="102A43"/>
                </a:solidFill>
              </a:rPr>
              <a:t>Memory proposes missing nodes/falsifiers only. Promotion requires review and simulation.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C49A1B-9983-4070-AAA2-E5426F18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0D3D558-1618-4C39-8578-DAEDB325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18009289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5DC32E83-BC7D-4D26-8E07-C8D69AA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963657D-D1FF-4C34-867E-C2FEEBD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INTERVIEW DEFENSE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43161E-9D47-4EC7-90A6-756C37EA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How to handle hard objections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789748-8352-4B39-85A6-31F41D4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Do not defend everything. Separate what is implemented from what is future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2FBEE-F4BF-4F9C-9FD8-C2297EEA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6590"/>
            <a:ext cx="813435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E9200-873A-4DDB-9D2F-B4E61D58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This is too 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904F7-9517-4DA4-AF9C-6D3C90D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Agree. The demo is inspectable. The next version uses AI-proposed graphs with deterministic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B6745-7CAD-4CED-B352-576259D6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96590"/>
            <a:ext cx="813435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06A2-A633-4DC0-AE1D-3E1AD7E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718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A9D6B"/>
                </a:solidFill>
              </a:defRPr>
            </a:pPr>
            <a:r>
              <a:rPr sz="1725" b="1">
                <a:solidFill>
                  <a:srgbClr val="3A9D6B"/>
                </a:solidFill>
              </a:rPr>
              <a:t>This may over-route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A6845-C192-4A40-B11D-E2300E0D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Agree that calibration matters. Track false positives, avoided routing, clinician confirmation, and patient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CEB30-395F-42AE-9F44-11747028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9620"/>
            <a:ext cx="8134350" cy="111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16A12-FD73-47B1-8E4F-3C2B62A6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604D"/>
                </a:solidFill>
              </a:defRPr>
            </a:pPr>
            <a:r>
              <a:rPr sz="1725" b="1">
                <a:solidFill>
                  <a:srgbClr val="E2604D"/>
                </a:solidFill>
              </a:rPr>
              <a:t>Memory is dangerous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C45AC-252A-4AE2-A4C6-B12887E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Agree. Memory cannot authorize action. It only suggests questions, falsifiers, and review targets.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9214B-5CDF-4708-96E4-C6282416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9620"/>
            <a:ext cx="813435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C9C29-491B-4B99-B35E-B250207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434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We already have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70DFE-5B59-43A4-AC0D-DBF45117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86350"/>
            <a:ext cx="771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Good. This layer governs what triage is allowed to infer and do under uncertainty.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84F983-6C70-4294-BCFF-241FCE7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ClinSafer interview demo | Apr 2026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0811012-2D98-4D83-9243-5083B23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153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7589504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stage">
            <a:extLst xmlns:a="http://schemas.openxmlformats.org/drawingml/2006/main">
              <a:ext uri="{FF2B5EF4-FFF2-40B4-BE49-F238E27FC236}">
                <a16:creationId xmlns:a16="http://schemas.microsoft.com/office/drawing/2014/main" id="{4AB68DBC-C395-4D02-A92D-BE32CA6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553B4E6-89AA-4AD9-9041-C63CCCF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CLOSE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1C41E3-5193-4E25-897C-3F53B02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6725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The ask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6F8499-4B20-4EDA-A6A9-7FF6A97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725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A"/>
                </a:solidFill>
              </a:defRPr>
            </a:pPr>
            <a:r>
              <a:rPr sz="1800">
                <a:solidFill>
                  <a:srgbClr val="52677A"/>
                </a:solidFill>
              </a:rPr>
              <a:t>Use the demo to start a working conversation, not to claim finished production software.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25EBA-5B44-4206-AAFD-6F4AB4F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63055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A43"/>
                </a:solidFill>
              </a:defRPr>
            </a:pPr>
            <a:r>
              <a:rPr sz="3750" b="1">
                <a:solidFill>
                  <a:srgbClr val="102A43"/>
                </a:solidFill>
              </a:rPr>
              <a:t>Where would this boundary layer plug into your highest-leverage workflow?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86FA2-E140-492D-A0FB-F4CBFDA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00900"/>
            <a:ext cx="6400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77A"/>
                </a:solidFill>
              </a:defRPr>
            </a:pPr>
            <a:r>
              <a:rPr sz="1950">
                <a:solidFill>
                  <a:srgbClr val="52677A"/>
                </a:solidFill>
              </a:rPr>
              <a:t>Refills, low-acuity closure, physician handoff, or post-chat escalation persistence.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9A83D-0476-4B47-AC38-4D93950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4684395"/>
            <a:ext cx="888492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4A868-F438-4233-A3F4-5A97E57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56F"/>
                </a:solidFill>
              </a:defRPr>
            </a:pPr>
            <a:r>
              <a:rPr sz="1725" b="1">
                <a:solidFill>
                  <a:srgbClr val="08756F"/>
                </a:solidFill>
              </a:rPr>
              <a:t>First 30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754C6-76F2-4BA7-B9AF-CEC9CCB2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845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Shadow-mode one workflow, map failure modes, define metrics, and run historical replay.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C3205-F9D0-475E-B3BE-D951CAD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5793105"/>
            <a:ext cx="888492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9069D-608F-4CA3-9361-9776058A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626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64AA"/>
                </a:solidFill>
              </a:defRPr>
            </a:pPr>
            <a:r>
              <a:rPr sz="1725" b="1">
                <a:solidFill>
                  <a:srgbClr val="2364AA"/>
                </a:solidFill>
              </a:rPr>
              <a:t>First 60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80CD3-EF41-4030-ACB7-1D140F3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305550"/>
            <a:ext cx="845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Integrate with one intake surface and clinician feedback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6BB66-EBEB-499A-A319-16F16C0A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6901815"/>
            <a:ext cx="8884920" cy="89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4B03A-0740-4C83-8178-C4105ADD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067550"/>
            <a:ext cx="845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25AC1"/>
                </a:solidFill>
              </a:defRPr>
            </a:pPr>
            <a:r>
              <a:rPr sz="1725" b="1">
                <a:solidFill>
                  <a:srgbClr val="725AC1"/>
                </a:solidFill>
              </a:rPr>
              <a:t>First 90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6C724-DC55-46B9-91B4-7285AED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410450"/>
            <a:ext cx="845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A"/>
                </a:solidFill>
              </a:defRPr>
            </a:pPr>
            <a:r>
              <a:rPr sz="1425">
                <a:solidFill>
                  <a:srgbClr val="52677A"/>
                </a:solidFill>
              </a:rPr>
              <a:t>Governed promotion process for new nodes, rules, and memory recalls.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4BB60C-333B-484D-9F57-59CBA06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82150"/>
            <a:ext cx="6610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A"/>
                </a:solidFill>
              </a:defRPr>
            </a:pPr>
            <a:r>
              <a:rPr sz="1050">
                <a:solidFill>
                  <a:srgbClr val="52677A"/>
                </a:solidFill>
              </a:rPr>
              <a:t>Deck sources: Doctronic.ai, Doctronic telehealth page, TBPN Digest; app verification local and Fly deployment.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9FEC51C-8F75-442C-95AD-D7196624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clinsafer.fly.dev</a:t>
            </a:r>
          </a:p>
        </p:txBody>
      </p:sp>
    </p:spTree>
    <p:extLst>
      <p:ext uri="{BB962C8B-B14F-4D97-AF65-F5344CB8AC3E}">
        <p14:creationId xmlns:p14="http://schemas.microsoft.com/office/powerpoint/2010/main" val="429089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2026-04-28T00:25:30.0070000Z</dcterms:created>
  <dcterms:modified xsi:type="dcterms:W3CDTF">2026-04-28T00:25:30.0070000Z</dcterms:modified>
</coreProperties>
</file>